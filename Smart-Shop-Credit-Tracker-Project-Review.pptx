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5" r:id="rId1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1695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594360" y="594360"/>
            <a:ext cx="109728" cy="438912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868680" y="58521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100" b="1" dirty="0">
                <a:solidFill>
                  <a:srgbClr val="16B8A6"/>
                </a:solidFill>
                <a:latin typeface="Aptos"/>
              </a:rPr>
              <a:t xml:space="preserve">PROJECT PRESENTATION</a:t>
            </a:r>
            <a:endParaRPr lang="en-US" sz="1100"/>
          </a:p>
        </p:txBody>
      </p:sp>
      <p:sp>
        <p:nvSpPr>
          <p:cNvPr id="5" name="Text 4"/>
          <p:cNvSpPr txBox="1"/>
          <p:nvPr/>
        </p:nvSpPr>
        <p:spPr>
          <a:xfrm>
            <a:off x="621792" y="1115568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ptos"/>
              </a:rPr>
              <a:t xml:space="preserve">Smart Shop Credit Tracker</a:t>
            </a:r>
            <a:endParaRPr lang="en-US" sz="3200"/>
          </a:p>
        </p:txBody>
      </p:sp>
      <p:sp>
        <p:nvSpPr>
          <p:cNvPr id="6" name="Shape 5"/>
          <p:cNvSpPr/>
          <p:nvPr/>
        </p:nvSpPr>
        <p:spPr>
          <a:xfrm>
            <a:off x="621792" y="1874520"/>
            <a:ext cx="10945368" cy="16459"/>
          </a:xfrm>
          <a:prstGeom prst="rect">
            <a:avLst/>
          </a:prstGeom>
          <a:solidFill>
            <a:srgbClr val="29435B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A9BACB"/>
                </a:solidFill>
                <a:latin typeface="Aptos"/>
              </a:rPr>
              <a:t xml:space="preserve">SMART SHOP CREDIT TRACKER  •  ACADEMIC PROJECT REVIEW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658368" y="2084832"/>
            <a:ext cx="79552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1" dirty="0">
                <a:solidFill>
                  <a:srgbClr val="B8C9D8"/>
                </a:solidFill>
                <a:latin typeface="Aptos"/>
              </a:rPr>
              <a:t xml:space="preserve">CUSTOMER CREDIT &amp; PAYMENT MANAGEMENT</a:t>
            </a:r>
            <a:endParaRPr lang="en-US" sz="1500"/>
          </a:p>
        </p:txBody>
      </p:sp>
      <p:sp>
        <p:nvSpPr>
          <p:cNvPr id="9" name="Text 8"/>
          <p:cNvSpPr txBox="1"/>
          <p:nvPr/>
        </p:nvSpPr>
        <p:spPr>
          <a:xfrm>
            <a:off x="658368" y="2724912"/>
            <a:ext cx="7498080" cy="10789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700" b="1" dirty="0">
                <a:solidFill>
                  <a:srgbClr val="FFFFFF"/>
                </a:solidFill>
                <a:latin typeface="Aptos"/>
              </a:rPr>
              <a:t xml:space="preserve">A simple, transparent way to</a:t>
            </a:r>
            <a:endParaRPr lang="en-US" sz="2700"/>
          </a:p>
          <a:p>
            <a:pPr algn="l"/>
            <a:r>
              <a:rPr lang="en-US" sz="2700" b="1" dirty="0">
                <a:solidFill>
                  <a:srgbClr val="FFFFFF"/>
                </a:solidFill>
                <a:latin typeface="Aptos"/>
              </a:rPr>
              <a:t xml:space="preserve">track shop customer dues.</a:t>
            </a:r>
            <a:endParaRPr lang="en-US" sz="2700"/>
          </a:p>
        </p:txBody>
      </p:sp>
      <p:sp>
        <p:nvSpPr>
          <p:cNvPr id="10" name="Text 9"/>
          <p:cNvSpPr txBox="1"/>
          <p:nvPr/>
        </p:nvSpPr>
        <p:spPr>
          <a:xfrm>
            <a:off x="676656" y="4096512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1" dirty="0">
                <a:solidFill>
                  <a:srgbClr val="16B8A6"/>
                </a:solidFill>
                <a:latin typeface="Aptos"/>
              </a:rPr>
              <a:t xml:space="preserve">Project review  |  English presentation</a:t>
            </a:r>
            <a:endParaRPr lang="en-US" sz="1500"/>
          </a:p>
        </p:txBody>
      </p:sp>
      <p:sp>
        <p:nvSpPr>
          <p:cNvPr id="11" name="Shape 10"/>
          <p:cNvSpPr/>
          <p:nvPr/>
        </p:nvSpPr>
        <p:spPr>
          <a:xfrm>
            <a:off x="8915400" y="1965960"/>
            <a:ext cx="2423160" cy="2487168"/>
          </a:xfrm>
          <a:prstGeom prst="roundRect">
            <a:avLst/>
          </a:prstGeom>
          <a:solidFill>
            <a:srgbClr val="193650"/>
          </a:solidFill>
          <a:ln>
            <a:noFill/>
          </a:ln>
        </p:spPr>
      </p:sp>
      <p:sp>
        <p:nvSpPr>
          <p:cNvPr id="12" name="Text 11"/>
          <p:cNvSpPr txBox="1"/>
          <p:nvPr/>
        </p:nvSpPr>
        <p:spPr>
          <a:xfrm>
            <a:off x="9162288" y="225856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100" b="1" dirty="0">
                <a:solidFill>
                  <a:srgbClr val="B8C9D8"/>
                </a:solidFill>
                <a:latin typeface="Aptos"/>
              </a:rPr>
              <a:t xml:space="preserve">LIVE BALANCE</a:t>
            </a:r>
            <a:endParaRPr lang="en-US" sz="1100"/>
          </a:p>
        </p:txBody>
      </p:sp>
      <p:sp>
        <p:nvSpPr>
          <p:cNvPr id="13" name="Text 12"/>
          <p:cNvSpPr txBox="1"/>
          <p:nvPr/>
        </p:nvSpPr>
        <p:spPr>
          <a:xfrm>
            <a:off x="9162288" y="2770632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Aptos"/>
              </a:rPr>
              <a:t xml:space="preserve">₹1,200</a:t>
            </a:r>
            <a:endParaRPr lang="en-US" sz="3000"/>
          </a:p>
        </p:txBody>
      </p:sp>
      <p:sp>
        <p:nvSpPr>
          <p:cNvPr id="14" name="Text 13"/>
          <p:cNvSpPr txBox="1"/>
          <p:nvPr/>
        </p:nvSpPr>
        <p:spPr>
          <a:xfrm>
            <a:off x="9162288" y="361188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100" b="1" dirty="0">
                <a:solidFill>
                  <a:srgbClr val="16B8A6"/>
                </a:solidFill>
                <a:latin typeface="Aptos"/>
              </a:rPr>
              <a:t xml:space="preserve">₹2,000 credit  −  ₹800 paid</a:t>
            </a:r>
            <a:endParaRPr lang="en-US" sz="1100"/>
          </a:p>
        </p:txBody>
      </p:sp>
      <p:sp>
        <p:nvSpPr>
          <p:cNvPr id="15" name="Text 14"/>
          <p:cNvSpPr txBox="1"/>
          <p:nvPr/>
        </p:nvSpPr>
        <p:spPr>
          <a:xfrm>
            <a:off x="676656" y="59893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100" b="0" dirty="0">
                <a:solidFill>
                  <a:srgbClr val="A9BACB"/>
                </a:solidFill>
                <a:latin typeface="Aptos"/>
              </a:rPr>
              <a:t xml:space="preserve">Student: ____________________    Department: ____________________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01  /  EXECUTIVE SUMMARY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A focused solution for everyday shop credit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PROJECT REVIEW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02</a:t>
            </a:r>
            <a:endParaRPr lang="en-US" sz="1000"/>
          </a:p>
        </p:txBody>
      </p:sp>
      <p:sp>
        <p:nvSpPr>
          <p:cNvPr id="9" name="Shape 8"/>
          <p:cNvSpPr/>
          <p:nvPr/>
        </p:nvSpPr>
        <p:spPr>
          <a:xfrm>
            <a:off x="621792" y="1691640"/>
            <a:ext cx="349300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Shape 9"/>
          <p:cNvSpPr/>
          <p:nvPr/>
        </p:nvSpPr>
        <p:spPr>
          <a:xfrm>
            <a:off x="621792" y="1691640"/>
            <a:ext cx="64008" cy="1828800"/>
          </a:xfrm>
          <a:prstGeom prst="roundRect">
            <a:avLst/>
          </a:prstGeom>
          <a:solidFill>
            <a:srgbClr val="4C7CF3"/>
          </a:solidFill>
          <a:ln>
            <a:noFill/>
          </a:ln>
        </p:spPr>
      </p:sp>
      <p:sp>
        <p:nvSpPr>
          <p:cNvPr id="11" name="Text 10"/>
          <p:cNvSpPr txBox="1"/>
          <p:nvPr/>
        </p:nvSpPr>
        <p:spPr>
          <a:xfrm>
            <a:off x="841248" y="1856232"/>
            <a:ext cx="307238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700" b="1" dirty="0">
                <a:solidFill>
                  <a:srgbClr val="10243A"/>
                </a:solidFill>
                <a:latin typeface="Aptos"/>
              </a:rPr>
              <a:t xml:space="preserve">The need</a:t>
            </a:r>
            <a:endParaRPr lang="en-US" sz="1700"/>
          </a:p>
        </p:txBody>
      </p:sp>
      <p:sp>
        <p:nvSpPr>
          <p:cNvPr id="12" name="Text 11"/>
          <p:cNvSpPr txBox="1"/>
          <p:nvPr/>
        </p:nvSpPr>
        <p:spPr>
          <a:xfrm>
            <a:off x="841248" y="2313432"/>
            <a:ext cx="3054096" cy="106070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300" b="0" dirty="0">
                <a:solidFill>
                  <a:srgbClr val="63758A"/>
                </a:solidFill>
                <a:latin typeface="Aptos"/>
              </a:rPr>
              <a:t xml:space="preserve">Paper or scattered records make it harder to find customer history, reconcile part-payments and prepare dues summaries.</a:t>
            </a:r>
            <a:endParaRPr lang="en-US" sz="1300"/>
          </a:p>
        </p:txBody>
      </p:sp>
      <p:sp>
        <p:nvSpPr>
          <p:cNvPr id="13" name="Shape 12"/>
          <p:cNvSpPr/>
          <p:nvPr/>
        </p:nvSpPr>
        <p:spPr>
          <a:xfrm>
            <a:off x="4352544" y="1691640"/>
            <a:ext cx="349300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Shape 13"/>
          <p:cNvSpPr/>
          <p:nvPr/>
        </p:nvSpPr>
        <p:spPr>
          <a:xfrm>
            <a:off x="4352544" y="1691640"/>
            <a:ext cx="64008" cy="1828800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15" name="Text 14"/>
          <p:cNvSpPr txBox="1"/>
          <p:nvPr/>
        </p:nvSpPr>
        <p:spPr>
          <a:xfrm>
            <a:off x="4572000" y="1856232"/>
            <a:ext cx="307238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700" b="1" dirty="0">
                <a:solidFill>
                  <a:srgbClr val="10243A"/>
                </a:solidFill>
                <a:latin typeface="Aptos"/>
              </a:rPr>
              <a:t xml:space="preserve">The product</a:t>
            </a:r>
            <a:endParaRPr lang="en-US" sz="1700"/>
          </a:p>
        </p:txBody>
      </p:sp>
      <p:sp>
        <p:nvSpPr>
          <p:cNvPr id="16" name="Text 15"/>
          <p:cNvSpPr txBox="1"/>
          <p:nvPr/>
        </p:nvSpPr>
        <p:spPr>
          <a:xfrm>
            <a:off x="4572000" y="2313432"/>
            <a:ext cx="3054096" cy="106070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300" b="0" dirty="0">
                <a:solidFill>
                  <a:srgbClr val="63758A"/>
                </a:solidFill>
                <a:latin typeface="Aptos"/>
              </a:rPr>
              <a:t xml:space="preserve">A staff-facing web app to maintain customers, record purchases and repayments, and review ledgers and reports.</a:t>
            </a:r>
            <a:endParaRPr lang="en-US" sz="1300"/>
          </a:p>
        </p:txBody>
      </p:sp>
      <p:sp>
        <p:nvSpPr>
          <p:cNvPr id="17" name="Shape 16"/>
          <p:cNvSpPr/>
          <p:nvPr/>
        </p:nvSpPr>
        <p:spPr>
          <a:xfrm>
            <a:off x="8074152" y="1691640"/>
            <a:ext cx="349300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" name="Shape 17"/>
          <p:cNvSpPr/>
          <p:nvPr/>
        </p:nvSpPr>
        <p:spPr>
          <a:xfrm>
            <a:off x="8074152" y="1691640"/>
            <a:ext cx="64008" cy="1828800"/>
          </a:xfrm>
          <a:prstGeom prst="roundRect">
            <a:avLst/>
          </a:prstGeom>
          <a:solidFill>
            <a:srgbClr val="F2A65A"/>
          </a:solidFill>
          <a:ln>
            <a:noFill/>
          </a:ln>
        </p:spPr>
      </p:sp>
      <p:sp>
        <p:nvSpPr>
          <p:cNvPr id="19" name="Text 18"/>
          <p:cNvSpPr txBox="1"/>
          <p:nvPr/>
        </p:nvSpPr>
        <p:spPr>
          <a:xfrm>
            <a:off x="8293608" y="1856232"/>
            <a:ext cx="307238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700" b="1" dirty="0">
                <a:solidFill>
                  <a:srgbClr val="10243A"/>
                </a:solidFill>
                <a:latin typeface="Aptos"/>
              </a:rPr>
              <a:t xml:space="preserve">The review verdict</a:t>
            </a:r>
            <a:endParaRPr lang="en-US" sz="1700"/>
          </a:p>
        </p:txBody>
      </p:sp>
      <p:sp>
        <p:nvSpPr>
          <p:cNvPr id="20" name="Text 19"/>
          <p:cNvSpPr txBox="1"/>
          <p:nvPr/>
        </p:nvSpPr>
        <p:spPr>
          <a:xfrm>
            <a:off x="8293608" y="2313432"/>
            <a:ext cx="3054096" cy="106070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300" b="0" dirty="0">
                <a:solidFill>
                  <a:srgbClr val="63758A"/>
                </a:solidFill>
                <a:latin typeface="Aptos"/>
              </a:rPr>
              <a:t xml:space="preserve">Strong academic concept with thoughtful transaction safeguards. Production readiness is not established.</a:t>
            </a:r>
            <a:endParaRPr lang="en-US" sz="1300"/>
          </a:p>
        </p:txBody>
      </p:sp>
      <p:sp>
        <p:nvSpPr>
          <p:cNvPr id="21" name="Shape 20"/>
          <p:cNvSpPr/>
          <p:nvPr/>
        </p:nvSpPr>
        <p:spPr>
          <a:xfrm>
            <a:off x="621792" y="3858768"/>
            <a:ext cx="10945368" cy="1508760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</p:sp>
      <p:sp>
        <p:nvSpPr>
          <p:cNvPr id="22" name="Text 21"/>
          <p:cNvSpPr txBox="1"/>
          <p:nvPr/>
        </p:nvSpPr>
        <p:spPr>
          <a:xfrm>
            <a:off x="914400" y="4114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1" dirty="0">
                <a:solidFill>
                  <a:srgbClr val="16B8A6"/>
                </a:solidFill>
                <a:latin typeface="Aptos"/>
              </a:rPr>
              <a:t xml:space="preserve">CORE VALUE</a:t>
            </a:r>
            <a:endParaRPr lang="en-US" sz="1200"/>
          </a:p>
        </p:txBody>
      </p:sp>
      <p:sp>
        <p:nvSpPr>
          <p:cNvPr id="23" name="Text 22"/>
          <p:cNvSpPr txBox="1"/>
          <p:nvPr/>
        </p:nvSpPr>
        <p:spPr>
          <a:xfrm>
            <a:off x="2971800" y="4023360"/>
            <a:ext cx="81381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900" b="1" dirty="0">
                <a:solidFill>
                  <a:srgbClr val="FFFFFF"/>
                </a:solidFill>
                <a:latin typeface="Aptos"/>
              </a:rPr>
              <a:t xml:space="preserve">One customer record  →  every credit &amp; payment saved  →  balance calculated from the ledger</a:t>
            </a:r>
            <a:endParaRPr lang="en-US" sz="1900"/>
          </a:p>
        </p:txBody>
      </p:sp>
      <p:sp>
        <p:nvSpPr>
          <p:cNvPr id="24" name="Text 23"/>
          <p:cNvSpPr txBox="1"/>
          <p:nvPr/>
        </p:nvSpPr>
        <p:spPr>
          <a:xfrm>
            <a:off x="658368" y="5669280"/>
            <a:ext cx="106070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Scope: academic/local-development application; no claim of live shop deployment.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02  /  PROBLEM &amp; PROPOSAL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Replace manual reconciliation with a shared record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PROJECT REVIEW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03</a:t>
            </a:r>
            <a:endParaRPr lang="en-US" sz="1000"/>
          </a:p>
        </p:txBody>
      </p:sp>
      <p:sp>
        <p:nvSpPr>
          <p:cNvPr id="9" name="Text 8"/>
          <p:cNvSpPr txBox="1"/>
          <p:nvPr/>
        </p:nvSpPr>
        <p:spPr>
          <a:xfrm>
            <a:off x="731520" y="17373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300" b="1" dirty="0">
                <a:solidFill>
                  <a:srgbClr val="D96B6B"/>
                </a:solidFill>
                <a:latin typeface="Aptos"/>
              </a:rPr>
              <a:t xml:space="preserve">TODAY’S PAIN POINTS</a:t>
            </a:r>
            <a:endParaRPr lang="en-US" sz="1300"/>
          </a:p>
        </p:txBody>
      </p:sp>
      <p:sp>
        <p:nvSpPr>
          <p:cNvPr id="10" name="Text 9"/>
          <p:cNvSpPr txBox="1"/>
          <p:nvPr/>
        </p:nvSpPr>
        <p:spPr>
          <a:xfrm>
            <a:off x="731520" y="2267712"/>
            <a:ext cx="4846320" cy="192024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600" b="0" dirty="0">
                <a:solidFill>
                  <a:srgbClr val="192B40"/>
                </a:solidFill>
                <a:latin typeface="Aptos"/>
              </a:rPr>
              <a:t xml:space="preserve">• Search across notebooks takes time</a:t>
            </a:r>
            <a:endParaRPr lang="en-US" sz="1600"/>
          </a:p>
          <a:p>
            <a:pPr algn="l"/>
            <a:r>
              <a:rPr lang="en-US" sz="1600" b="0" dirty="0">
                <a:solidFill>
                  <a:srgbClr val="192B40"/>
                </a:solidFill>
                <a:latin typeface="Aptos"/>
              </a:rPr>
              <a:t xml:space="preserve">• Partial payments are easy to miscalculate</a:t>
            </a:r>
            <a:endParaRPr lang="en-US" sz="1600"/>
          </a:p>
          <a:p>
            <a:pPr algn="l"/>
            <a:r>
              <a:rPr lang="en-US" sz="1600" b="0" dirty="0">
                <a:solidFill>
                  <a:srgbClr val="192B40"/>
                </a:solidFill>
                <a:latin typeface="Aptos"/>
              </a:rPr>
              <a:t xml:space="preserve">• Records can be missed or duplicated</a:t>
            </a:r>
            <a:endParaRPr lang="en-US" sz="1600"/>
          </a:p>
          <a:p>
            <a:pPr algn="l"/>
            <a:r>
              <a:rPr lang="en-US" sz="1600" b="0" dirty="0">
                <a:solidFill>
                  <a:srgbClr val="192B40"/>
                </a:solidFill>
                <a:latin typeface="Aptos"/>
              </a:rPr>
              <a:t xml:space="preserve">• Current outstanding dues are hard to summarize</a:t>
            </a:r>
            <a:endParaRPr lang="en-US" sz="1600"/>
          </a:p>
        </p:txBody>
      </p:sp>
      <p:sp>
        <p:nvSpPr>
          <p:cNvPr id="11" name="Shape 10"/>
          <p:cNvSpPr/>
          <p:nvPr/>
        </p:nvSpPr>
        <p:spPr>
          <a:xfrm>
            <a:off x="5925312" y="1901952"/>
            <a:ext cx="36576" cy="2880360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12" name="Text 11"/>
          <p:cNvSpPr txBox="1"/>
          <p:nvPr/>
        </p:nvSpPr>
        <p:spPr>
          <a:xfrm>
            <a:off x="6446520" y="17373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300" b="1" dirty="0">
                <a:solidFill>
                  <a:srgbClr val="16B8A6"/>
                </a:solidFill>
                <a:latin typeface="Aptos"/>
              </a:rPr>
              <a:t xml:space="preserve">PROPOSED APPROACH</a:t>
            </a:r>
            <a:endParaRPr lang="en-US" sz="1300"/>
          </a:p>
        </p:txBody>
      </p:sp>
      <p:sp>
        <p:nvSpPr>
          <p:cNvPr id="13" name="Text 12"/>
          <p:cNvSpPr txBox="1"/>
          <p:nvPr/>
        </p:nvSpPr>
        <p:spPr>
          <a:xfrm>
            <a:off x="6446520" y="2267712"/>
            <a:ext cx="4754880" cy="192024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600" b="0" dirty="0">
                <a:solidFill>
                  <a:srgbClr val="192B40"/>
                </a:solidFill>
                <a:latin typeface="Aptos"/>
              </a:rPr>
              <a:t xml:space="preserve">• Central customer directory and search</a:t>
            </a:r>
            <a:endParaRPr lang="en-US" sz="1600"/>
          </a:p>
          <a:p>
            <a:pPr algn="l"/>
            <a:r>
              <a:rPr lang="en-US" sz="1600" b="0" dirty="0">
                <a:solidFill>
                  <a:srgbClr val="192B40"/>
                </a:solidFill>
                <a:latin typeface="Aptos"/>
              </a:rPr>
              <a:t xml:space="preserve">• Separate credit and payment entries</a:t>
            </a:r>
            <a:endParaRPr lang="en-US" sz="1600"/>
          </a:p>
          <a:p>
            <a:pPr algn="l"/>
            <a:r>
              <a:rPr lang="en-US" sz="1600" b="0" dirty="0">
                <a:solidFill>
                  <a:srgbClr val="192B40"/>
                </a:solidFill>
                <a:latin typeface="Aptos"/>
              </a:rPr>
              <a:t xml:space="preserve">• Server-checked rules and current balance</a:t>
            </a:r>
            <a:endParaRPr lang="en-US" sz="1600"/>
          </a:p>
          <a:p>
            <a:pPr algn="l"/>
            <a:r>
              <a:rPr lang="en-US" sz="1600" b="0" dirty="0">
                <a:solidFill>
                  <a:srgbClr val="192B40"/>
                </a:solidFill>
                <a:latin typeface="Aptos"/>
              </a:rPr>
              <a:t xml:space="preserve">• Ledger, pending dues and date-range reports</a:t>
            </a:r>
            <a:endParaRPr lang="en-US" sz="1600"/>
          </a:p>
        </p:txBody>
      </p:sp>
      <p:sp>
        <p:nvSpPr>
          <p:cNvPr id="14" name="Shape 13"/>
          <p:cNvSpPr/>
          <p:nvPr/>
        </p:nvSpPr>
        <p:spPr>
          <a:xfrm>
            <a:off x="731520" y="5074920"/>
            <a:ext cx="10789920" cy="731520"/>
          </a:xfrm>
          <a:prstGeom prst="roundRect">
            <a:avLst/>
          </a:prstGeom>
          <a:solidFill>
            <a:srgbClr val="E5F5F2"/>
          </a:solidFill>
          <a:ln>
            <a:noFill/>
          </a:ln>
        </p:spPr>
      </p:sp>
      <p:sp>
        <p:nvSpPr>
          <p:cNvPr id="15" name="Text 14"/>
          <p:cNvSpPr txBox="1"/>
          <p:nvPr/>
        </p:nvSpPr>
        <p:spPr>
          <a:xfrm>
            <a:off x="960120" y="5266944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00" b="1" dirty="0">
                <a:solidFill>
                  <a:srgbClr val="10243A"/>
                </a:solidFill>
                <a:latin typeface="Aptos"/>
              </a:rPr>
              <a:t xml:space="preserve">Goal: improve visibility and consistency — not claim that human or data-entry errors disappear.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03  /  USER JOURNEY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A straightforward staff workflow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PROJECT REVIEW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04</a:t>
            </a:r>
            <a:endParaRPr lang="en-US" sz="1000"/>
          </a:p>
        </p:txBody>
      </p:sp>
      <p:sp>
        <p:nvSpPr>
          <p:cNvPr id="9" name="Shape 8"/>
          <p:cNvSpPr/>
          <p:nvPr/>
        </p:nvSpPr>
        <p:spPr>
          <a:xfrm>
            <a:off x="667512" y="2148840"/>
            <a:ext cx="1883664" cy="1938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Shape 9"/>
          <p:cNvSpPr/>
          <p:nvPr/>
        </p:nvSpPr>
        <p:spPr>
          <a:xfrm>
            <a:off x="832104" y="2340864"/>
            <a:ext cx="438912" cy="384048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11" name="Text 10"/>
          <p:cNvSpPr txBox="1"/>
          <p:nvPr/>
        </p:nvSpPr>
        <p:spPr>
          <a:xfrm>
            <a:off x="841248" y="2386584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/>
              </a:rPr>
              <a:t xml:space="preserve">01</a:t>
            </a:r>
            <a:endParaRPr lang="en-US" sz="1200"/>
          </a:p>
        </p:txBody>
      </p:sp>
      <p:sp>
        <p:nvSpPr>
          <p:cNvPr id="12" name="Text 11"/>
          <p:cNvSpPr txBox="1"/>
          <p:nvPr/>
        </p:nvSpPr>
        <p:spPr>
          <a:xfrm>
            <a:off x="841248" y="2907792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Sign in</a:t>
            </a:r>
            <a:endParaRPr lang="en-US" sz="1600"/>
          </a:p>
        </p:txBody>
      </p:sp>
      <p:sp>
        <p:nvSpPr>
          <p:cNvPr id="13" name="Text 12"/>
          <p:cNvSpPr txBox="1"/>
          <p:nvPr/>
        </p:nvSpPr>
        <p:spPr>
          <a:xfrm>
            <a:off x="841248" y="3401568"/>
            <a:ext cx="1554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Staff session</a:t>
            </a:r>
            <a:endParaRPr lang="en-US" sz="1200"/>
          </a:p>
        </p:txBody>
      </p:sp>
      <p:sp>
        <p:nvSpPr>
          <p:cNvPr id="14" name="Text 13"/>
          <p:cNvSpPr txBox="1"/>
          <p:nvPr/>
        </p:nvSpPr>
        <p:spPr>
          <a:xfrm>
            <a:off x="2587752" y="278892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000" b="1" dirty="0">
                <a:solidFill>
                  <a:srgbClr val="16B8A6"/>
                </a:solidFill>
                <a:latin typeface="Aptos"/>
              </a:rPr>
              <a:t xml:space="preserve">→</a:t>
            </a:r>
            <a:endParaRPr lang="en-US" sz="2000"/>
          </a:p>
        </p:txBody>
      </p:sp>
      <p:sp>
        <p:nvSpPr>
          <p:cNvPr id="15" name="Shape 14"/>
          <p:cNvSpPr/>
          <p:nvPr/>
        </p:nvSpPr>
        <p:spPr>
          <a:xfrm>
            <a:off x="2926080" y="2148840"/>
            <a:ext cx="1883664" cy="1938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" name="Shape 15"/>
          <p:cNvSpPr/>
          <p:nvPr/>
        </p:nvSpPr>
        <p:spPr>
          <a:xfrm>
            <a:off x="3090672" y="2340864"/>
            <a:ext cx="438912" cy="384048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17" name="Text 16"/>
          <p:cNvSpPr txBox="1"/>
          <p:nvPr/>
        </p:nvSpPr>
        <p:spPr>
          <a:xfrm>
            <a:off x="3099816" y="2386584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/>
              </a:rPr>
              <a:t xml:space="preserve">02</a:t>
            </a:r>
            <a:endParaRPr lang="en-US" sz="1200"/>
          </a:p>
        </p:txBody>
      </p:sp>
      <p:sp>
        <p:nvSpPr>
          <p:cNvPr id="18" name="Text 17"/>
          <p:cNvSpPr txBox="1"/>
          <p:nvPr/>
        </p:nvSpPr>
        <p:spPr>
          <a:xfrm>
            <a:off x="3099816" y="2907792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Manage customer</a:t>
            </a:r>
            <a:endParaRPr lang="en-US" sz="1600"/>
          </a:p>
        </p:txBody>
      </p:sp>
      <p:sp>
        <p:nvSpPr>
          <p:cNvPr id="19" name="Text 18"/>
          <p:cNvSpPr txBox="1"/>
          <p:nvPr/>
        </p:nvSpPr>
        <p:spPr>
          <a:xfrm>
            <a:off x="3099816" y="3401568"/>
            <a:ext cx="1554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Create, search, edit</a:t>
            </a:r>
            <a:endParaRPr lang="en-US" sz="1200"/>
          </a:p>
        </p:txBody>
      </p:sp>
      <p:sp>
        <p:nvSpPr>
          <p:cNvPr id="20" name="Text 19"/>
          <p:cNvSpPr txBox="1"/>
          <p:nvPr/>
        </p:nvSpPr>
        <p:spPr>
          <a:xfrm>
            <a:off x="4846320" y="278892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000" b="1" dirty="0">
                <a:solidFill>
                  <a:srgbClr val="16B8A6"/>
                </a:solidFill>
                <a:latin typeface="Aptos"/>
              </a:rPr>
              <a:t xml:space="preserve">→</a:t>
            </a:r>
            <a:endParaRPr lang="en-US" sz="2000"/>
          </a:p>
        </p:txBody>
      </p:sp>
      <p:sp>
        <p:nvSpPr>
          <p:cNvPr id="21" name="Shape 20"/>
          <p:cNvSpPr/>
          <p:nvPr/>
        </p:nvSpPr>
        <p:spPr>
          <a:xfrm>
            <a:off x="5184648" y="2148840"/>
            <a:ext cx="1883664" cy="1938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Shape 21"/>
          <p:cNvSpPr/>
          <p:nvPr/>
        </p:nvSpPr>
        <p:spPr>
          <a:xfrm>
            <a:off x="5349240" y="2340864"/>
            <a:ext cx="438912" cy="384048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23" name="Text 22"/>
          <p:cNvSpPr txBox="1"/>
          <p:nvPr/>
        </p:nvSpPr>
        <p:spPr>
          <a:xfrm>
            <a:off x="5358384" y="2386584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/>
              </a:rPr>
              <a:t xml:space="preserve">03</a:t>
            </a:r>
            <a:endParaRPr lang="en-US" sz="1200"/>
          </a:p>
        </p:txBody>
      </p:sp>
      <p:sp>
        <p:nvSpPr>
          <p:cNvPr id="24" name="Text 23"/>
          <p:cNvSpPr txBox="1"/>
          <p:nvPr/>
        </p:nvSpPr>
        <p:spPr>
          <a:xfrm>
            <a:off x="5358384" y="2907792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Record activity</a:t>
            </a:r>
            <a:endParaRPr lang="en-US" sz="1600"/>
          </a:p>
        </p:txBody>
      </p:sp>
      <p:sp>
        <p:nvSpPr>
          <p:cNvPr id="25" name="Text 24"/>
          <p:cNvSpPr txBox="1"/>
          <p:nvPr/>
        </p:nvSpPr>
        <p:spPr>
          <a:xfrm>
            <a:off x="5358384" y="3401568"/>
            <a:ext cx="1554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Credit or repayment</a:t>
            </a:r>
            <a:endParaRPr lang="en-US" sz="1200"/>
          </a:p>
        </p:txBody>
      </p:sp>
      <p:sp>
        <p:nvSpPr>
          <p:cNvPr id="26" name="Text 25"/>
          <p:cNvSpPr txBox="1"/>
          <p:nvPr/>
        </p:nvSpPr>
        <p:spPr>
          <a:xfrm>
            <a:off x="7104888" y="278892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000" b="1" dirty="0">
                <a:solidFill>
                  <a:srgbClr val="16B8A6"/>
                </a:solidFill>
                <a:latin typeface="Aptos"/>
              </a:rPr>
              <a:t xml:space="preserve">→</a:t>
            </a:r>
            <a:endParaRPr lang="en-US" sz="2000"/>
          </a:p>
        </p:txBody>
      </p:sp>
      <p:sp>
        <p:nvSpPr>
          <p:cNvPr id="27" name="Shape 26"/>
          <p:cNvSpPr/>
          <p:nvPr/>
        </p:nvSpPr>
        <p:spPr>
          <a:xfrm>
            <a:off x="7443216" y="2148840"/>
            <a:ext cx="1883664" cy="1938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8" name="Shape 27"/>
          <p:cNvSpPr/>
          <p:nvPr/>
        </p:nvSpPr>
        <p:spPr>
          <a:xfrm>
            <a:off x="7607808" y="2340864"/>
            <a:ext cx="438912" cy="384048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29" name="Text 28"/>
          <p:cNvSpPr txBox="1"/>
          <p:nvPr/>
        </p:nvSpPr>
        <p:spPr>
          <a:xfrm>
            <a:off x="7616952" y="2386584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/>
              </a:rPr>
              <a:t xml:space="preserve">04</a:t>
            </a:r>
            <a:endParaRPr lang="en-US" sz="1200"/>
          </a:p>
        </p:txBody>
      </p:sp>
      <p:sp>
        <p:nvSpPr>
          <p:cNvPr id="30" name="Text 29"/>
          <p:cNvSpPr txBox="1"/>
          <p:nvPr/>
        </p:nvSpPr>
        <p:spPr>
          <a:xfrm>
            <a:off x="7616952" y="2907792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Check balance</a:t>
            </a:r>
            <a:endParaRPr lang="en-US" sz="1600"/>
          </a:p>
        </p:txBody>
      </p:sp>
      <p:sp>
        <p:nvSpPr>
          <p:cNvPr id="31" name="Text 30"/>
          <p:cNvSpPr txBox="1"/>
          <p:nvPr/>
        </p:nvSpPr>
        <p:spPr>
          <a:xfrm>
            <a:off x="7616952" y="3401568"/>
            <a:ext cx="1554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Ledger + running total</a:t>
            </a:r>
            <a:endParaRPr lang="en-US" sz="1200"/>
          </a:p>
        </p:txBody>
      </p:sp>
      <p:sp>
        <p:nvSpPr>
          <p:cNvPr id="32" name="Text 31"/>
          <p:cNvSpPr txBox="1"/>
          <p:nvPr/>
        </p:nvSpPr>
        <p:spPr>
          <a:xfrm>
            <a:off x="9363456" y="278892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000" b="1" dirty="0">
                <a:solidFill>
                  <a:srgbClr val="16B8A6"/>
                </a:solidFill>
                <a:latin typeface="Aptos"/>
              </a:rPr>
              <a:t xml:space="preserve">→</a:t>
            </a:r>
            <a:endParaRPr lang="en-US" sz="2000"/>
          </a:p>
        </p:txBody>
      </p:sp>
      <p:sp>
        <p:nvSpPr>
          <p:cNvPr id="33" name="Shape 32"/>
          <p:cNvSpPr/>
          <p:nvPr/>
        </p:nvSpPr>
        <p:spPr>
          <a:xfrm>
            <a:off x="9701784" y="2148840"/>
            <a:ext cx="1883664" cy="1938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4" name="Shape 33"/>
          <p:cNvSpPr/>
          <p:nvPr/>
        </p:nvSpPr>
        <p:spPr>
          <a:xfrm>
            <a:off x="9866376" y="2340864"/>
            <a:ext cx="438912" cy="384048"/>
          </a:xfrm>
          <a:prstGeom prst="roundRect">
            <a:avLst/>
          </a:prstGeom>
          <a:solidFill>
            <a:srgbClr val="4C7CF3"/>
          </a:solidFill>
          <a:ln>
            <a:noFill/>
          </a:ln>
        </p:spPr>
      </p:sp>
      <p:sp>
        <p:nvSpPr>
          <p:cNvPr id="35" name="Text 34"/>
          <p:cNvSpPr txBox="1"/>
          <p:nvPr/>
        </p:nvSpPr>
        <p:spPr>
          <a:xfrm>
            <a:off x="9875520" y="2386584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/>
              </a:rPr>
              <a:t xml:space="preserve">05</a:t>
            </a:r>
            <a:endParaRPr lang="en-US" sz="1200"/>
          </a:p>
        </p:txBody>
      </p:sp>
      <p:sp>
        <p:nvSpPr>
          <p:cNvPr id="36" name="Text 35"/>
          <p:cNvSpPr txBox="1"/>
          <p:nvPr/>
        </p:nvSpPr>
        <p:spPr>
          <a:xfrm>
            <a:off x="9875520" y="2907792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Review reports</a:t>
            </a:r>
            <a:endParaRPr lang="en-US" sz="1600"/>
          </a:p>
        </p:txBody>
      </p:sp>
      <p:sp>
        <p:nvSpPr>
          <p:cNvPr id="37" name="Text 36"/>
          <p:cNvSpPr txBox="1"/>
          <p:nvPr/>
        </p:nvSpPr>
        <p:spPr>
          <a:xfrm>
            <a:off x="9875520" y="3401568"/>
            <a:ext cx="1554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Dues + date filters</a:t>
            </a:r>
            <a:endParaRPr lang="en-US" sz="1200"/>
          </a:p>
        </p:txBody>
      </p:sp>
      <p:sp>
        <p:nvSpPr>
          <p:cNvPr id="38" name="Text 37"/>
          <p:cNvSpPr txBox="1"/>
          <p:nvPr/>
        </p:nvSpPr>
        <p:spPr>
          <a:xfrm>
            <a:off x="822960" y="480060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1" dirty="0">
                <a:solidFill>
                  <a:srgbClr val="10243A"/>
                </a:solidFill>
                <a:latin typeface="Aptos"/>
              </a:rPr>
              <a:t xml:space="preserve">The browser calls a REST API; it does not connect directly to the database.</a:t>
            </a:r>
            <a:endParaRPr lang="en-US"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04  /  TECHNICAL ARCHITECTURE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Layered design keeps responsibilities clear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PROJECT REVIEW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05</a:t>
            </a:r>
            <a:endParaRPr lang="en-US" sz="1000"/>
          </a:p>
        </p:txBody>
      </p:sp>
      <p:sp>
        <p:nvSpPr>
          <p:cNvPr id="9" name="Shape 8"/>
          <p:cNvSpPr/>
          <p:nvPr/>
        </p:nvSpPr>
        <p:spPr>
          <a:xfrm>
            <a:off x="1874520" y="1828800"/>
            <a:ext cx="84124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Shape 9"/>
          <p:cNvSpPr/>
          <p:nvPr/>
        </p:nvSpPr>
        <p:spPr>
          <a:xfrm>
            <a:off x="1874520" y="1828800"/>
            <a:ext cx="1965960" cy="530352"/>
          </a:xfrm>
          <a:prstGeom prst="roundRect">
            <a:avLst/>
          </a:prstGeom>
          <a:solidFill>
            <a:srgbClr val="4C7CF3"/>
          </a:solidFill>
          <a:ln>
            <a:noFill/>
          </a:ln>
        </p:spPr>
      </p:sp>
      <p:sp>
        <p:nvSpPr>
          <p:cNvPr id="11" name="Text 10"/>
          <p:cNvSpPr txBox="1"/>
          <p:nvPr/>
        </p:nvSpPr>
        <p:spPr>
          <a:xfrm>
            <a:off x="2011680" y="1929384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"/>
              </a:rPr>
              <a:t xml:space="preserve">FRONTEND</a:t>
            </a:r>
            <a:endParaRPr lang="en-US" sz="1100"/>
          </a:p>
        </p:txBody>
      </p:sp>
      <p:sp>
        <p:nvSpPr>
          <p:cNvPr id="12" name="Text 11"/>
          <p:cNvSpPr txBox="1"/>
          <p:nvPr/>
        </p:nvSpPr>
        <p:spPr>
          <a:xfrm>
            <a:off x="4114800" y="1920240"/>
            <a:ext cx="5897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00" b="1" dirty="0">
                <a:solidFill>
                  <a:srgbClr val="192B40"/>
                </a:solidFill>
                <a:latin typeface="Aptos"/>
              </a:rPr>
              <a:t xml:space="preserve">HTML5  ?  CSS3  ?  Vanilla JavaScript  ?  Bootstrap 5.3  ?  Fetch API</a:t>
            </a:r>
            <a:endParaRPr lang="en-US" sz="1400"/>
          </a:p>
        </p:txBody>
      </p:sp>
      <p:sp>
        <p:nvSpPr>
          <p:cNvPr id="13" name="Text 12"/>
          <p:cNvSpPr txBox="1"/>
          <p:nvPr/>
        </p:nvSpPr>
        <p:spPr>
          <a:xfrm>
            <a:off x="5669280" y="2368296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400" b="1" dirty="0">
                <a:solidFill>
                  <a:srgbClr val="16B8A6"/>
                </a:solidFill>
                <a:latin typeface="Aptos"/>
              </a:rPr>
              <a:t xml:space="preserve">↓</a:t>
            </a:r>
            <a:endParaRPr lang="en-US" sz="1400"/>
          </a:p>
        </p:txBody>
      </p:sp>
      <p:sp>
        <p:nvSpPr>
          <p:cNvPr id="14" name="Shape 13"/>
          <p:cNvSpPr/>
          <p:nvPr/>
        </p:nvSpPr>
        <p:spPr>
          <a:xfrm>
            <a:off x="1874520" y="2606040"/>
            <a:ext cx="84124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Shape 14"/>
          <p:cNvSpPr/>
          <p:nvPr/>
        </p:nvSpPr>
        <p:spPr>
          <a:xfrm>
            <a:off x="1874520" y="2606040"/>
            <a:ext cx="1965960" cy="530352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16" name="Text 15"/>
          <p:cNvSpPr txBox="1"/>
          <p:nvPr/>
        </p:nvSpPr>
        <p:spPr>
          <a:xfrm>
            <a:off x="2011680" y="2706624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"/>
              </a:rPr>
              <a:t xml:space="preserve">API + SECURITY</a:t>
            </a:r>
            <a:endParaRPr lang="en-US" sz="1100"/>
          </a:p>
        </p:txBody>
      </p:sp>
      <p:sp>
        <p:nvSpPr>
          <p:cNvPr id="17" name="Text 16"/>
          <p:cNvSpPr txBox="1"/>
          <p:nvPr/>
        </p:nvSpPr>
        <p:spPr>
          <a:xfrm>
            <a:off x="4114800" y="2697480"/>
            <a:ext cx="5897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00" b="1" dirty="0">
                <a:solidFill>
                  <a:srgbClr val="192B40"/>
                </a:solidFill>
                <a:latin typeface="Aptos"/>
              </a:rPr>
              <a:t xml:space="preserve">Spring Boot REST  •  Spring Security  •  session + CSRF</a:t>
            </a:r>
            <a:endParaRPr lang="en-US" sz="1400"/>
          </a:p>
        </p:txBody>
      </p:sp>
      <p:sp>
        <p:nvSpPr>
          <p:cNvPr id="18" name="Text 17"/>
          <p:cNvSpPr txBox="1"/>
          <p:nvPr/>
        </p:nvSpPr>
        <p:spPr>
          <a:xfrm>
            <a:off x="5669280" y="3145536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400" b="1" dirty="0">
                <a:solidFill>
                  <a:srgbClr val="16B8A6"/>
                </a:solidFill>
                <a:latin typeface="Aptos"/>
              </a:rPr>
              <a:t xml:space="preserve">↓</a:t>
            </a:r>
            <a:endParaRPr lang="en-US" sz="1400"/>
          </a:p>
        </p:txBody>
      </p:sp>
      <p:sp>
        <p:nvSpPr>
          <p:cNvPr id="19" name="Shape 18"/>
          <p:cNvSpPr/>
          <p:nvPr/>
        </p:nvSpPr>
        <p:spPr>
          <a:xfrm>
            <a:off x="1874520" y="3383280"/>
            <a:ext cx="84124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" name="Shape 19"/>
          <p:cNvSpPr/>
          <p:nvPr/>
        </p:nvSpPr>
        <p:spPr>
          <a:xfrm>
            <a:off x="1874520" y="3383280"/>
            <a:ext cx="1965960" cy="530352"/>
          </a:xfrm>
          <a:prstGeom prst="roundRect">
            <a:avLst/>
          </a:prstGeom>
          <a:solidFill>
            <a:srgbClr val="567FA6"/>
          </a:solidFill>
          <a:ln>
            <a:noFill/>
          </a:ln>
        </p:spPr>
      </p:sp>
      <p:sp>
        <p:nvSpPr>
          <p:cNvPr id="21" name="Text 20"/>
          <p:cNvSpPr txBox="1"/>
          <p:nvPr/>
        </p:nvSpPr>
        <p:spPr>
          <a:xfrm>
            <a:off x="2011680" y="3483864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"/>
              </a:rPr>
              <a:t xml:space="preserve">BUSINESS LOGIC</a:t>
            </a:r>
            <a:endParaRPr lang="en-US" sz="1100"/>
          </a:p>
        </p:txBody>
      </p:sp>
      <p:sp>
        <p:nvSpPr>
          <p:cNvPr id="22" name="Text 21"/>
          <p:cNvSpPr txBox="1"/>
          <p:nvPr/>
        </p:nvSpPr>
        <p:spPr>
          <a:xfrm>
            <a:off x="4114800" y="3474720"/>
            <a:ext cx="5897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00" b="1" dirty="0">
                <a:solidFill>
                  <a:srgbClr val="192B40"/>
                </a:solidFill>
                <a:latin typeface="Aptos"/>
              </a:rPr>
              <a:t xml:space="preserve">Service validation  •  @Transactional  •  balance rules</a:t>
            </a:r>
            <a:endParaRPr lang="en-US" sz="1400"/>
          </a:p>
        </p:txBody>
      </p:sp>
      <p:sp>
        <p:nvSpPr>
          <p:cNvPr id="23" name="Text 22"/>
          <p:cNvSpPr txBox="1"/>
          <p:nvPr/>
        </p:nvSpPr>
        <p:spPr>
          <a:xfrm>
            <a:off x="5669280" y="3922776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400" b="1" dirty="0">
                <a:solidFill>
                  <a:srgbClr val="16B8A6"/>
                </a:solidFill>
                <a:latin typeface="Aptos"/>
              </a:rPr>
              <a:t xml:space="preserve">↓</a:t>
            </a:r>
            <a:endParaRPr lang="en-US" sz="1400"/>
          </a:p>
        </p:txBody>
      </p:sp>
      <p:sp>
        <p:nvSpPr>
          <p:cNvPr id="24" name="Shape 23"/>
          <p:cNvSpPr/>
          <p:nvPr/>
        </p:nvSpPr>
        <p:spPr>
          <a:xfrm>
            <a:off x="1874520" y="4160520"/>
            <a:ext cx="84124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" name="Shape 24"/>
          <p:cNvSpPr/>
          <p:nvPr/>
        </p:nvSpPr>
        <p:spPr>
          <a:xfrm>
            <a:off x="1874520" y="4160520"/>
            <a:ext cx="1965960" cy="530352"/>
          </a:xfrm>
          <a:prstGeom prst="roundRect">
            <a:avLst/>
          </a:prstGeom>
          <a:solidFill>
            <a:srgbClr val="567FA6"/>
          </a:solidFill>
          <a:ln>
            <a:noFill/>
          </a:ln>
        </p:spPr>
      </p:sp>
      <p:sp>
        <p:nvSpPr>
          <p:cNvPr id="26" name="Text 25"/>
          <p:cNvSpPr txBox="1"/>
          <p:nvPr/>
        </p:nvSpPr>
        <p:spPr>
          <a:xfrm>
            <a:off x="2011680" y="4261104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"/>
              </a:rPr>
              <a:t xml:space="preserve">DATA ACCESS</a:t>
            </a:r>
            <a:endParaRPr lang="en-US" sz="1100"/>
          </a:p>
        </p:txBody>
      </p:sp>
      <p:sp>
        <p:nvSpPr>
          <p:cNvPr id="27" name="Text 26"/>
          <p:cNvSpPr txBox="1"/>
          <p:nvPr/>
        </p:nvSpPr>
        <p:spPr>
          <a:xfrm>
            <a:off x="4114800" y="4251960"/>
            <a:ext cx="5897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00" b="1" dirty="0">
                <a:solidFill>
                  <a:srgbClr val="192B40"/>
                </a:solidFill>
                <a:latin typeface="Aptos"/>
              </a:rPr>
              <a:t xml:space="preserve">JdbcTemplate  •  parameterized SQL  •  repository</a:t>
            </a:r>
            <a:endParaRPr lang="en-US" sz="1400"/>
          </a:p>
        </p:txBody>
      </p:sp>
      <p:sp>
        <p:nvSpPr>
          <p:cNvPr id="28" name="Text 27"/>
          <p:cNvSpPr txBox="1"/>
          <p:nvPr/>
        </p:nvSpPr>
        <p:spPr>
          <a:xfrm>
            <a:off x="5669280" y="4700016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400" b="1" dirty="0">
                <a:solidFill>
                  <a:srgbClr val="16B8A6"/>
                </a:solidFill>
                <a:latin typeface="Aptos"/>
              </a:rPr>
              <a:t xml:space="preserve">↓</a:t>
            </a:r>
            <a:endParaRPr lang="en-US" sz="1400"/>
          </a:p>
        </p:txBody>
      </p:sp>
      <p:sp>
        <p:nvSpPr>
          <p:cNvPr id="29" name="Shape 28"/>
          <p:cNvSpPr/>
          <p:nvPr/>
        </p:nvSpPr>
        <p:spPr>
          <a:xfrm>
            <a:off x="1874520" y="4937760"/>
            <a:ext cx="84124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0" name="Shape 29"/>
          <p:cNvSpPr/>
          <p:nvPr/>
        </p:nvSpPr>
        <p:spPr>
          <a:xfrm>
            <a:off x="1874520" y="4937760"/>
            <a:ext cx="1965960" cy="530352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</p:sp>
      <p:sp>
        <p:nvSpPr>
          <p:cNvPr id="31" name="Text 30"/>
          <p:cNvSpPr txBox="1"/>
          <p:nvPr/>
        </p:nvSpPr>
        <p:spPr>
          <a:xfrm>
            <a:off x="2011680" y="5038344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"/>
              </a:rPr>
              <a:t xml:space="preserve">PERSISTENCE</a:t>
            </a:r>
            <a:endParaRPr lang="en-US" sz="1100"/>
          </a:p>
        </p:txBody>
      </p:sp>
      <p:sp>
        <p:nvSpPr>
          <p:cNvPr id="32" name="Text 31"/>
          <p:cNvSpPr txBox="1"/>
          <p:nvPr/>
        </p:nvSpPr>
        <p:spPr>
          <a:xfrm>
            <a:off x="4114800" y="5029200"/>
            <a:ext cx="5897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00" b="1" dirty="0">
                <a:solidFill>
                  <a:srgbClr val="192B40"/>
                </a:solidFill>
                <a:latin typeface="Aptos"/>
              </a:rPr>
              <a:t xml:space="preserve">MySQL  •  customers  •  credit entries  •  payments</a:t>
            </a:r>
            <a:endParaRPr lang="en-US" sz="1400"/>
          </a:p>
        </p:txBody>
      </p:sp>
      <p:sp>
        <p:nvSpPr>
          <p:cNvPr id="33" name="Text 32"/>
          <p:cNvSpPr txBox="1"/>
          <p:nvPr/>
        </p:nvSpPr>
        <p:spPr>
          <a:xfrm>
            <a:off x="1920240" y="57424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Money values use MySQL DECIMAL(12,2) and Java BigDecimal.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05  /  PRODUCT MODULES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The project covers the core credit-tracking loop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PROJECT REVIEW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06</a:t>
            </a:r>
            <a:endParaRPr lang="en-US" sz="1000"/>
          </a:p>
        </p:txBody>
      </p:sp>
      <p:sp>
        <p:nvSpPr>
          <p:cNvPr id="9" name="Shape 8"/>
          <p:cNvSpPr/>
          <p:nvPr/>
        </p:nvSpPr>
        <p:spPr>
          <a:xfrm>
            <a:off x="658368" y="1719072"/>
            <a:ext cx="3511296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Shape 9"/>
          <p:cNvSpPr/>
          <p:nvPr/>
        </p:nvSpPr>
        <p:spPr>
          <a:xfrm>
            <a:off x="658368" y="1719072"/>
            <a:ext cx="64008" cy="1627632"/>
          </a:xfrm>
          <a:prstGeom prst="roundRect">
            <a:avLst/>
          </a:prstGeom>
          <a:solidFill>
            <a:srgbClr val="4C7CF3"/>
          </a:solidFill>
          <a:ln>
            <a:noFill/>
          </a:ln>
        </p:spPr>
      </p:sp>
      <p:sp>
        <p:nvSpPr>
          <p:cNvPr id="11" name="Text 10"/>
          <p:cNvSpPr txBox="1"/>
          <p:nvPr/>
        </p:nvSpPr>
        <p:spPr>
          <a:xfrm>
            <a:off x="877824" y="1883664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Customer management</a:t>
            </a:r>
            <a:endParaRPr lang="en-US" sz="1600"/>
          </a:p>
        </p:txBody>
      </p:sp>
      <p:sp>
        <p:nvSpPr>
          <p:cNvPr id="12" name="Text 11"/>
          <p:cNvSpPr txBox="1"/>
          <p:nvPr/>
        </p:nvSpPr>
        <p:spPr>
          <a:xfrm>
            <a:off x="877824" y="2340864"/>
            <a:ext cx="3072384" cy="85953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Create, find, update, archive or restore customer profiles.</a:t>
            </a:r>
            <a:endParaRPr lang="en-US" sz="1200"/>
          </a:p>
        </p:txBody>
      </p:sp>
      <p:sp>
        <p:nvSpPr>
          <p:cNvPr id="13" name="Shape 12"/>
          <p:cNvSpPr/>
          <p:nvPr/>
        </p:nvSpPr>
        <p:spPr>
          <a:xfrm>
            <a:off x="4425696" y="1719072"/>
            <a:ext cx="3511296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Shape 13"/>
          <p:cNvSpPr/>
          <p:nvPr/>
        </p:nvSpPr>
        <p:spPr>
          <a:xfrm>
            <a:off x="4425696" y="1719072"/>
            <a:ext cx="64008" cy="1627632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15" name="Text 14"/>
          <p:cNvSpPr txBox="1"/>
          <p:nvPr/>
        </p:nvSpPr>
        <p:spPr>
          <a:xfrm>
            <a:off x="4645152" y="1883664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Credit entries</a:t>
            </a:r>
            <a:endParaRPr lang="en-US" sz="1600"/>
          </a:p>
        </p:txBody>
      </p:sp>
      <p:sp>
        <p:nvSpPr>
          <p:cNvPr id="16" name="Text 15"/>
          <p:cNvSpPr txBox="1"/>
          <p:nvPr/>
        </p:nvSpPr>
        <p:spPr>
          <a:xfrm>
            <a:off x="4645152" y="2340864"/>
            <a:ext cx="3072384" cy="85953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Record purchase description, amount, date and optional notes.</a:t>
            </a:r>
            <a:endParaRPr lang="en-US" sz="1200"/>
          </a:p>
        </p:txBody>
      </p:sp>
      <p:sp>
        <p:nvSpPr>
          <p:cNvPr id="17" name="Shape 16"/>
          <p:cNvSpPr/>
          <p:nvPr/>
        </p:nvSpPr>
        <p:spPr>
          <a:xfrm>
            <a:off x="8193024" y="1719072"/>
            <a:ext cx="3511296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" name="Shape 17"/>
          <p:cNvSpPr/>
          <p:nvPr/>
        </p:nvSpPr>
        <p:spPr>
          <a:xfrm>
            <a:off x="8193024" y="1719072"/>
            <a:ext cx="64008" cy="1627632"/>
          </a:xfrm>
          <a:prstGeom prst="roundRect">
            <a:avLst/>
          </a:prstGeom>
          <a:solidFill>
            <a:srgbClr val="42A77A"/>
          </a:solidFill>
          <a:ln>
            <a:noFill/>
          </a:ln>
        </p:spPr>
      </p:sp>
      <p:sp>
        <p:nvSpPr>
          <p:cNvPr id="19" name="Text 18"/>
          <p:cNvSpPr txBox="1"/>
          <p:nvPr/>
        </p:nvSpPr>
        <p:spPr>
          <a:xfrm>
            <a:off x="8412480" y="1883664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Payments</a:t>
            </a:r>
            <a:endParaRPr lang="en-US" sz="1600"/>
          </a:p>
        </p:txBody>
      </p:sp>
      <p:sp>
        <p:nvSpPr>
          <p:cNvPr id="20" name="Text 19"/>
          <p:cNvSpPr txBox="1"/>
          <p:nvPr/>
        </p:nvSpPr>
        <p:spPr>
          <a:xfrm>
            <a:off x="8412480" y="2340864"/>
            <a:ext cx="3072384" cy="85953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Accept cash / UPI / other; support partial and full repayment.</a:t>
            </a:r>
            <a:endParaRPr lang="en-US" sz="1200"/>
          </a:p>
        </p:txBody>
      </p:sp>
      <p:sp>
        <p:nvSpPr>
          <p:cNvPr id="21" name="Shape 20"/>
          <p:cNvSpPr/>
          <p:nvPr/>
        </p:nvSpPr>
        <p:spPr>
          <a:xfrm>
            <a:off x="658368" y="3685032"/>
            <a:ext cx="3511296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Shape 21"/>
          <p:cNvSpPr/>
          <p:nvPr/>
        </p:nvSpPr>
        <p:spPr>
          <a:xfrm>
            <a:off x="658368" y="3685032"/>
            <a:ext cx="64008" cy="1627632"/>
          </a:xfrm>
          <a:prstGeom prst="roundRect">
            <a:avLst/>
          </a:prstGeom>
          <a:solidFill>
            <a:srgbClr val="8A6FD1"/>
          </a:solidFill>
          <a:ln>
            <a:noFill/>
          </a:ln>
        </p:spPr>
      </p:sp>
      <p:sp>
        <p:nvSpPr>
          <p:cNvPr id="23" name="Text 22"/>
          <p:cNvSpPr txBox="1"/>
          <p:nvPr/>
        </p:nvSpPr>
        <p:spPr>
          <a:xfrm>
            <a:off x="877824" y="3849624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Customer ledger</a:t>
            </a:r>
            <a:endParaRPr lang="en-US" sz="1600"/>
          </a:p>
        </p:txBody>
      </p:sp>
      <p:sp>
        <p:nvSpPr>
          <p:cNvPr id="24" name="Text 23"/>
          <p:cNvSpPr txBox="1"/>
          <p:nvPr/>
        </p:nvSpPr>
        <p:spPr>
          <a:xfrm>
            <a:off x="877824" y="4306824"/>
            <a:ext cx="3072384" cy="85953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Chronological entries, totals and running balance.</a:t>
            </a:r>
            <a:endParaRPr lang="en-US" sz="1200"/>
          </a:p>
        </p:txBody>
      </p:sp>
      <p:sp>
        <p:nvSpPr>
          <p:cNvPr id="25" name="Shape 24"/>
          <p:cNvSpPr/>
          <p:nvPr/>
        </p:nvSpPr>
        <p:spPr>
          <a:xfrm>
            <a:off x="4425696" y="3685032"/>
            <a:ext cx="3511296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6" name="Shape 25"/>
          <p:cNvSpPr/>
          <p:nvPr/>
        </p:nvSpPr>
        <p:spPr>
          <a:xfrm>
            <a:off x="4425696" y="3685032"/>
            <a:ext cx="64008" cy="1627632"/>
          </a:xfrm>
          <a:prstGeom prst="roundRect">
            <a:avLst/>
          </a:prstGeom>
          <a:solidFill>
            <a:srgbClr val="F2A65A"/>
          </a:solidFill>
          <a:ln>
            <a:noFill/>
          </a:ln>
        </p:spPr>
      </p:sp>
      <p:sp>
        <p:nvSpPr>
          <p:cNvPr id="27" name="Text 26"/>
          <p:cNvSpPr txBox="1"/>
          <p:nvPr/>
        </p:nvSpPr>
        <p:spPr>
          <a:xfrm>
            <a:off x="4645152" y="3849624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Dashboard &amp; dues</a:t>
            </a:r>
            <a:endParaRPr lang="en-US" sz="1600"/>
          </a:p>
        </p:txBody>
      </p:sp>
      <p:sp>
        <p:nvSpPr>
          <p:cNvPr id="28" name="Text 27"/>
          <p:cNvSpPr txBox="1"/>
          <p:nvPr/>
        </p:nvSpPr>
        <p:spPr>
          <a:xfrm>
            <a:off x="4645152" y="4306824"/>
            <a:ext cx="3072384" cy="85953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Summary metrics, recent activity and outstanding dues.</a:t>
            </a:r>
            <a:endParaRPr lang="en-US" sz="1200"/>
          </a:p>
        </p:txBody>
      </p:sp>
      <p:sp>
        <p:nvSpPr>
          <p:cNvPr id="29" name="Shape 28"/>
          <p:cNvSpPr/>
          <p:nvPr/>
        </p:nvSpPr>
        <p:spPr>
          <a:xfrm>
            <a:off x="8193024" y="3685032"/>
            <a:ext cx="3511296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0" name="Shape 29"/>
          <p:cNvSpPr/>
          <p:nvPr/>
        </p:nvSpPr>
        <p:spPr>
          <a:xfrm>
            <a:off x="8193024" y="3685032"/>
            <a:ext cx="64008" cy="1627632"/>
          </a:xfrm>
          <a:prstGeom prst="roundRect">
            <a:avLst/>
          </a:prstGeom>
          <a:solidFill>
            <a:srgbClr val="567FA6"/>
          </a:solidFill>
          <a:ln>
            <a:noFill/>
          </a:ln>
        </p:spPr>
      </p:sp>
      <p:sp>
        <p:nvSpPr>
          <p:cNvPr id="31" name="Text 30"/>
          <p:cNvSpPr txBox="1"/>
          <p:nvPr/>
        </p:nvSpPr>
        <p:spPr>
          <a:xfrm>
            <a:off x="8412480" y="3849624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Reports</a:t>
            </a:r>
            <a:endParaRPr lang="en-US" sz="1600"/>
          </a:p>
        </p:txBody>
      </p:sp>
      <p:sp>
        <p:nvSpPr>
          <p:cNvPr id="32" name="Text 31"/>
          <p:cNvSpPr txBox="1"/>
          <p:nvPr/>
        </p:nvSpPr>
        <p:spPr>
          <a:xfrm>
            <a:off x="8412480" y="4306824"/>
            <a:ext cx="3072384" cy="85953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Outstanding customers and date-filtered credits / payments.</a:t>
            </a:r>
            <a:endParaRPr lang="en-US" sz="1200"/>
          </a:p>
        </p:txBody>
      </p:sp>
      <p:sp>
        <p:nvSpPr>
          <p:cNvPr id="33" name="Shape 32"/>
          <p:cNvSpPr/>
          <p:nvPr/>
        </p:nvSpPr>
        <p:spPr>
          <a:xfrm>
            <a:off x="658368" y="5806440"/>
            <a:ext cx="10954512" cy="384048"/>
          </a:xfrm>
          <a:prstGeom prst="roundRect">
            <a:avLst/>
          </a:prstGeom>
          <a:solidFill>
            <a:srgbClr val="EAF0F5"/>
          </a:solidFill>
          <a:ln>
            <a:noFill/>
          </a:ln>
        </p:spPr>
      </p:sp>
      <p:sp>
        <p:nvSpPr>
          <p:cNvPr id="34" name="Text 33"/>
          <p:cNvSpPr txBox="1"/>
          <p:nvPr/>
        </p:nvSpPr>
        <p:spPr>
          <a:xfrm>
            <a:off x="822960" y="5879592"/>
            <a:ext cx="106070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100" b="1" dirty="0">
                <a:solidFill>
                  <a:srgbClr val="10243A"/>
                </a:solidFill>
                <a:latin typeface="Aptos"/>
              </a:rPr>
              <a:t xml:space="preserve">Archiving hides a customer from active operations; it does not delete historical financial records.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06  /  DATA &amp; BALANCE LOGIC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Transactions are the source of truth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PROJECT REVIEW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07</a:t>
            </a:r>
            <a:endParaRPr lang="en-US" sz="1000"/>
          </a:p>
        </p:txBody>
      </p:sp>
      <p:sp>
        <p:nvSpPr>
          <p:cNvPr id="9" name="Shape 8"/>
          <p:cNvSpPr/>
          <p:nvPr/>
        </p:nvSpPr>
        <p:spPr>
          <a:xfrm>
            <a:off x="731520" y="1755648"/>
            <a:ext cx="3182112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Shape 9"/>
          <p:cNvSpPr/>
          <p:nvPr/>
        </p:nvSpPr>
        <p:spPr>
          <a:xfrm>
            <a:off x="731520" y="1755648"/>
            <a:ext cx="64008" cy="1417320"/>
          </a:xfrm>
          <a:prstGeom prst="roundRect">
            <a:avLst/>
          </a:prstGeom>
          <a:solidFill>
            <a:srgbClr val="4C7CF3"/>
          </a:solidFill>
          <a:ln>
            <a:noFill/>
          </a:ln>
        </p:spPr>
      </p:sp>
      <p:sp>
        <p:nvSpPr>
          <p:cNvPr id="11" name="Text 10"/>
          <p:cNvSpPr txBox="1"/>
          <p:nvPr/>
        </p:nvSpPr>
        <p:spPr>
          <a:xfrm>
            <a:off x="950976" y="1920240"/>
            <a:ext cx="27614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CUSTOMERS</a:t>
            </a:r>
            <a:endParaRPr lang="en-US" sz="1600"/>
          </a:p>
        </p:txBody>
      </p:sp>
      <p:sp>
        <p:nvSpPr>
          <p:cNvPr id="12" name="Text 11"/>
          <p:cNvSpPr txBox="1"/>
          <p:nvPr/>
        </p:nvSpPr>
        <p:spPr>
          <a:xfrm>
            <a:off x="950976" y="2377440"/>
            <a:ext cx="2743200" cy="64922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Profile, phone, address, active status</a:t>
            </a:r>
            <a:endParaRPr lang="en-US" sz="1200"/>
          </a:p>
        </p:txBody>
      </p:sp>
      <p:sp>
        <p:nvSpPr>
          <p:cNvPr id="13" name="Shape 12"/>
          <p:cNvSpPr/>
          <p:nvPr/>
        </p:nvSpPr>
        <p:spPr>
          <a:xfrm>
            <a:off x="4498848" y="1755648"/>
            <a:ext cx="3182112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Shape 13"/>
          <p:cNvSpPr/>
          <p:nvPr/>
        </p:nvSpPr>
        <p:spPr>
          <a:xfrm>
            <a:off x="4498848" y="1755648"/>
            <a:ext cx="64008" cy="1417320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15" name="Text 14"/>
          <p:cNvSpPr txBox="1"/>
          <p:nvPr/>
        </p:nvSpPr>
        <p:spPr>
          <a:xfrm>
            <a:off x="4718304" y="1920240"/>
            <a:ext cx="27614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CREDIT_ENTRIES</a:t>
            </a:r>
            <a:endParaRPr lang="en-US" sz="1600"/>
          </a:p>
        </p:txBody>
      </p:sp>
      <p:sp>
        <p:nvSpPr>
          <p:cNvPr id="16" name="Text 15"/>
          <p:cNvSpPr txBox="1"/>
          <p:nvPr/>
        </p:nvSpPr>
        <p:spPr>
          <a:xfrm>
            <a:off x="4718304" y="2377440"/>
            <a:ext cx="2743200" cy="64922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Customer-linked purchases; positive DECIMAL amount</a:t>
            </a:r>
            <a:endParaRPr lang="en-US" sz="1200"/>
          </a:p>
        </p:txBody>
      </p:sp>
      <p:sp>
        <p:nvSpPr>
          <p:cNvPr id="17" name="Shape 16"/>
          <p:cNvSpPr/>
          <p:nvPr/>
        </p:nvSpPr>
        <p:spPr>
          <a:xfrm>
            <a:off x="8229600" y="1755648"/>
            <a:ext cx="3182112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" name="Shape 17"/>
          <p:cNvSpPr/>
          <p:nvPr/>
        </p:nvSpPr>
        <p:spPr>
          <a:xfrm>
            <a:off x="8229600" y="1755648"/>
            <a:ext cx="64008" cy="1417320"/>
          </a:xfrm>
          <a:prstGeom prst="roundRect">
            <a:avLst/>
          </a:prstGeom>
          <a:solidFill>
            <a:srgbClr val="42A77A"/>
          </a:solidFill>
          <a:ln>
            <a:noFill/>
          </a:ln>
        </p:spPr>
      </p:sp>
      <p:sp>
        <p:nvSpPr>
          <p:cNvPr id="19" name="Text 18"/>
          <p:cNvSpPr txBox="1"/>
          <p:nvPr/>
        </p:nvSpPr>
        <p:spPr>
          <a:xfrm>
            <a:off x="8449056" y="1920240"/>
            <a:ext cx="27614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PAYMENTS</a:t>
            </a:r>
            <a:endParaRPr lang="en-US" sz="1600"/>
          </a:p>
        </p:txBody>
      </p:sp>
      <p:sp>
        <p:nvSpPr>
          <p:cNvPr id="20" name="Text 19"/>
          <p:cNvSpPr txBox="1"/>
          <p:nvPr/>
        </p:nvSpPr>
        <p:spPr>
          <a:xfrm>
            <a:off x="8449056" y="2377440"/>
            <a:ext cx="2743200" cy="64922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Customer-linked repayments; method + retry key</a:t>
            </a:r>
            <a:endParaRPr lang="en-US" sz="1200"/>
          </a:p>
        </p:txBody>
      </p:sp>
      <p:sp>
        <p:nvSpPr>
          <p:cNvPr id="21" name="Text 20"/>
          <p:cNvSpPr txBox="1"/>
          <p:nvPr/>
        </p:nvSpPr>
        <p:spPr>
          <a:xfrm>
            <a:off x="3950208" y="2249424"/>
            <a:ext cx="411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400" b="1" dirty="0">
                <a:solidFill>
                  <a:srgbClr val="63758A"/>
                </a:solidFill>
                <a:latin typeface="Aptos"/>
              </a:rPr>
              <a:t xml:space="preserve">1 → *</a:t>
            </a:r>
            <a:endParaRPr lang="en-US" sz="1400"/>
          </a:p>
        </p:txBody>
      </p:sp>
      <p:sp>
        <p:nvSpPr>
          <p:cNvPr id="22" name="Text 21"/>
          <p:cNvSpPr txBox="1"/>
          <p:nvPr/>
        </p:nvSpPr>
        <p:spPr>
          <a:xfrm>
            <a:off x="7680960" y="2249424"/>
            <a:ext cx="411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400" b="1" dirty="0">
                <a:solidFill>
                  <a:srgbClr val="63758A"/>
                </a:solidFill>
                <a:latin typeface="Aptos"/>
              </a:rPr>
              <a:t xml:space="preserve">1 → *</a:t>
            </a:r>
            <a:endParaRPr lang="en-US" sz="1400"/>
          </a:p>
        </p:txBody>
      </p:sp>
      <p:sp>
        <p:nvSpPr>
          <p:cNvPr id="23" name="Shape 22"/>
          <p:cNvSpPr/>
          <p:nvPr/>
        </p:nvSpPr>
        <p:spPr>
          <a:xfrm>
            <a:off x="914400" y="3703320"/>
            <a:ext cx="10332720" cy="1325880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</p:sp>
      <p:sp>
        <p:nvSpPr>
          <p:cNvPr id="24" name="Text 23"/>
          <p:cNvSpPr txBox="1"/>
          <p:nvPr/>
        </p:nvSpPr>
        <p:spPr>
          <a:xfrm>
            <a:off x="1243584" y="3950208"/>
            <a:ext cx="19659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1" dirty="0">
                <a:solidFill>
                  <a:srgbClr val="16B8A6"/>
                </a:solidFill>
                <a:latin typeface="Aptos"/>
              </a:rPr>
              <a:t xml:space="preserve">BALANCE FORMULA</a:t>
            </a:r>
            <a:endParaRPr lang="en-US" sz="1200"/>
          </a:p>
        </p:txBody>
      </p:sp>
      <p:sp>
        <p:nvSpPr>
          <p:cNvPr id="25" name="Text 24"/>
          <p:cNvSpPr txBox="1"/>
          <p:nvPr/>
        </p:nvSpPr>
        <p:spPr>
          <a:xfrm>
            <a:off x="3657600" y="3858768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Aptos"/>
              </a:rPr>
              <a:t xml:space="preserve">Total credits  −  total payments  =  outstanding balance</a:t>
            </a:r>
            <a:endParaRPr lang="en-US" sz="2100"/>
          </a:p>
        </p:txBody>
      </p:sp>
      <p:sp>
        <p:nvSpPr>
          <p:cNvPr id="26" name="Shape 25"/>
          <p:cNvSpPr/>
          <p:nvPr/>
        </p:nvSpPr>
        <p:spPr>
          <a:xfrm>
            <a:off x="1828800" y="5349240"/>
            <a:ext cx="2240280" cy="530352"/>
          </a:xfrm>
          <a:prstGeom prst="roundRect">
            <a:avLst/>
          </a:prstGeom>
          <a:solidFill>
            <a:srgbClr val="E5F5F2"/>
          </a:solidFill>
          <a:ln>
            <a:noFill/>
          </a:ln>
        </p:spPr>
      </p:sp>
      <p:sp>
        <p:nvSpPr>
          <p:cNvPr id="27" name="Text 26"/>
          <p:cNvSpPr txBox="1"/>
          <p:nvPr/>
        </p:nvSpPr>
        <p:spPr>
          <a:xfrm>
            <a:off x="1938528" y="5477256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500" b="1" dirty="0">
                <a:solidFill>
                  <a:srgbClr val="10243A"/>
                </a:solidFill>
                <a:latin typeface="Aptos"/>
              </a:rPr>
              <a:t xml:space="preserve">₹2,000  credit</a:t>
            </a:r>
            <a:endParaRPr lang="en-US" sz="1500"/>
          </a:p>
        </p:txBody>
      </p:sp>
      <p:sp>
        <p:nvSpPr>
          <p:cNvPr id="28" name="Text 27"/>
          <p:cNvSpPr txBox="1"/>
          <p:nvPr/>
        </p:nvSpPr>
        <p:spPr>
          <a:xfrm>
            <a:off x="4224528" y="5468112"/>
            <a:ext cx="45720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900" b="1" dirty="0">
                <a:solidFill>
                  <a:srgbClr val="63758A"/>
                </a:solidFill>
                <a:latin typeface="Aptos"/>
              </a:rPr>
              <a:t xml:space="preserve">−</a:t>
            </a:r>
            <a:endParaRPr lang="en-US" sz="1900"/>
          </a:p>
        </p:txBody>
      </p:sp>
      <p:sp>
        <p:nvSpPr>
          <p:cNvPr id="29" name="Shape 28"/>
          <p:cNvSpPr/>
          <p:nvPr/>
        </p:nvSpPr>
        <p:spPr>
          <a:xfrm>
            <a:off x="4754880" y="5349240"/>
            <a:ext cx="2240280" cy="530352"/>
          </a:xfrm>
          <a:prstGeom prst="roundRect">
            <a:avLst/>
          </a:prstGeom>
          <a:solidFill>
            <a:srgbClr val="FFF1E3"/>
          </a:solidFill>
          <a:ln>
            <a:noFill/>
          </a:ln>
        </p:spPr>
      </p:sp>
      <p:sp>
        <p:nvSpPr>
          <p:cNvPr id="30" name="Text 29"/>
          <p:cNvSpPr txBox="1"/>
          <p:nvPr/>
        </p:nvSpPr>
        <p:spPr>
          <a:xfrm>
            <a:off x="4855464" y="5477256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500" b="1" dirty="0">
                <a:solidFill>
                  <a:srgbClr val="10243A"/>
                </a:solidFill>
                <a:latin typeface="Aptos"/>
              </a:rPr>
              <a:t xml:space="preserve">₹800  payment</a:t>
            </a:r>
            <a:endParaRPr lang="en-US" sz="1500"/>
          </a:p>
        </p:txBody>
      </p:sp>
      <p:sp>
        <p:nvSpPr>
          <p:cNvPr id="31" name="Text 30"/>
          <p:cNvSpPr txBox="1"/>
          <p:nvPr/>
        </p:nvSpPr>
        <p:spPr>
          <a:xfrm>
            <a:off x="7168896" y="5468112"/>
            <a:ext cx="45720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900" b="1" dirty="0">
                <a:solidFill>
                  <a:srgbClr val="63758A"/>
                </a:solidFill>
                <a:latin typeface="Aptos"/>
              </a:rPr>
              <a:t xml:space="preserve">=</a:t>
            </a:r>
            <a:endParaRPr lang="en-US" sz="1900"/>
          </a:p>
        </p:txBody>
      </p:sp>
      <p:sp>
        <p:nvSpPr>
          <p:cNvPr id="32" name="Shape 31"/>
          <p:cNvSpPr/>
          <p:nvPr/>
        </p:nvSpPr>
        <p:spPr>
          <a:xfrm>
            <a:off x="7699248" y="5349240"/>
            <a:ext cx="2423160" cy="530352"/>
          </a:xfrm>
          <a:prstGeom prst="roundRect">
            <a:avLst/>
          </a:prstGeom>
          <a:solidFill>
            <a:srgbClr val="E6EEFF"/>
          </a:solidFill>
          <a:ln>
            <a:noFill/>
          </a:ln>
        </p:spPr>
      </p:sp>
      <p:sp>
        <p:nvSpPr>
          <p:cNvPr id="33" name="Text 32"/>
          <p:cNvSpPr txBox="1"/>
          <p:nvPr/>
        </p:nvSpPr>
        <p:spPr>
          <a:xfrm>
            <a:off x="7818120" y="5477256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500" b="1" dirty="0">
                <a:solidFill>
                  <a:srgbClr val="10243A"/>
                </a:solidFill>
                <a:latin typeface="Aptos"/>
              </a:rPr>
              <a:t xml:space="preserve">₹1,200  due</a:t>
            </a:r>
            <a:endParaRPr lang="en-US"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07  /  VALIDATION &amp; SAFETY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Useful safeguards are built into the transaction path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PROJECT REVIEW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08</a:t>
            </a:r>
            <a:endParaRPr lang="en-US" sz="1000"/>
          </a:p>
        </p:txBody>
      </p:sp>
      <p:sp>
        <p:nvSpPr>
          <p:cNvPr id="9" name="Shape 8"/>
          <p:cNvSpPr/>
          <p:nvPr/>
        </p:nvSpPr>
        <p:spPr>
          <a:xfrm>
            <a:off x="685800" y="1737360"/>
            <a:ext cx="52578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Shape 9"/>
          <p:cNvSpPr/>
          <p:nvPr/>
        </p:nvSpPr>
        <p:spPr>
          <a:xfrm>
            <a:off x="685800" y="1737360"/>
            <a:ext cx="64008" cy="1508760"/>
          </a:xfrm>
          <a:prstGeom prst="roundRect">
            <a:avLst/>
          </a:prstGeom>
          <a:solidFill>
            <a:srgbClr val="4C7CF3"/>
          </a:solidFill>
          <a:ln>
            <a:noFill/>
          </a:ln>
        </p:spPr>
      </p:sp>
      <p:sp>
        <p:nvSpPr>
          <p:cNvPr id="11" name="Text 10"/>
          <p:cNvSpPr txBox="1"/>
          <p:nvPr/>
        </p:nvSpPr>
        <p:spPr>
          <a:xfrm>
            <a:off x="905256" y="1901952"/>
            <a:ext cx="483717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Amount &amp; date validation</a:t>
            </a:r>
            <a:endParaRPr lang="en-US" sz="1600"/>
          </a:p>
        </p:txBody>
      </p:sp>
      <p:sp>
        <p:nvSpPr>
          <p:cNvPr id="12" name="Text 11"/>
          <p:cNvSpPr txBox="1"/>
          <p:nvPr/>
        </p:nvSpPr>
        <p:spPr>
          <a:xfrm>
            <a:off x="905256" y="2359152"/>
            <a:ext cx="4818888" cy="7406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Positive values, max two decimals, fixed precision; future transaction dates are rejected.</a:t>
            </a:r>
            <a:endParaRPr lang="en-US" sz="1200"/>
          </a:p>
        </p:txBody>
      </p:sp>
      <p:sp>
        <p:nvSpPr>
          <p:cNvPr id="13" name="Shape 12"/>
          <p:cNvSpPr/>
          <p:nvPr/>
        </p:nvSpPr>
        <p:spPr>
          <a:xfrm>
            <a:off x="6199632" y="1737360"/>
            <a:ext cx="52578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Shape 13"/>
          <p:cNvSpPr/>
          <p:nvPr/>
        </p:nvSpPr>
        <p:spPr>
          <a:xfrm>
            <a:off x="6199632" y="1737360"/>
            <a:ext cx="64008" cy="1508760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15" name="Text 14"/>
          <p:cNvSpPr txBox="1"/>
          <p:nvPr/>
        </p:nvSpPr>
        <p:spPr>
          <a:xfrm>
            <a:off x="6419088" y="1901952"/>
            <a:ext cx="483717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Overpayment prevention</a:t>
            </a:r>
            <a:endParaRPr lang="en-US" sz="1600"/>
          </a:p>
        </p:txBody>
      </p:sp>
      <p:sp>
        <p:nvSpPr>
          <p:cNvPr id="16" name="Text 15"/>
          <p:cNvSpPr txBox="1"/>
          <p:nvPr/>
        </p:nvSpPr>
        <p:spPr>
          <a:xfrm>
            <a:off x="6419088" y="2359152"/>
            <a:ext cx="4818888" cy="7406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Backend checks current due and rejects a payment above the outstanding balance.</a:t>
            </a:r>
            <a:endParaRPr lang="en-US" sz="1200"/>
          </a:p>
        </p:txBody>
      </p:sp>
      <p:sp>
        <p:nvSpPr>
          <p:cNvPr id="17" name="Shape 16"/>
          <p:cNvSpPr/>
          <p:nvPr/>
        </p:nvSpPr>
        <p:spPr>
          <a:xfrm>
            <a:off x="685800" y="3547872"/>
            <a:ext cx="52578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" name="Shape 17"/>
          <p:cNvSpPr/>
          <p:nvPr/>
        </p:nvSpPr>
        <p:spPr>
          <a:xfrm>
            <a:off x="685800" y="3547872"/>
            <a:ext cx="64008" cy="1508760"/>
          </a:xfrm>
          <a:prstGeom prst="roundRect">
            <a:avLst/>
          </a:prstGeom>
          <a:solidFill>
            <a:srgbClr val="42A77A"/>
          </a:solidFill>
          <a:ln>
            <a:noFill/>
          </a:ln>
        </p:spPr>
      </p:sp>
      <p:sp>
        <p:nvSpPr>
          <p:cNvPr id="19" name="Text 18"/>
          <p:cNvSpPr txBox="1"/>
          <p:nvPr/>
        </p:nvSpPr>
        <p:spPr>
          <a:xfrm>
            <a:off x="905256" y="3712464"/>
            <a:ext cx="483717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Concurrent writes</a:t>
            </a:r>
            <a:endParaRPr lang="en-US" sz="1600"/>
          </a:p>
        </p:txBody>
      </p:sp>
      <p:sp>
        <p:nvSpPr>
          <p:cNvPr id="20" name="Text 19"/>
          <p:cNvSpPr txBox="1"/>
          <p:nvPr/>
        </p:nvSpPr>
        <p:spPr>
          <a:xfrm>
            <a:off x="905256" y="4169664"/>
            <a:ext cx="4818888" cy="7406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Customer row lock and database transaction serialize balance checks for that customer.</a:t>
            </a:r>
            <a:endParaRPr lang="en-US" sz="1200"/>
          </a:p>
        </p:txBody>
      </p:sp>
      <p:sp>
        <p:nvSpPr>
          <p:cNvPr id="21" name="Shape 20"/>
          <p:cNvSpPr/>
          <p:nvPr/>
        </p:nvSpPr>
        <p:spPr>
          <a:xfrm>
            <a:off x="6199632" y="3547872"/>
            <a:ext cx="52578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Shape 21"/>
          <p:cNvSpPr/>
          <p:nvPr/>
        </p:nvSpPr>
        <p:spPr>
          <a:xfrm>
            <a:off x="6199632" y="3547872"/>
            <a:ext cx="64008" cy="1508760"/>
          </a:xfrm>
          <a:prstGeom prst="roundRect">
            <a:avLst/>
          </a:prstGeom>
          <a:solidFill>
            <a:srgbClr val="F2A65A"/>
          </a:solidFill>
          <a:ln>
            <a:noFill/>
          </a:ln>
        </p:spPr>
      </p:sp>
      <p:sp>
        <p:nvSpPr>
          <p:cNvPr id="23" name="Text 22"/>
          <p:cNvSpPr txBox="1"/>
          <p:nvPr/>
        </p:nvSpPr>
        <p:spPr>
          <a:xfrm>
            <a:off x="6419088" y="3712464"/>
            <a:ext cx="483717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Duplicate retry protection</a:t>
            </a:r>
            <a:endParaRPr lang="en-US" sz="1600"/>
          </a:p>
        </p:txBody>
      </p:sp>
      <p:sp>
        <p:nvSpPr>
          <p:cNvPr id="24" name="Text 23"/>
          <p:cNvSpPr txBox="1"/>
          <p:nvPr/>
        </p:nvSpPr>
        <p:spPr>
          <a:xfrm>
            <a:off x="6419088" y="4169664"/>
            <a:ext cx="4818888" cy="7406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Unique payment request key lets a repeated submission return the existing payment.</a:t>
            </a:r>
            <a:endParaRPr lang="en-US" sz="1200"/>
          </a:p>
        </p:txBody>
      </p:sp>
      <p:sp>
        <p:nvSpPr>
          <p:cNvPr id="25" name="Text 24"/>
          <p:cNvSpPr txBox="1"/>
          <p:nvPr/>
        </p:nvSpPr>
        <p:spPr>
          <a:xfrm>
            <a:off x="777240" y="553212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300" b="1" dirty="0">
                <a:solidFill>
                  <a:srgbClr val="10243A"/>
                </a:solidFill>
                <a:latin typeface="Aptos"/>
              </a:rPr>
              <a:t xml:space="preserve">Also present: BCrypt password hashing • authenticated sessions • CSRF token • parameterized SQL</a:t>
            </a:r>
            <a:endParaRPr lang="en-US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08  /  INTERFACE &amp; API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A browser dashboard backed by protected REST endpoints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PROJECT REVIEW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09</a:t>
            </a:r>
            <a:endParaRPr lang="en-US" sz="1000"/>
          </a:p>
        </p:txBody>
      </p:sp>
      <p:sp>
        <p:nvSpPr>
          <p:cNvPr id="9" name="Shape 8"/>
          <p:cNvSpPr/>
          <p:nvPr/>
        </p:nvSpPr>
        <p:spPr>
          <a:xfrm>
            <a:off x="713232" y="1755648"/>
            <a:ext cx="5074920" cy="3611880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</p:sp>
      <p:sp>
        <p:nvSpPr>
          <p:cNvPr id="10" name="Text 9"/>
          <p:cNvSpPr txBox="1"/>
          <p:nvPr/>
        </p:nvSpPr>
        <p:spPr>
          <a:xfrm>
            <a:off x="1024128" y="2011680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1" dirty="0">
                <a:solidFill>
                  <a:srgbClr val="16B8A6"/>
                </a:solidFill>
                <a:latin typeface="Aptos"/>
              </a:rPr>
              <a:t xml:space="preserve">STAFF WORKSPACE</a:t>
            </a:r>
            <a:endParaRPr lang="en-US" sz="1200"/>
          </a:p>
        </p:txBody>
      </p:sp>
      <p:sp>
        <p:nvSpPr>
          <p:cNvPr id="11" name="Shape 10"/>
          <p:cNvSpPr/>
          <p:nvPr/>
        </p:nvSpPr>
        <p:spPr>
          <a:xfrm>
            <a:off x="987552" y="2587752"/>
            <a:ext cx="4480560" cy="457200"/>
          </a:xfrm>
          <a:prstGeom prst="roundRect">
            <a:avLst/>
          </a:prstGeom>
          <a:solidFill>
            <a:srgbClr val="1B354C"/>
          </a:solidFill>
          <a:ln>
            <a:noFill/>
          </a:ln>
        </p:spPr>
      </p:sp>
      <p:sp>
        <p:nvSpPr>
          <p:cNvPr id="12" name="Text 11"/>
          <p:cNvSpPr txBox="1"/>
          <p:nvPr/>
        </p:nvSpPr>
        <p:spPr>
          <a:xfrm>
            <a:off x="1161288" y="2670048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ptos"/>
              </a:rPr>
              <a:t xml:space="preserve">Dashboard</a:t>
            </a:r>
            <a:endParaRPr lang="en-US" sz="1200"/>
          </a:p>
        </p:txBody>
      </p:sp>
      <p:sp>
        <p:nvSpPr>
          <p:cNvPr id="13" name="Text 12"/>
          <p:cNvSpPr txBox="1"/>
          <p:nvPr/>
        </p:nvSpPr>
        <p:spPr>
          <a:xfrm>
            <a:off x="2697480" y="267004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0" dirty="0">
                <a:solidFill>
                  <a:srgbClr val="B8C9D8"/>
                </a:solidFill>
                <a:latin typeface="Aptos"/>
              </a:rPr>
              <a:t xml:space="preserve">Customers • collections • outstanding</a:t>
            </a:r>
            <a:endParaRPr lang="en-US" sz="1000"/>
          </a:p>
        </p:txBody>
      </p:sp>
      <p:sp>
        <p:nvSpPr>
          <p:cNvPr id="14" name="Shape 13"/>
          <p:cNvSpPr/>
          <p:nvPr/>
        </p:nvSpPr>
        <p:spPr>
          <a:xfrm>
            <a:off x="987552" y="3200400"/>
            <a:ext cx="4480560" cy="457200"/>
          </a:xfrm>
          <a:prstGeom prst="roundRect">
            <a:avLst/>
          </a:prstGeom>
          <a:solidFill>
            <a:srgbClr val="1B354C"/>
          </a:solidFill>
          <a:ln>
            <a:noFill/>
          </a:ln>
        </p:spPr>
      </p:sp>
      <p:sp>
        <p:nvSpPr>
          <p:cNvPr id="15" name="Text 14"/>
          <p:cNvSpPr txBox="1"/>
          <p:nvPr/>
        </p:nvSpPr>
        <p:spPr>
          <a:xfrm>
            <a:off x="1161288" y="3282696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ptos"/>
              </a:rPr>
              <a:t xml:space="preserve">Customers</a:t>
            </a:r>
            <a:endParaRPr lang="en-US" sz="1200"/>
          </a:p>
        </p:txBody>
      </p:sp>
      <p:sp>
        <p:nvSpPr>
          <p:cNvPr id="16" name="Text 15"/>
          <p:cNvSpPr txBox="1"/>
          <p:nvPr/>
        </p:nvSpPr>
        <p:spPr>
          <a:xfrm>
            <a:off x="2697480" y="3282696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0" dirty="0">
                <a:solidFill>
                  <a:srgbClr val="B8C9D8"/>
                </a:solidFill>
                <a:latin typeface="Aptos"/>
              </a:rPr>
              <a:t xml:space="preserve">Directory • search • archive</a:t>
            </a:r>
            <a:endParaRPr lang="en-US" sz="1000"/>
          </a:p>
        </p:txBody>
      </p:sp>
      <p:sp>
        <p:nvSpPr>
          <p:cNvPr id="17" name="Shape 16"/>
          <p:cNvSpPr/>
          <p:nvPr/>
        </p:nvSpPr>
        <p:spPr>
          <a:xfrm>
            <a:off x="987552" y="3813048"/>
            <a:ext cx="4480560" cy="457200"/>
          </a:xfrm>
          <a:prstGeom prst="roundRect">
            <a:avLst/>
          </a:prstGeom>
          <a:solidFill>
            <a:srgbClr val="1B354C"/>
          </a:solidFill>
          <a:ln>
            <a:noFill/>
          </a:ln>
        </p:spPr>
      </p:sp>
      <p:sp>
        <p:nvSpPr>
          <p:cNvPr id="18" name="Text 17"/>
          <p:cNvSpPr txBox="1"/>
          <p:nvPr/>
        </p:nvSpPr>
        <p:spPr>
          <a:xfrm>
            <a:off x="1161288" y="389534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ptos"/>
              </a:rPr>
              <a:t xml:space="preserve">Transactions</a:t>
            </a:r>
            <a:endParaRPr lang="en-US" sz="1200"/>
          </a:p>
        </p:txBody>
      </p:sp>
      <p:sp>
        <p:nvSpPr>
          <p:cNvPr id="19" name="Text 18"/>
          <p:cNvSpPr txBox="1"/>
          <p:nvPr/>
        </p:nvSpPr>
        <p:spPr>
          <a:xfrm>
            <a:off x="2697480" y="3895344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0" dirty="0">
                <a:solidFill>
                  <a:srgbClr val="B8C9D8"/>
                </a:solidFill>
                <a:latin typeface="Aptos"/>
              </a:rPr>
              <a:t xml:space="preserve">Credit entries • payments • ledger</a:t>
            </a:r>
            <a:endParaRPr lang="en-US" sz="1000"/>
          </a:p>
        </p:txBody>
      </p:sp>
      <p:sp>
        <p:nvSpPr>
          <p:cNvPr id="20" name="Shape 19"/>
          <p:cNvSpPr/>
          <p:nvPr/>
        </p:nvSpPr>
        <p:spPr>
          <a:xfrm>
            <a:off x="987552" y="4425696"/>
            <a:ext cx="4480560" cy="457200"/>
          </a:xfrm>
          <a:prstGeom prst="roundRect">
            <a:avLst/>
          </a:prstGeom>
          <a:solidFill>
            <a:srgbClr val="1B354C"/>
          </a:solidFill>
          <a:ln>
            <a:noFill/>
          </a:ln>
        </p:spPr>
      </p:sp>
      <p:sp>
        <p:nvSpPr>
          <p:cNvPr id="21" name="Text 20"/>
          <p:cNvSpPr txBox="1"/>
          <p:nvPr/>
        </p:nvSpPr>
        <p:spPr>
          <a:xfrm>
            <a:off x="1161288" y="4507992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ptos"/>
              </a:rPr>
              <a:t xml:space="preserve">Reports</a:t>
            </a:r>
            <a:endParaRPr lang="en-US" sz="1200"/>
          </a:p>
        </p:txBody>
      </p:sp>
      <p:sp>
        <p:nvSpPr>
          <p:cNvPr id="22" name="Text 21"/>
          <p:cNvSpPr txBox="1"/>
          <p:nvPr/>
        </p:nvSpPr>
        <p:spPr>
          <a:xfrm>
            <a:off x="2697480" y="450799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0" dirty="0">
                <a:solidFill>
                  <a:srgbClr val="B8C9D8"/>
                </a:solidFill>
                <a:latin typeface="Aptos"/>
              </a:rPr>
              <a:t xml:space="preserve">Dues • date-range credit/payment</a:t>
            </a:r>
            <a:endParaRPr lang="en-US" sz="1000"/>
          </a:p>
        </p:txBody>
      </p:sp>
      <p:sp>
        <p:nvSpPr>
          <p:cNvPr id="23" name="Text 22"/>
          <p:cNvSpPr txBox="1"/>
          <p:nvPr/>
        </p:nvSpPr>
        <p:spPr>
          <a:xfrm>
            <a:off x="6263640" y="184708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1" dirty="0">
                <a:solidFill>
                  <a:srgbClr val="16B8A6"/>
                </a:solidFill>
                <a:latin typeface="Aptos"/>
              </a:rPr>
              <a:t xml:space="preserve">API SURFACE</a:t>
            </a:r>
            <a:endParaRPr lang="en-US" sz="1200"/>
          </a:p>
        </p:txBody>
      </p:sp>
      <p:sp>
        <p:nvSpPr>
          <p:cNvPr id="24" name="Text 23"/>
          <p:cNvSpPr txBox="1"/>
          <p:nvPr/>
        </p:nvSpPr>
        <p:spPr>
          <a:xfrm>
            <a:off x="6263640" y="2404872"/>
            <a:ext cx="4937760" cy="242316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GET   /api/dashboard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GET   /api/customers?search=…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POST  /api/credits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POST  /api/payments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GET   /api/customers/{id}/ledger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GET   /api/reports/outstanding</a:t>
            </a:r>
            <a:endParaRPr lang="en-US" sz="1400"/>
          </a:p>
        </p:txBody>
      </p:sp>
      <p:sp>
        <p:nvSpPr>
          <p:cNvPr id="25" name="Shape 24"/>
          <p:cNvSpPr/>
          <p:nvPr/>
        </p:nvSpPr>
        <p:spPr>
          <a:xfrm>
            <a:off x="6254496" y="4992624"/>
            <a:ext cx="4937760" cy="694944"/>
          </a:xfrm>
          <a:prstGeom prst="roundRect">
            <a:avLst/>
          </a:prstGeom>
          <a:solidFill>
            <a:srgbClr val="E5F5F2"/>
          </a:solidFill>
          <a:ln>
            <a:noFill/>
          </a:ln>
        </p:spPr>
      </p:sp>
      <p:sp>
        <p:nvSpPr>
          <p:cNvPr id="26" name="Text 25"/>
          <p:cNvSpPr txBox="1"/>
          <p:nvPr/>
        </p:nvSpPr>
        <p:spPr>
          <a:xfrm>
            <a:off x="6473952" y="5157216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1" dirty="0">
                <a:solidFill>
                  <a:srgbClr val="10243A"/>
                </a:solidFill>
                <a:latin typeface="Aptos"/>
              </a:rPr>
              <a:t xml:space="preserve">Errors use explicit HTTP status + JSON message.</a:t>
            </a:r>
            <a:endParaRPr lang="en-US" sz="1200"/>
          </a:p>
        </p:txBody>
      </p:sp>
      <p:sp>
        <p:nvSpPr>
          <p:cNvPr id="27" name="Text 26"/>
          <p:cNvSpPr txBox="1"/>
          <p:nvPr/>
        </p:nvSpPr>
        <p:spPr>
          <a:xfrm>
            <a:off x="822960" y="5833872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100" b="0" dirty="0">
                <a:solidFill>
                  <a:srgbClr val="63758A"/>
                </a:solidFill>
                <a:latin typeface="Aptos"/>
              </a:rPr>
              <a:t xml:space="preserve">HTML5 + CSS3  ?  Vanilla JavaScript  ?  Bootstrap 5.3  ?  Fetch API  ?  Hash navigation  ?  Session + CSRF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09  /  TESTING &amp; EVIDENCE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Report what is verified — and what still needs a live run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PROJECT REVIEW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10</a:t>
            </a:r>
            <a:endParaRPr lang="en-US" sz="1000"/>
          </a:p>
        </p:txBody>
      </p:sp>
      <p:sp>
        <p:nvSpPr>
          <p:cNvPr id="9" name="Shape 8"/>
          <p:cNvSpPr/>
          <p:nvPr/>
        </p:nvSpPr>
        <p:spPr>
          <a:xfrm>
            <a:off x="749808" y="1783080"/>
            <a:ext cx="5074920" cy="3493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Shape 9"/>
          <p:cNvSpPr/>
          <p:nvPr/>
        </p:nvSpPr>
        <p:spPr>
          <a:xfrm>
            <a:off x="749808" y="1783080"/>
            <a:ext cx="5074920" cy="530352"/>
          </a:xfrm>
          <a:prstGeom prst="roundRect">
            <a:avLst/>
          </a:prstGeom>
          <a:solidFill>
            <a:srgbClr val="42A77A"/>
          </a:solidFill>
          <a:ln>
            <a:noFill/>
          </a:ln>
        </p:spPr>
      </p:sp>
      <p:sp>
        <p:nvSpPr>
          <p:cNvPr id="11" name="Text 10"/>
          <p:cNvSpPr txBox="1"/>
          <p:nvPr/>
        </p:nvSpPr>
        <p:spPr>
          <a:xfrm>
            <a:off x="987552" y="1929384"/>
            <a:ext cx="4553712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Aptos"/>
              </a:rPr>
              <a:t xml:space="preserve">AUTOMATED UNIT TESTS</a:t>
            </a:r>
            <a:endParaRPr lang="en-US" sz="1300"/>
          </a:p>
        </p:txBody>
      </p:sp>
      <p:sp>
        <p:nvSpPr>
          <p:cNvPr id="12" name="Text 11"/>
          <p:cNvSpPr txBox="1"/>
          <p:nvPr/>
        </p:nvSpPr>
        <p:spPr>
          <a:xfrm>
            <a:off x="1024128" y="2633472"/>
            <a:ext cx="4480560" cy="20574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✓ Overpayment is rejected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✓ Partial payment updates balance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✓ Full payment clears the balance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✓ Duplicate retry is not inserted twice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✓ Amount precision / positivity validated</a:t>
            </a:r>
            <a:endParaRPr lang="en-US" sz="1400"/>
          </a:p>
        </p:txBody>
      </p:sp>
      <p:sp>
        <p:nvSpPr>
          <p:cNvPr id="13" name="Shape 12"/>
          <p:cNvSpPr/>
          <p:nvPr/>
        </p:nvSpPr>
        <p:spPr>
          <a:xfrm>
            <a:off x="6309360" y="1783080"/>
            <a:ext cx="5074920" cy="3493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Shape 13"/>
          <p:cNvSpPr/>
          <p:nvPr/>
        </p:nvSpPr>
        <p:spPr>
          <a:xfrm>
            <a:off x="6309360" y="1783080"/>
            <a:ext cx="5074920" cy="530352"/>
          </a:xfrm>
          <a:prstGeom prst="roundRect">
            <a:avLst/>
          </a:prstGeom>
          <a:solidFill>
            <a:srgbClr val="F2A65A"/>
          </a:solidFill>
          <a:ln>
            <a:noFill/>
          </a:ln>
        </p:spPr>
      </p:sp>
      <p:sp>
        <p:nvSpPr>
          <p:cNvPr id="15" name="Text 14"/>
          <p:cNvSpPr txBox="1"/>
          <p:nvPr/>
        </p:nvSpPr>
        <p:spPr>
          <a:xfrm>
            <a:off x="6556248" y="1929384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Aptos"/>
              </a:rPr>
              <a:t xml:space="preserve">STILL NEEDS LOCAL VERIFICATION</a:t>
            </a:r>
            <a:endParaRPr lang="en-US" sz="1300"/>
          </a:p>
        </p:txBody>
      </p:sp>
      <p:sp>
        <p:nvSpPr>
          <p:cNvPr id="16" name="Text 15"/>
          <p:cNvSpPr txBox="1"/>
          <p:nvPr/>
        </p:nvSpPr>
        <p:spPr>
          <a:xfrm>
            <a:off x="6583680" y="2633472"/>
            <a:ext cx="4480560" cy="20574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• MySQL-backed end-to-end workflow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• Browser/UI checks and screenshots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• Concurrency test against MySQL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• Backup / recovery and operations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• Production security assessment</a:t>
            </a:r>
            <a:endParaRPr lang="en-US" sz="1400"/>
          </a:p>
        </p:txBody>
      </p:sp>
      <p:sp>
        <p:nvSpPr>
          <p:cNvPr id="17" name="Text 16"/>
          <p:cNvSpPr txBox="1"/>
          <p:nvPr/>
        </p:nvSpPr>
        <p:spPr>
          <a:xfrm>
            <a:off x="804672" y="555955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200" b="1" dirty="0">
                <a:solidFill>
                  <a:srgbClr val="63758A"/>
                </a:solidFill>
                <a:latin typeface="Aptos"/>
              </a:rPr>
              <a:t xml:space="preserve">The project report records 5 unit tests passing; confirm by rerunning the test suite before submission.</a:t>
            </a:r>
            <a:endParaRPr 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10  /  CRITICAL REVIEW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Good foundation — with clear next steps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PROJECT REVIEW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11</a:t>
            </a:r>
            <a:endParaRPr lang="en-US" sz="1000"/>
          </a:p>
        </p:txBody>
      </p:sp>
      <p:sp>
        <p:nvSpPr>
          <p:cNvPr id="9" name="Text 8"/>
          <p:cNvSpPr txBox="1"/>
          <p:nvPr/>
        </p:nvSpPr>
        <p:spPr>
          <a:xfrm>
            <a:off x="822960" y="175564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300" b="1" dirty="0">
                <a:solidFill>
                  <a:srgbClr val="F2A65A"/>
                </a:solidFill>
                <a:latin typeface="Aptos"/>
              </a:rPr>
              <a:t xml:space="preserve">CURRENT LIMITATIONS</a:t>
            </a:r>
            <a:endParaRPr lang="en-US" sz="1300"/>
          </a:p>
        </p:txBody>
      </p:sp>
      <p:sp>
        <p:nvSpPr>
          <p:cNvPr id="10" name="Text 9"/>
          <p:cNvSpPr txBox="1"/>
          <p:nvPr/>
        </p:nvSpPr>
        <p:spPr>
          <a:xfrm>
            <a:off x="822960" y="2249424"/>
            <a:ext cx="4983480" cy="2487168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• Payments are not allocated to specific purchases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• Oldest-credit age is therefore an estimate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• No detailed audit / correction workflow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• No password-reset or staff-admin screen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• No backup, deployment or multi-shop operations</a:t>
            </a:r>
            <a:endParaRPr lang="en-US" sz="1400"/>
          </a:p>
        </p:txBody>
      </p:sp>
      <p:sp>
        <p:nvSpPr>
          <p:cNvPr id="11" name="Shape 10"/>
          <p:cNvSpPr/>
          <p:nvPr/>
        </p:nvSpPr>
        <p:spPr>
          <a:xfrm>
            <a:off x="5989320" y="1874520"/>
            <a:ext cx="36576" cy="2834640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12" name="Text 11"/>
          <p:cNvSpPr txBox="1"/>
          <p:nvPr/>
        </p:nvSpPr>
        <p:spPr>
          <a:xfrm>
            <a:off x="6419088" y="175564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300" b="1" dirty="0">
                <a:solidFill>
                  <a:srgbClr val="16B8A6"/>
                </a:solidFill>
                <a:latin typeface="Aptos"/>
              </a:rPr>
              <a:t xml:space="preserve">RECOMMENDED ROADMAP</a:t>
            </a:r>
            <a:endParaRPr lang="en-US" sz="1300"/>
          </a:p>
        </p:txBody>
      </p:sp>
      <p:sp>
        <p:nvSpPr>
          <p:cNvPr id="13" name="Text 12"/>
          <p:cNvSpPr txBox="1"/>
          <p:nvPr/>
        </p:nvSpPr>
        <p:spPr>
          <a:xfrm>
            <a:off x="6419088" y="2249424"/>
            <a:ext cx="4983480" cy="2487168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1. Allocate repayments to credit invoices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2. Add auditable corrections and staff roles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3. Add tested backup / restore procedures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4. Run integration, security and usability tests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5. Deploy behind HTTPS with production settings</a:t>
            </a:r>
            <a:endParaRPr lang="en-US" sz="1400"/>
          </a:p>
        </p:txBody>
      </p:sp>
      <p:sp>
        <p:nvSpPr>
          <p:cNvPr id="14" name="Shape 13"/>
          <p:cNvSpPr/>
          <p:nvPr/>
        </p:nvSpPr>
        <p:spPr>
          <a:xfrm>
            <a:off x="786384" y="5193792"/>
            <a:ext cx="10469880" cy="612648"/>
          </a:xfrm>
          <a:prstGeom prst="roundRect">
            <a:avLst/>
          </a:prstGeom>
          <a:solidFill>
            <a:srgbClr val="FFF1E3"/>
          </a:solidFill>
          <a:ln>
            <a:noFill/>
          </a:ln>
        </p:spPr>
      </p:sp>
      <p:sp>
        <p:nvSpPr>
          <p:cNvPr id="15" name="Text 14"/>
          <p:cNvSpPr txBox="1"/>
          <p:nvPr/>
        </p:nvSpPr>
        <p:spPr>
          <a:xfrm>
            <a:off x="1005840" y="5349240"/>
            <a:ext cx="10012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300" b="1" dirty="0">
                <a:solidFill>
                  <a:srgbClr val="10243A"/>
                </a:solidFill>
                <a:latin typeface="Aptos"/>
              </a:rPr>
              <a:t xml:space="preserve">Recommendation: present and extend as an academic prototype; do not use for real financial operations as-is.</a:t>
            </a:r>
            <a:endParaRPr lang="en-US"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11  /  CONCLUSION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A practical academic project with a credible core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PROJECT REVIEW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12</a:t>
            </a:r>
            <a:endParaRPr lang="en-US" sz="1000"/>
          </a:p>
        </p:txBody>
      </p:sp>
      <p:sp>
        <p:nvSpPr>
          <p:cNvPr id="9" name="Shape 8"/>
          <p:cNvSpPr/>
          <p:nvPr/>
        </p:nvSpPr>
        <p:spPr>
          <a:xfrm>
            <a:off x="749808" y="1783080"/>
            <a:ext cx="6675120" cy="3611880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</p:sp>
      <p:sp>
        <p:nvSpPr>
          <p:cNvPr id="10" name="Text 9"/>
          <p:cNvSpPr txBox="1"/>
          <p:nvPr/>
        </p:nvSpPr>
        <p:spPr>
          <a:xfrm>
            <a:off x="1097280" y="2103120"/>
            <a:ext cx="58521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300" b="1" dirty="0">
                <a:solidFill>
                  <a:srgbClr val="16B8A6"/>
                </a:solidFill>
                <a:latin typeface="Aptos"/>
              </a:rPr>
              <a:t xml:space="preserve">DEMO SEQUENCE</a:t>
            </a:r>
            <a:endParaRPr lang="en-US" sz="1300"/>
          </a:p>
        </p:txBody>
      </p:sp>
      <p:sp>
        <p:nvSpPr>
          <p:cNvPr id="11" name="Text 10"/>
          <p:cNvSpPr txBox="1"/>
          <p:nvPr/>
        </p:nvSpPr>
        <p:spPr>
          <a:xfrm>
            <a:off x="1097280" y="2697480"/>
            <a:ext cx="5897880" cy="201168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500" b="0" dirty="0">
                <a:solidFill>
                  <a:srgbClr val="FFFFFF"/>
                </a:solidFill>
                <a:latin typeface="Aptos"/>
              </a:rPr>
              <a:t xml:space="preserve">1. Sign in as staff</a:t>
            </a:r>
            <a:endParaRPr lang="en-US" sz="1500"/>
          </a:p>
          <a:p>
            <a:pPr algn="l"/>
            <a:r>
              <a:rPr lang="en-US" sz="1500" b="0" dirty="0">
                <a:solidFill>
                  <a:srgbClr val="FFFFFF"/>
                </a:solidFill>
                <a:latin typeface="Aptos"/>
              </a:rPr>
              <a:t xml:space="preserve">2. Find or create a customer</a:t>
            </a:r>
            <a:endParaRPr lang="en-US" sz="1500"/>
          </a:p>
          <a:p>
            <a:pPr algn="l"/>
            <a:r>
              <a:rPr lang="en-US" sz="1500" b="0" dirty="0">
                <a:solidFill>
                  <a:srgbClr val="FFFFFF"/>
                </a:solidFill>
                <a:latin typeface="Aptos"/>
              </a:rPr>
              <a:t xml:space="preserve">3. Add ₹2,000 credit</a:t>
            </a:r>
            <a:endParaRPr lang="en-US" sz="1500"/>
          </a:p>
          <a:p>
            <a:pPr algn="l"/>
            <a:r>
              <a:rPr lang="en-US" sz="1500" b="0" dirty="0">
                <a:solidFill>
                  <a:srgbClr val="FFFFFF"/>
                </a:solidFill>
                <a:latin typeface="Aptos"/>
              </a:rPr>
              <a:t xml:space="preserve">4. Record ₹800 payment → show ₹1,200 due</a:t>
            </a:r>
            <a:endParaRPr lang="en-US" sz="1500"/>
          </a:p>
          <a:p>
            <a:pPr algn="l"/>
            <a:r>
              <a:rPr lang="en-US" sz="1500" b="0" dirty="0">
                <a:solidFill>
                  <a:srgbClr val="FFFFFF"/>
                </a:solidFill>
                <a:latin typeface="Aptos"/>
              </a:rPr>
              <a:t xml:space="preserve">5. Pay ₹1,200 → confirm zero balance</a:t>
            </a:r>
            <a:endParaRPr lang="en-US" sz="1500"/>
          </a:p>
          <a:p>
            <a:pPr algn="l"/>
            <a:r>
              <a:rPr lang="en-US" sz="1500" b="0" dirty="0">
                <a:solidFill>
                  <a:srgbClr val="FFFFFF"/>
                </a:solidFill>
                <a:latin typeface="Aptos"/>
              </a:rPr>
              <a:t xml:space="preserve">6. Show ledger and report</a:t>
            </a:r>
            <a:endParaRPr lang="en-US" sz="1500"/>
          </a:p>
        </p:txBody>
      </p:sp>
      <p:sp>
        <p:nvSpPr>
          <p:cNvPr id="12" name="Shape 11"/>
          <p:cNvSpPr/>
          <p:nvPr/>
        </p:nvSpPr>
        <p:spPr>
          <a:xfrm>
            <a:off x="7818120" y="1783080"/>
            <a:ext cx="34290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Shape 12"/>
          <p:cNvSpPr/>
          <p:nvPr/>
        </p:nvSpPr>
        <p:spPr>
          <a:xfrm>
            <a:off x="7818120" y="1783080"/>
            <a:ext cx="64008" cy="1554480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14" name="Text 13"/>
          <p:cNvSpPr txBox="1"/>
          <p:nvPr/>
        </p:nvSpPr>
        <p:spPr>
          <a:xfrm>
            <a:off x="8037576" y="1947672"/>
            <a:ext cx="300837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Concept</a:t>
            </a:r>
            <a:endParaRPr lang="en-US" sz="1600"/>
          </a:p>
        </p:txBody>
      </p:sp>
      <p:sp>
        <p:nvSpPr>
          <p:cNvPr id="15" name="Text 14"/>
          <p:cNvSpPr txBox="1"/>
          <p:nvPr/>
        </p:nvSpPr>
        <p:spPr>
          <a:xfrm>
            <a:off x="8037576" y="2404872"/>
            <a:ext cx="2990088" cy="78638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Clear real-world use case.</a:t>
            </a:r>
            <a:endParaRPr lang="en-US" sz="1200"/>
          </a:p>
        </p:txBody>
      </p:sp>
      <p:sp>
        <p:nvSpPr>
          <p:cNvPr id="16" name="Shape 15"/>
          <p:cNvSpPr/>
          <p:nvPr/>
        </p:nvSpPr>
        <p:spPr>
          <a:xfrm>
            <a:off x="7818120" y="3584448"/>
            <a:ext cx="34290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Shape 16"/>
          <p:cNvSpPr/>
          <p:nvPr/>
        </p:nvSpPr>
        <p:spPr>
          <a:xfrm>
            <a:off x="7818120" y="3584448"/>
            <a:ext cx="64008" cy="1554480"/>
          </a:xfrm>
          <a:prstGeom prst="roundRect">
            <a:avLst/>
          </a:prstGeom>
          <a:solidFill>
            <a:srgbClr val="4C7CF3"/>
          </a:solidFill>
          <a:ln>
            <a:noFill/>
          </a:ln>
        </p:spPr>
      </p:sp>
      <p:sp>
        <p:nvSpPr>
          <p:cNvPr id="18" name="Text 17"/>
          <p:cNvSpPr txBox="1"/>
          <p:nvPr/>
        </p:nvSpPr>
        <p:spPr>
          <a:xfrm>
            <a:off x="8037576" y="3749040"/>
            <a:ext cx="300837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Engineering</a:t>
            </a:r>
            <a:endParaRPr lang="en-US" sz="1600"/>
          </a:p>
        </p:txBody>
      </p:sp>
      <p:sp>
        <p:nvSpPr>
          <p:cNvPr id="19" name="Text 18"/>
          <p:cNvSpPr txBox="1"/>
          <p:nvPr/>
        </p:nvSpPr>
        <p:spPr>
          <a:xfrm>
            <a:off x="8037576" y="4206240"/>
            <a:ext cx="2990088" cy="78638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Good transactional safeguards for a prototype.</a:t>
            </a:r>
            <a:endParaRPr lang="en-US" sz="1200"/>
          </a:p>
        </p:txBody>
      </p:sp>
      <p:sp>
        <p:nvSpPr>
          <p:cNvPr id="20" name="Text 19"/>
          <p:cNvSpPr txBox="1"/>
          <p:nvPr/>
        </p:nvSpPr>
        <p:spPr>
          <a:xfrm>
            <a:off x="822960" y="5733288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900" b="1" dirty="0">
                <a:solidFill>
                  <a:srgbClr val="10243A"/>
                </a:solidFill>
                <a:latin typeface="Aptos"/>
              </a:rPr>
              <a:t xml:space="preserve">Thank you  •  Questions?</a:t>
            </a:r>
            <a:endParaRPr lang="en-US"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Shop">
  <a:themeElements>
    <a:clrScheme name="Smart Shop">
      <a:dk1>
        <a:srgbClr val="10243A"/>
      </a:dk1>
      <a:lt1>
        <a:srgbClr val="FFFFFF"/>
      </a:lt1>
      <a:dk2>
        <a:srgbClr val="192B40"/>
      </a:dk2>
      <a:lt2>
        <a:srgbClr val="F3F6FA"/>
      </a:lt2>
      <a:accent1>
        <a:srgbClr val="16B8A6"/>
      </a:accent1>
      <a:accent2>
        <a:srgbClr val="4C7CF3"/>
      </a:accent2>
      <a:accent3>
        <a:srgbClr val="42A77A"/>
      </a:accent3>
      <a:accent4>
        <a:srgbClr val="F2A65A"/>
      </a:accent4>
      <a:accent5>
        <a:srgbClr val="8A6FD1"/>
      </a:accent5>
      <a:accent6>
        <a:srgbClr val="D96B6B"/>
      </a:accent6>
      <a:hlink>
        <a:srgbClr val="4C7CF3"/>
      </a:hlink>
      <a:folHlink>
        <a:srgbClr val="8A6FD1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/>
      <a:lnStyleLst/>
      <a:effectStyleLst/>
      <a:bgFillStyleLst/>
    </a:fmtScheme>
  </a:themeElements>
</a:theme>
</file>