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3"/>
  </p:sldMasterIdLst>
  <p:sldIdLst>
    <p:sldId id="255" r:id="rId1"/>
    <p:sldId id="256" r:id="rId2"/>
    <p:sldId id="257" r:id="rId3"/>
    <p:sldId id="267" r:id="rId14"/>
    <p:sldId id="258" r:id="rId4"/>
    <p:sldId id="259" r:id="rId5"/>
    <p:sldId id="260" r:id="rId6"/>
    <p:sldId id="261" r:id="rId7"/>
    <p:sldId id="268" r:id="rId15"/>
    <p:sldId id="262" r:id="rId8"/>
    <p:sldId id="269" r:id="rId16"/>
    <p:sldId id="263" r:id="rId9"/>
    <p:sldId id="264" r:id="rId10"/>
    <p:sldId id="265" r:id="rId11"/>
    <p:sldId id="270" r:id="rId17"/>
    <p:sldId id="266" r:id="rId12"/>
  </p:sldIdLst>
  <p:sldSz cx="12191695" cy="6858000" type="wide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Master" Target="slideMasters/slideMaster1.xml"/>  <Relationship Id="rId14" Type="http://schemas.openxmlformats.org/officeDocument/2006/relationships/slide" Target="slides/slide13.xml"/>
  <Relationship Id="rId15" Type="http://schemas.openxmlformats.org/officeDocument/2006/relationships/slide" Target="slides/slide14.xml"/>
  <Relationship Id="rId16" Type="http://schemas.openxmlformats.org/officeDocument/2006/relationships/slide" Target="slides/slide15.xml"/>
  <Relationship Id="rId17" Type="http://schemas.openxmlformats.org/officeDocument/2006/relationships/slide" Target="slides/slide16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43A"/>
          </a:solidFill>
          <a:ln>
            <a:noFill/>
          </a:ln>
        </p:spPr>
      </p:sp>
      <p:sp>
        <p:nvSpPr>
          <p:cNvPr id="3" name="Shape 2"/>
          <p:cNvSpPr/>
          <p:nvPr/>
        </p:nvSpPr>
        <p:spPr>
          <a:xfrm>
            <a:off x="594360" y="594360"/>
            <a:ext cx="109728" cy="438912"/>
          </a:xfrm>
          <a:prstGeom prst="rect">
            <a:avLst/>
          </a:prstGeom>
          <a:solidFill>
            <a:srgbClr val="16B8A6"/>
          </a:solidFill>
          <a:ln>
            <a:noFill/>
          </a:ln>
        </p:spPr>
      </p:sp>
      <p:sp>
        <p:nvSpPr>
          <p:cNvPr id="4" name="Text 3"/>
          <p:cNvSpPr txBox="1"/>
          <p:nvPr/>
        </p:nvSpPr>
        <p:spPr>
          <a:xfrm>
            <a:off x="868680" y="585216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100" b="1" dirty="0">
                <a:solidFill>
                  <a:srgbClr val="16B8A6"/>
                </a:solidFill>
                <a:latin typeface="Aptos"/>
              </a:rPr>
              <a:t xml:space="preserve">SUMMER INTERNSHIP PRESENTATION</a:t>
            </a:r>
            <a:endParaRPr lang="en-US" sz="1100"/>
          </a:p>
        </p:txBody>
      </p:sp>
      <p:sp>
        <p:nvSpPr>
          <p:cNvPr id="5" name="Text 4"/>
          <p:cNvSpPr txBox="1"/>
          <p:nvPr/>
        </p:nvSpPr>
        <p:spPr>
          <a:xfrm>
            <a:off x="621792" y="1115568"/>
            <a:ext cx="1088136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3200" b="1" dirty="0">
                <a:solidFill>
                  <a:srgbClr val="FFFFFF"/>
                </a:solidFill>
                <a:latin typeface="Aptos"/>
              </a:rPr>
              <a:t xml:space="preserve">Smart Shop Credit Tracker</a:t>
            </a:r>
            <a:endParaRPr lang="en-US" sz="3200"/>
          </a:p>
        </p:txBody>
      </p:sp>
      <p:sp>
        <p:nvSpPr>
          <p:cNvPr id="6" name="Shape 5"/>
          <p:cNvSpPr/>
          <p:nvPr/>
        </p:nvSpPr>
        <p:spPr>
          <a:xfrm>
            <a:off x="621792" y="1874520"/>
            <a:ext cx="10945368" cy="16459"/>
          </a:xfrm>
          <a:prstGeom prst="rect">
            <a:avLst/>
          </a:prstGeom>
          <a:solidFill>
            <a:srgbClr val="29435B"/>
          </a:solidFill>
          <a:ln>
            <a:noFill/>
          </a:ln>
        </p:spPr>
      </p:sp>
      <p:sp>
        <p:nvSpPr>
          <p:cNvPr id="7" name="Text 6"/>
          <p:cNvSpPr txBox="1"/>
          <p:nvPr/>
        </p:nvSpPr>
        <p:spPr>
          <a:xfrm>
            <a:off x="621792" y="6510528"/>
            <a:ext cx="98755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00" b="0" dirty="0">
                <a:solidFill>
                  <a:srgbClr val="A9BACB"/>
                </a:solidFill>
                <a:latin typeface="Aptos"/>
              </a:rPr>
              <a:t xml:space="preserve">SMART SHOP CREDIT TRACKER  •  SUMMER INTERNSHIP</a:t>
            </a:r>
            <a:endParaRPr lang="en-US" sz="800"/>
          </a:p>
        </p:txBody>
      </p:sp>
      <p:sp>
        <p:nvSpPr>
          <p:cNvPr id="8" name="Text 7"/>
          <p:cNvSpPr txBox="1"/>
          <p:nvPr/>
        </p:nvSpPr>
        <p:spPr>
          <a:xfrm>
            <a:off x="658368" y="2084832"/>
            <a:ext cx="7955280" cy="43891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500" b="1" dirty="0">
                <a:solidFill>
                  <a:srgbClr val="B8C9D8"/>
                </a:solidFill>
                <a:latin typeface="Aptos"/>
              </a:rPr>
              <a:t xml:space="preserve">CUSTOMER CREDIT &amp; PAYMENT MANAGEMENT</a:t>
            </a:r>
            <a:endParaRPr lang="en-US" sz="1500"/>
          </a:p>
        </p:txBody>
      </p:sp>
      <p:sp>
        <p:nvSpPr>
          <p:cNvPr id="9" name="Text 8"/>
          <p:cNvSpPr txBox="1"/>
          <p:nvPr/>
        </p:nvSpPr>
        <p:spPr>
          <a:xfrm>
            <a:off x="658368" y="2724912"/>
            <a:ext cx="7498080" cy="107899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2700" b="1" dirty="0">
                <a:solidFill>
                  <a:srgbClr val="FFFFFF"/>
                </a:solidFill>
                <a:latin typeface="Aptos"/>
              </a:rPr>
              <a:t xml:space="preserve">A simple, transparent way to</a:t>
            </a:r>
            <a:endParaRPr lang="en-US" sz="2700"/>
          </a:p>
          <a:p>
            <a:pPr algn="l"/>
            <a:r>
              <a:rPr lang="en-US" sz="2700" b="1" dirty="0">
                <a:solidFill>
                  <a:srgbClr val="FFFFFF"/>
                </a:solidFill>
                <a:latin typeface="Aptos"/>
              </a:rPr>
              <a:t xml:space="preserve">track shop customer dues.</a:t>
            </a:r>
            <a:endParaRPr lang="en-US" sz="2700"/>
          </a:p>
        </p:txBody>
      </p:sp>
      <p:sp>
        <p:nvSpPr>
          <p:cNvPr id="10" name="Text 9"/>
          <p:cNvSpPr txBox="1"/>
          <p:nvPr/>
        </p:nvSpPr>
        <p:spPr>
          <a:xfrm>
            <a:off x="676656" y="4096512"/>
            <a:ext cx="68580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500" b="1" dirty="0">
                <a:solidFill>
                  <a:srgbClr val="16B8A6"/>
                </a:solidFill>
                <a:latin typeface="Aptos"/>
              </a:rPr>
              <a:t xml:space="preserve">Java Development  |  Astonish InfoTech Pvt Ltd</a:t>
            </a:r>
            <a:endParaRPr lang="en-US" sz="1500"/>
          </a:p>
        </p:txBody>
      </p:sp>
      <p:sp>
        <p:nvSpPr>
          <p:cNvPr id="11" name="Shape 10"/>
          <p:cNvSpPr/>
          <p:nvPr/>
        </p:nvSpPr>
        <p:spPr>
          <a:xfrm>
            <a:off x="8915400" y="1965960"/>
            <a:ext cx="2423160" cy="2487168"/>
          </a:xfrm>
          <a:prstGeom prst="roundRect">
            <a:avLst/>
          </a:prstGeom>
          <a:solidFill>
            <a:srgbClr val="193650"/>
          </a:solidFill>
          <a:ln>
            <a:noFill/>
          </a:ln>
        </p:spPr>
      </p:sp>
      <p:sp>
        <p:nvSpPr>
          <p:cNvPr id="12" name="Text 11"/>
          <p:cNvSpPr txBox="1"/>
          <p:nvPr/>
        </p:nvSpPr>
        <p:spPr>
          <a:xfrm>
            <a:off x="9162288" y="2258568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100" b="1" dirty="0">
                <a:solidFill>
                  <a:srgbClr val="B8C9D8"/>
                </a:solidFill>
                <a:latin typeface="Aptos"/>
              </a:rPr>
              <a:t xml:space="preserve">LIVE BALANCE</a:t>
            </a:r>
            <a:endParaRPr lang="en-US" sz="1100"/>
          </a:p>
        </p:txBody>
      </p:sp>
      <p:sp>
        <p:nvSpPr>
          <p:cNvPr id="13" name="Text 12"/>
          <p:cNvSpPr txBox="1"/>
          <p:nvPr/>
        </p:nvSpPr>
        <p:spPr>
          <a:xfrm>
            <a:off x="9162288" y="2770632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2340" b="1" dirty="0">
                <a:solidFill>
                  <a:srgbClr val="FFFFFF"/>
                </a:solidFill>
                <a:latin typeface="Aptos"/>
              </a:rPr>
              <a:t xml:space="preserve">₹1,500.01</a:t>
            </a:r>
            <a:endParaRPr lang="en-US" sz="3000"/>
          </a:p>
        </p:txBody>
      </p:sp>
      <p:sp>
        <p:nvSpPr>
          <p:cNvPr id="14" name="Text 13"/>
          <p:cNvSpPr txBox="1"/>
          <p:nvPr/>
        </p:nvSpPr>
        <p:spPr>
          <a:xfrm>
            <a:off x="9162288" y="361188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100" b="1" dirty="0">
                <a:solidFill>
                  <a:srgbClr val="16B8A6"/>
                </a:solidFill>
                <a:latin typeface="Aptos"/>
              </a:rPr>
              <a:t xml:space="preserve">₹2,000 credit  −  ₹499.99 paid</a:t>
            </a:r>
            <a:endParaRPr lang="en-US" sz="1100"/>
          </a:p>
        </p:txBody>
      </p:sp>
      <p:sp>
        <p:nvSpPr>
          <p:cNvPr id="15" name="Text 14"/>
          <p:cNvSpPr txBox="1"/>
          <p:nvPr/>
        </p:nvSpPr>
        <p:spPr>
          <a:xfrm>
            <a:off x="676656" y="598932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100" b="0" dirty="0">
                <a:solidFill>
                  <a:srgbClr val="A9BACB"/>
                </a:solidFill>
                <a:latin typeface="Aptos"/>
              </a:rPr>
              <a:t xml:space="preserve">Student: PARAMESHWARAN C (810023205305)    Department: Information Technology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</p:sp>
      <p:sp>
        <p:nvSpPr>
          <p:cNvPr id="3" name="Shap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6B8A6"/>
          </a:solidFill>
          <a:ln>
            <a:noFill/>
          </a:ln>
        </p:spPr>
      </p:sp>
      <p:sp>
        <p:nvSpPr>
          <p:cNvPr id="4" name="Text 3"/>
          <p:cNvSpPr txBox="1"/>
          <p:nvPr/>
        </p:nvSpPr>
        <p:spPr>
          <a:xfrm>
            <a:off x="594360" y="347472"/>
            <a:ext cx="89611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000" b="1" dirty="0">
                <a:solidFill>
                  <a:srgbClr val="16B8A6"/>
                </a:solidFill>
                <a:latin typeface="Aptos"/>
              </a:rPr>
              <a:t xml:space="preserve">01  /  EXECUTIVE SUMMARY</a:t>
            </a:r>
            <a:endParaRPr lang="en-US" sz="1000"/>
          </a:p>
        </p:txBody>
      </p:sp>
      <p:sp>
        <p:nvSpPr>
          <p:cNvPr id="5" name="Text 4"/>
          <p:cNvSpPr txBox="1"/>
          <p:nvPr/>
        </p:nvSpPr>
        <p:spPr>
          <a:xfrm>
            <a:off x="594360" y="694944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2900" b="1" dirty="0">
                <a:solidFill>
                  <a:srgbClr val="10243A"/>
                </a:solidFill>
                <a:latin typeface="Aptos"/>
              </a:rPr>
              <a:t xml:space="preserve">A focused solution for everyday shop credit</a:t>
            </a:r>
            <a:endParaRPr lang="en-US" sz="2900"/>
          </a:p>
        </p:txBody>
      </p:sp>
      <p:sp>
        <p:nvSpPr>
          <p:cNvPr id="6" name="Shape 5"/>
          <p:cNvSpPr/>
          <p:nvPr/>
        </p:nvSpPr>
        <p:spPr>
          <a:xfrm>
            <a:off x="594360" y="1353312"/>
            <a:ext cx="10972800" cy="16459"/>
          </a:xfrm>
          <a:prstGeom prst="rect">
            <a:avLst/>
          </a:prstGeom>
          <a:solidFill>
            <a:srgbClr val="D8E1E9"/>
          </a:solidFill>
          <a:ln>
            <a:noFill/>
          </a:ln>
        </p:spPr>
      </p:sp>
      <p:sp>
        <p:nvSpPr>
          <p:cNvPr id="7" name="Text 6"/>
          <p:cNvSpPr txBox="1"/>
          <p:nvPr/>
        </p:nvSpPr>
        <p:spPr>
          <a:xfrm>
            <a:off x="594360" y="6510528"/>
            <a:ext cx="89611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00" b="0" dirty="0">
                <a:solidFill>
                  <a:srgbClr val="63758A"/>
                </a:solidFill>
                <a:latin typeface="Aptos"/>
              </a:rPr>
              <a:t xml:space="preserve">SMART SHOP CREDIT TRACKER  •  SUMMER INTERNSHIP</a:t>
            </a:r>
            <a:endParaRPr lang="en-US" sz="800"/>
          </a:p>
        </p:txBody>
      </p:sp>
      <p:sp>
        <p:nvSpPr>
          <p:cNvPr id="8" name="Text 7"/>
          <p:cNvSpPr txBox="1"/>
          <p:nvPr/>
        </p:nvSpPr>
        <p:spPr>
          <a:xfrm>
            <a:off x="11018520" y="6473952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1000" b="1" dirty="0">
                <a:solidFill>
                  <a:srgbClr val="16B8A6"/>
                </a:solidFill>
                <a:latin typeface="Aptos"/>
              </a:rPr>
              <a:t xml:space="preserve">02</a:t>
            </a:r>
            <a:endParaRPr lang="en-US" sz="1000"/>
          </a:p>
        </p:txBody>
      </p:sp>
      <p:sp>
        <p:nvSpPr>
          <p:cNvPr id="9" name="Shape 8"/>
          <p:cNvSpPr/>
          <p:nvPr/>
        </p:nvSpPr>
        <p:spPr>
          <a:xfrm>
            <a:off x="621792" y="1691640"/>
            <a:ext cx="3493008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" name="Shape 9"/>
          <p:cNvSpPr/>
          <p:nvPr/>
        </p:nvSpPr>
        <p:spPr>
          <a:xfrm>
            <a:off x="621792" y="1691640"/>
            <a:ext cx="64008" cy="1828800"/>
          </a:xfrm>
          <a:prstGeom prst="roundRect">
            <a:avLst/>
          </a:prstGeom>
          <a:solidFill>
            <a:srgbClr val="4C7CF3"/>
          </a:solidFill>
          <a:ln>
            <a:noFill/>
          </a:ln>
        </p:spPr>
      </p:sp>
      <p:sp>
        <p:nvSpPr>
          <p:cNvPr id="11" name="Text 10"/>
          <p:cNvSpPr txBox="1"/>
          <p:nvPr/>
        </p:nvSpPr>
        <p:spPr>
          <a:xfrm>
            <a:off x="841248" y="1856232"/>
            <a:ext cx="3072384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700" b="1" dirty="0">
                <a:solidFill>
                  <a:srgbClr val="10243A"/>
                </a:solidFill>
                <a:latin typeface="Aptos"/>
              </a:rPr>
              <a:t xml:space="preserve">The need</a:t>
            </a:r>
            <a:endParaRPr lang="en-US" sz="1700"/>
          </a:p>
        </p:txBody>
      </p:sp>
      <p:sp>
        <p:nvSpPr>
          <p:cNvPr id="12" name="Text 11"/>
          <p:cNvSpPr txBox="1"/>
          <p:nvPr/>
        </p:nvSpPr>
        <p:spPr>
          <a:xfrm>
            <a:off x="841248" y="2313432"/>
            <a:ext cx="3054096" cy="1060704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"/>
            <a:r>
              <a:rPr lang="en-US" sz="1300" b="0" dirty="0">
                <a:solidFill>
                  <a:srgbClr val="63758A"/>
                </a:solidFill>
                <a:latin typeface="Aptos"/>
              </a:rPr>
              <a:t xml:space="preserve">Paper or scattered records make it harder to find customer history, reconcile part-payments and prepare dues summaries.</a:t>
            </a:r>
            <a:endParaRPr lang="en-US" sz="1300"/>
          </a:p>
        </p:txBody>
      </p:sp>
      <p:sp>
        <p:nvSpPr>
          <p:cNvPr id="13" name="Shape 12"/>
          <p:cNvSpPr/>
          <p:nvPr/>
        </p:nvSpPr>
        <p:spPr>
          <a:xfrm>
            <a:off x="4352544" y="1691640"/>
            <a:ext cx="3493008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4" name="Shape 13"/>
          <p:cNvSpPr/>
          <p:nvPr/>
        </p:nvSpPr>
        <p:spPr>
          <a:xfrm>
            <a:off x="4352544" y="1691640"/>
            <a:ext cx="64008" cy="1828800"/>
          </a:xfrm>
          <a:prstGeom prst="roundRect">
            <a:avLst/>
          </a:prstGeom>
          <a:solidFill>
            <a:srgbClr val="16B8A6"/>
          </a:solidFill>
          <a:ln>
            <a:noFill/>
          </a:ln>
        </p:spPr>
      </p:sp>
      <p:sp>
        <p:nvSpPr>
          <p:cNvPr id="15" name="Text 14"/>
          <p:cNvSpPr txBox="1"/>
          <p:nvPr/>
        </p:nvSpPr>
        <p:spPr>
          <a:xfrm>
            <a:off x="4572000" y="1856232"/>
            <a:ext cx="3072384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700" b="1" dirty="0">
                <a:solidFill>
                  <a:srgbClr val="10243A"/>
                </a:solidFill>
                <a:latin typeface="Aptos"/>
              </a:rPr>
              <a:t xml:space="preserve">The product</a:t>
            </a:r>
            <a:endParaRPr lang="en-US" sz="1700"/>
          </a:p>
        </p:txBody>
      </p:sp>
      <p:sp>
        <p:nvSpPr>
          <p:cNvPr id="16" name="Text 15"/>
          <p:cNvSpPr txBox="1"/>
          <p:nvPr/>
        </p:nvSpPr>
        <p:spPr>
          <a:xfrm>
            <a:off x="4572000" y="2313432"/>
            <a:ext cx="3054096" cy="1060704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"/>
            <a:r>
              <a:rPr lang="en-US" sz="1300" b="0" dirty="0">
                <a:solidFill>
                  <a:srgbClr val="63758A"/>
                </a:solidFill>
                <a:latin typeface="Aptos"/>
              </a:rPr>
              <a:t xml:space="preserve">A staff-facing web app to maintain customers, record purchases and repayments, and review ledgers and reports.</a:t>
            </a:r>
            <a:endParaRPr lang="en-US" sz="1300"/>
          </a:p>
        </p:txBody>
      </p:sp>
      <p:sp>
        <p:nvSpPr>
          <p:cNvPr id="17" name="Shape 16"/>
          <p:cNvSpPr/>
          <p:nvPr/>
        </p:nvSpPr>
        <p:spPr>
          <a:xfrm>
            <a:off x="8074152" y="1691640"/>
            <a:ext cx="3493008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8" name="Shape 17"/>
          <p:cNvSpPr/>
          <p:nvPr/>
        </p:nvSpPr>
        <p:spPr>
          <a:xfrm>
            <a:off x="8074152" y="1691640"/>
            <a:ext cx="64008" cy="1828800"/>
          </a:xfrm>
          <a:prstGeom prst="roundRect">
            <a:avLst/>
          </a:prstGeom>
          <a:solidFill>
            <a:srgbClr val="F2A65A"/>
          </a:solidFill>
          <a:ln>
            <a:noFill/>
          </a:ln>
        </p:spPr>
      </p:sp>
      <p:sp>
        <p:nvSpPr>
          <p:cNvPr id="19" name="Text 18"/>
          <p:cNvSpPr txBox="1"/>
          <p:nvPr/>
        </p:nvSpPr>
        <p:spPr>
          <a:xfrm>
            <a:off x="8293608" y="1856232"/>
            <a:ext cx="3072384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700" b="1" dirty="0">
                <a:solidFill>
                  <a:srgbClr val="10243A"/>
                </a:solidFill>
                <a:latin typeface="Aptos"/>
              </a:rPr>
              <a:t xml:space="preserve">The review verdict</a:t>
            </a:r>
            <a:endParaRPr lang="en-US" sz="1700"/>
          </a:p>
        </p:txBody>
      </p:sp>
      <p:sp>
        <p:nvSpPr>
          <p:cNvPr id="20" name="Text 19"/>
          <p:cNvSpPr txBox="1"/>
          <p:nvPr/>
        </p:nvSpPr>
        <p:spPr>
          <a:xfrm>
            <a:off x="8293608" y="2313432"/>
            <a:ext cx="3054096" cy="1060704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"/>
            <a:r>
              <a:rPr lang="en-US" sz="1300" b="0" dirty="0">
                <a:solidFill>
                  <a:srgbClr val="63758A"/>
                </a:solidFill>
                <a:latin typeface="Aptos"/>
              </a:rPr>
              <a:t xml:space="preserve">Strong academic concept with thoughtful transaction safeguards. Production readiness is not established.</a:t>
            </a:r>
            <a:endParaRPr lang="en-US" sz="1300"/>
          </a:p>
        </p:txBody>
      </p:sp>
      <p:sp>
        <p:nvSpPr>
          <p:cNvPr id="21" name="Shape 20"/>
          <p:cNvSpPr/>
          <p:nvPr/>
        </p:nvSpPr>
        <p:spPr>
          <a:xfrm>
            <a:off x="621792" y="3858768"/>
            <a:ext cx="10945368" cy="1508760"/>
          </a:xfrm>
          <a:prstGeom prst="roundRect">
            <a:avLst/>
          </a:prstGeom>
          <a:solidFill>
            <a:srgbClr val="10243A"/>
          </a:solidFill>
          <a:ln>
            <a:noFill/>
          </a:ln>
        </p:spPr>
      </p:sp>
      <p:sp>
        <p:nvSpPr>
          <p:cNvPr id="22" name="Text 21"/>
          <p:cNvSpPr txBox="1"/>
          <p:nvPr/>
        </p:nvSpPr>
        <p:spPr>
          <a:xfrm>
            <a:off x="914400" y="411480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200" b="1" dirty="0">
                <a:solidFill>
                  <a:srgbClr val="16B8A6"/>
                </a:solidFill>
                <a:latin typeface="Aptos"/>
              </a:rPr>
              <a:t xml:space="preserve">CORE VALUE</a:t>
            </a:r>
            <a:endParaRPr lang="en-US" sz="1200"/>
          </a:p>
        </p:txBody>
      </p:sp>
      <p:sp>
        <p:nvSpPr>
          <p:cNvPr id="23" name="Text 22"/>
          <p:cNvSpPr txBox="1"/>
          <p:nvPr/>
        </p:nvSpPr>
        <p:spPr>
          <a:xfrm>
            <a:off x="2971800" y="4023360"/>
            <a:ext cx="813816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900" b="1" dirty="0">
                <a:solidFill>
                  <a:srgbClr val="FFFFFF"/>
                </a:solidFill>
                <a:latin typeface="Aptos"/>
              </a:rPr>
              <a:t xml:space="preserve">One customer record  →  every credit &amp; payment saved  →  balance calculated from the ledger</a:t>
            </a:r>
            <a:endParaRPr lang="en-US" sz="1900"/>
          </a:p>
        </p:txBody>
      </p:sp>
      <p:sp>
        <p:nvSpPr>
          <p:cNvPr id="24" name="Text 23"/>
          <p:cNvSpPr txBox="1"/>
          <p:nvPr/>
        </p:nvSpPr>
        <p:spPr>
          <a:xfrm>
            <a:off x="658368" y="5669280"/>
            <a:ext cx="106070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200" b="0" dirty="0">
                <a:solidFill>
                  <a:srgbClr val="63758A"/>
                </a:solidFill>
                <a:latin typeface="Aptos"/>
              </a:rPr>
              <a:t xml:space="preserve">Scope: academic/local-development application; no claim of live shop deployment.</a:t>
            </a:r>
            <a:endParaRPr lang="en-US"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</p:sp>
      <p:sp>
        <p:nvSpPr>
          <p:cNvPr id="3" name="Shap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6B8A6"/>
          </a:solidFill>
          <a:ln>
            <a:noFill/>
          </a:ln>
        </p:spPr>
      </p:sp>
      <p:sp>
        <p:nvSpPr>
          <p:cNvPr id="4" name="Text 3"/>
          <p:cNvSpPr txBox="1"/>
          <p:nvPr/>
        </p:nvSpPr>
        <p:spPr>
          <a:xfrm>
            <a:off x="594360" y="347472"/>
            <a:ext cx="89611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000" b="1" dirty="0">
                <a:solidFill>
                  <a:srgbClr val="16B8A6"/>
                </a:solidFill>
                <a:latin typeface="Aptos"/>
              </a:rPr>
              <a:t xml:space="preserve">02  /  PROBLEM &amp; PROPOSAL</a:t>
            </a:r>
            <a:endParaRPr lang="en-US" sz="1000"/>
          </a:p>
        </p:txBody>
      </p:sp>
      <p:sp>
        <p:nvSpPr>
          <p:cNvPr id="5" name="Text 4"/>
          <p:cNvSpPr txBox="1"/>
          <p:nvPr/>
        </p:nvSpPr>
        <p:spPr>
          <a:xfrm>
            <a:off x="594360" y="694944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2900" b="1" dirty="0">
                <a:solidFill>
                  <a:srgbClr val="10243A"/>
                </a:solidFill>
                <a:latin typeface="Aptos"/>
              </a:rPr>
              <a:t xml:space="preserve">Replace manual reconciliation with a shared record</a:t>
            </a:r>
            <a:endParaRPr lang="en-US" sz="2900"/>
          </a:p>
        </p:txBody>
      </p:sp>
      <p:sp>
        <p:nvSpPr>
          <p:cNvPr id="6" name="Shape 5"/>
          <p:cNvSpPr/>
          <p:nvPr/>
        </p:nvSpPr>
        <p:spPr>
          <a:xfrm>
            <a:off x="594360" y="1353312"/>
            <a:ext cx="10972800" cy="16459"/>
          </a:xfrm>
          <a:prstGeom prst="rect">
            <a:avLst/>
          </a:prstGeom>
          <a:solidFill>
            <a:srgbClr val="D8E1E9"/>
          </a:solidFill>
          <a:ln>
            <a:noFill/>
          </a:ln>
        </p:spPr>
      </p:sp>
      <p:sp>
        <p:nvSpPr>
          <p:cNvPr id="7" name="Text 6"/>
          <p:cNvSpPr txBox="1"/>
          <p:nvPr/>
        </p:nvSpPr>
        <p:spPr>
          <a:xfrm>
            <a:off x="594360" y="6510528"/>
            <a:ext cx="89611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00" b="0" dirty="0">
                <a:solidFill>
                  <a:srgbClr val="63758A"/>
                </a:solidFill>
                <a:latin typeface="Aptos"/>
              </a:rPr>
              <a:t xml:space="preserve">SMART SHOP CREDIT TRACKER  •  SUMMER INTERNSHIP</a:t>
            </a:r>
            <a:endParaRPr lang="en-US" sz="800"/>
          </a:p>
        </p:txBody>
      </p:sp>
      <p:sp>
        <p:nvSpPr>
          <p:cNvPr id="8" name="Text 7"/>
          <p:cNvSpPr txBox="1"/>
          <p:nvPr/>
        </p:nvSpPr>
        <p:spPr>
          <a:xfrm>
            <a:off x="11018520" y="6473952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1000" b="1" dirty="0">
                <a:solidFill>
                  <a:srgbClr val="16B8A6"/>
                </a:solidFill>
                <a:latin typeface="Aptos"/>
              </a:rPr>
              <a:t xml:space="preserve">03</a:t>
            </a:r>
            <a:endParaRPr lang="en-US" sz="1000"/>
          </a:p>
        </p:txBody>
      </p:sp>
      <p:sp>
        <p:nvSpPr>
          <p:cNvPr id="9" name="Text 8"/>
          <p:cNvSpPr txBox="1"/>
          <p:nvPr/>
        </p:nvSpPr>
        <p:spPr>
          <a:xfrm>
            <a:off x="731520" y="173736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300" b="1" dirty="0">
                <a:solidFill>
                  <a:srgbClr val="D96B6B"/>
                </a:solidFill>
                <a:latin typeface="Aptos"/>
              </a:rPr>
              <a:t xml:space="preserve">TODAY’S PAIN POINTS</a:t>
            </a:r>
            <a:endParaRPr lang="en-US" sz="1300"/>
          </a:p>
        </p:txBody>
      </p:sp>
      <p:sp>
        <p:nvSpPr>
          <p:cNvPr id="10" name="Text 9"/>
          <p:cNvSpPr txBox="1"/>
          <p:nvPr/>
        </p:nvSpPr>
        <p:spPr>
          <a:xfrm>
            <a:off x="731520" y="2267712"/>
            <a:ext cx="4846320" cy="192024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"/>
            <a:r>
              <a:rPr lang="en-US" sz="1600" b="0" dirty="0">
                <a:solidFill>
                  <a:srgbClr val="192B40"/>
                </a:solidFill>
                <a:latin typeface="Aptos"/>
              </a:rPr>
              <a:t xml:space="preserve">• Search across notebooks takes time</a:t>
            </a:r>
            <a:endParaRPr lang="en-US" sz="1600"/>
          </a:p>
          <a:p>
            <a:pPr algn="l"/>
            <a:r>
              <a:rPr lang="en-US" sz="1600" b="0" dirty="0">
                <a:solidFill>
                  <a:srgbClr val="192B40"/>
                </a:solidFill>
                <a:latin typeface="Aptos"/>
              </a:rPr>
              <a:t xml:space="preserve">• Partial payments are easy to miscalculate</a:t>
            </a:r>
            <a:endParaRPr lang="en-US" sz="1600"/>
          </a:p>
          <a:p>
            <a:pPr algn="l"/>
            <a:r>
              <a:rPr lang="en-US" sz="1600" b="0" dirty="0">
                <a:solidFill>
                  <a:srgbClr val="192B40"/>
                </a:solidFill>
                <a:latin typeface="Aptos"/>
              </a:rPr>
              <a:t xml:space="preserve">• Records can be missed or duplicated</a:t>
            </a:r>
            <a:endParaRPr lang="en-US" sz="1600"/>
          </a:p>
          <a:p>
            <a:pPr algn="l"/>
            <a:r>
              <a:rPr lang="en-US" sz="1600" b="0" dirty="0">
                <a:solidFill>
                  <a:srgbClr val="192B40"/>
                </a:solidFill>
                <a:latin typeface="Aptos"/>
              </a:rPr>
              <a:t xml:space="preserve">• Current outstanding dues are hard to summarize</a:t>
            </a:r>
            <a:endParaRPr lang="en-US" sz="1600"/>
          </a:p>
        </p:txBody>
      </p:sp>
      <p:sp>
        <p:nvSpPr>
          <p:cNvPr id="11" name="Shape 10"/>
          <p:cNvSpPr/>
          <p:nvPr/>
        </p:nvSpPr>
        <p:spPr>
          <a:xfrm>
            <a:off x="5925312" y="1901952"/>
            <a:ext cx="36576" cy="2880360"/>
          </a:xfrm>
          <a:prstGeom prst="rect">
            <a:avLst/>
          </a:prstGeom>
          <a:solidFill>
            <a:srgbClr val="D8E1E9"/>
          </a:solidFill>
          <a:ln>
            <a:noFill/>
          </a:ln>
        </p:spPr>
      </p:sp>
      <p:sp>
        <p:nvSpPr>
          <p:cNvPr id="12" name="Text 11"/>
          <p:cNvSpPr txBox="1"/>
          <p:nvPr/>
        </p:nvSpPr>
        <p:spPr>
          <a:xfrm>
            <a:off x="6446520" y="17373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300" b="1" dirty="0">
                <a:solidFill>
                  <a:srgbClr val="16B8A6"/>
                </a:solidFill>
                <a:latin typeface="Aptos"/>
              </a:rPr>
              <a:t xml:space="preserve">PROPOSED APPROACH</a:t>
            </a:r>
            <a:endParaRPr lang="en-US" sz="1300"/>
          </a:p>
        </p:txBody>
      </p:sp>
      <p:sp>
        <p:nvSpPr>
          <p:cNvPr id="13" name="Text 12"/>
          <p:cNvSpPr txBox="1"/>
          <p:nvPr/>
        </p:nvSpPr>
        <p:spPr>
          <a:xfrm>
            <a:off x="6446520" y="2267712"/>
            <a:ext cx="4754880" cy="192024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"/>
            <a:r>
              <a:rPr lang="en-US" sz="1600" b="0" dirty="0">
                <a:solidFill>
                  <a:srgbClr val="192B40"/>
                </a:solidFill>
                <a:latin typeface="Aptos"/>
              </a:rPr>
              <a:t xml:space="preserve">• Central customer directory and search</a:t>
            </a:r>
            <a:endParaRPr lang="en-US" sz="1600"/>
          </a:p>
          <a:p>
            <a:pPr algn="l"/>
            <a:r>
              <a:rPr lang="en-US" sz="1600" b="0" dirty="0">
                <a:solidFill>
                  <a:srgbClr val="192B40"/>
                </a:solidFill>
                <a:latin typeface="Aptos"/>
              </a:rPr>
              <a:t xml:space="preserve">• Separate credit and payment entries</a:t>
            </a:r>
            <a:endParaRPr lang="en-US" sz="1600"/>
          </a:p>
          <a:p>
            <a:pPr algn="l"/>
            <a:r>
              <a:rPr lang="en-US" sz="1600" b="0" dirty="0">
                <a:solidFill>
                  <a:srgbClr val="192B40"/>
                </a:solidFill>
                <a:latin typeface="Aptos"/>
              </a:rPr>
              <a:t xml:space="preserve">• Server-checked rules and current balance</a:t>
            </a:r>
            <a:endParaRPr lang="en-US" sz="1600"/>
          </a:p>
          <a:p>
            <a:pPr algn="l"/>
            <a:r>
              <a:rPr lang="en-US" sz="1600" b="0" dirty="0">
                <a:solidFill>
                  <a:srgbClr val="192B40"/>
                </a:solidFill>
                <a:latin typeface="Aptos"/>
              </a:rPr>
              <a:t xml:space="preserve">• Ledger, pending dues and date-range reports</a:t>
            </a:r>
            <a:endParaRPr lang="en-US" sz="1600"/>
          </a:p>
        </p:txBody>
      </p:sp>
      <p:sp>
        <p:nvSpPr>
          <p:cNvPr id="14" name="Shape 13"/>
          <p:cNvSpPr/>
          <p:nvPr/>
        </p:nvSpPr>
        <p:spPr>
          <a:xfrm>
            <a:off x="731520" y="5074920"/>
            <a:ext cx="10789920" cy="731520"/>
          </a:xfrm>
          <a:prstGeom prst="roundRect">
            <a:avLst/>
          </a:prstGeom>
          <a:solidFill>
            <a:srgbClr val="E5F5F2"/>
          </a:solidFill>
          <a:ln>
            <a:noFill/>
          </a:ln>
        </p:spPr>
      </p:sp>
      <p:sp>
        <p:nvSpPr>
          <p:cNvPr id="15" name="Text 14"/>
          <p:cNvSpPr txBox="1"/>
          <p:nvPr/>
        </p:nvSpPr>
        <p:spPr>
          <a:xfrm>
            <a:off x="960120" y="5266944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400" b="1" dirty="0">
                <a:solidFill>
                  <a:srgbClr val="10243A"/>
                </a:solidFill>
                <a:latin typeface="Aptos"/>
              </a:rPr>
              <a:t xml:space="preserve">Goal: improve visibility and consistency — not claim that human or data-entry errors disappear.</a:t>
            </a:r>
            <a:endParaRPr lang="en-US"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</p:sp>
      <p:sp>
        <p:nvSpPr>
          <p:cNvPr id="3" name="Shap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6B8A6"/>
          </a:solidFill>
          <a:ln>
            <a:noFill/>
          </a:ln>
        </p:spPr>
      </p:sp>
      <p:sp>
        <p:nvSpPr>
          <p:cNvPr id="4" name="Text 3"/>
          <p:cNvSpPr txBox="1"/>
          <p:nvPr/>
        </p:nvSpPr>
        <p:spPr>
          <a:xfrm>
            <a:off x="594360" y="347472"/>
            <a:ext cx="89611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000" b="1" dirty="0">
                <a:solidFill>
                  <a:srgbClr val="16B8A6"/>
                </a:solidFill>
                <a:latin typeface="Aptos"/>
              </a:rPr>
              <a:t xml:space="preserve">04  /  USER JOURNEY</a:t>
            </a:r>
            <a:endParaRPr lang="en-US" sz="1000"/>
          </a:p>
        </p:txBody>
      </p:sp>
      <p:sp>
        <p:nvSpPr>
          <p:cNvPr id="5" name="Text 4"/>
          <p:cNvSpPr txBox="1"/>
          <p:nvPr/>
        </p:nvSpPr>
        <p:spPr>
          <a:xfrm>
            <a:off x="594360" y="694944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2900" b="1" dirty="0">
                <a:solidFill>
                  <a:srgbClr val="10243A"/>
                </a:solidFill>
                <a:latin typeface="Aptos"/>
              </a:rPr>
              <a:t xml:space="preserve">A straightforward staff workflow</a:t>
            </a:r>
            <a:endParaRPr lang="en-US" sz="2900"/>
          </a:p>
        </p:txBody>
      </p:sp>
      <p:sp>
        <p:nvSpPr>
          <p:cNvPr id="6" name="Shape 5"/>
          <p:cNvSpPr/>
          <p:nvPr/>
        </p:nvSpPr>
        <p:spPr>
          <a:xfrm>
            <a:off x="594360" y="1353312"/>
            <a:ext cx="10972800" cy="16459"/>
          </a:xfrm>
          <a:prstGeom prst="rect">
            <a:avLst/>
          </a:prstGeom>
          <a:solidFill>
            <a:srgbClr val="D8E1E9"/>
          </a:solidFill>
          <a:ln>
            <a:noFill/>
          </a:ln>
        </p:spPr>
      </p:sp>
      <p:sp>
        <p:nvSpPr>
          <p:cNvPr id="7" name="Text 6"/>
          <p:cNvSpPr txBox="1"/>
          <p:nvPr/>
        </p:nvSpPr>
        <p:spPr>
          <a:xfrm>
            <a:off x="594360" y="6510528"/>
            <a:ext cx="89611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00" b="0" dirty="0">
                <a:solidFill>
                  <a:srgbClr val="63758A"/>
                </a:solidFill>
                <a:latin typeface="Aptos"/>
              </a:rPr>
              <a:t xml:space="preserve">SMART SHOP CREDIT TRACKER  •  SUMMER INTERNSHIP</a:t>
            </a:r>
            <a:endParaRPr lang="en-US" sz="800"/>
          </a:p>
        </p:txBody>
      </p:sp>
      <p:sp>
        <p:nvSpPr>
          <p:cNvPr id="8" name="Text 7"/>
          <p:cNvSpPr txBox="1"/>
          <p:nvPr/>
        </p:nvSpPr>
        <p:spPr>
          <a:xfrm>
            <a:off x="11018520" y="6473952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1000" b="1" dirty="0">
                <a:solidFill>
                  <a:srgbClr val="16B8A6"/>
                </a:solidFill>
                <a:latin typeface="Aptos"/>
              </a:rPr>
              <a:t xml:space="preserve">05</a:t>
            </a:r>
            <a:endParaRPr lang="en-US" sz="1000"/>
          </a:p>
        </p:txBody>
      </p:sp>
      <p:sp>
        <p:nvSpPr>
          <p:cNvPr id="9" name="Shape 8"/>
          <p:cNvSpPr/>
          <p:nvPr/>
        </p:nvSpPr>
        <p:spPr>
          <a:xfrm>
            <a:off x="667512" y="2148840"/>
            <a:ext cx="1883664" cy="19385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" name="Shape 9"/>
          <p:cNvSpPr/>
          <p:nvPr/>
        </p:nvSpPr>
        <p:spPr>
          <a:xfrm>
            <a:off x="832104" y="2340864"/>
            <a:ext cx="438912" cy="384048"/>
          </a:xfrm>
          <a:prstGeom prst="roundRect">
            <a:avLst/>
          </a:prstGeom>
          <a:solidFill>
            <a:srgbClr val="16B8A6"/>
          </a:solidFill>
          <a:ln>
            <a:noFill/>
          </a:ln>
        </p:spPr>
      </p:sp>
      <p:sp>
        <p:nvSpPr>
          <p:cNvPr id="11" name="Text 10"/>
          <p:cNvSpPr txBox="1"/>
          <p:nvPr/>
        </p:nvSpPr>
        <p:spPr>
          <a:xfrm>
            <a:off x="841248" y="2386584"/>
            <a:ext cx="420624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ptos"/>
              </a:rPr>
              <a:t xml:space="preserve">01</a:t>
            </a:r>
            <a:endParaRPr lang="en-US" sz="1200"/>
          </a:p>
        </p:txBody>
      </p:sp>
      <p:sp>
        <p:nvSpPr>
          <p:cNvPr id="12" name="Text 11"/>
          <p:cNvSpPr txBox="1"/>
          <p:nvPr/>
        </p:nvSpPr>
        <p:spPr>
          <a:xfrm>
            <a:off x="841248" y="2907792"/>
            <a:ext cx="1572768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600" b="1" dirty="0">
                <a:solidFill>
                  <a:srgbClr val="10243A"/>
                </a:solidFill>
                <a:latin typeface="Aptos"/>
              </a:rPr>
              <a:t xml:space="preserve">Sign in</a:t>
            </a:r>
            <a:endParaRPr lang="en-US" sz="1600"/>
          </a:p>
        </p:txBody>
      </p:sp>
      <p:sp>
        <p:nvSpPr>
          <p:cNvPr id="13" name="Text 12"/>
          <p:cNvSpPr txBox="1"/>
          <p:nvPr/>
        </p:nvSpPr>
        <p:spPr>
          <a:xfrm>
            <a:off x="841248" y="3401568"/>
            <a:ext cx="155448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"/>
            <a:r>
              <a:rPr lang="en-US" sz="1200" b="0" dirty="0">
                <a:solidFill>
                  <a:srgbClr val="63758A"/>
                </a:solidFill>
                <a:latin typeface="Aptos"/>
              </a:rPr>
              <a:t xml:space="preserve">Staff session</a:t>
            </a:r>
            <a:endParaRPr lang="en-US" sz="1200"/>
          </a:p>
        </p:txBody>
      </p:sp>
      <p:sp>
        <p:nvSpPr>
          <p:cNvPr id="14" name="Text 13"/>
          <p:cNvSpPr txBox="1"/>
          <p:nvPr/>
        </p:nvSpPr>
        <p:spPr>
          <a:xfrm>
            <a:off x="2587752" y="2788920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2000" b="1" dirty="0">
                <a:solidFill>
                  <a:srgbClr val="16B8A6"/>
                </a:solidFill>
                <a:latin typeface="Aptos"/>
              </a:rPr>
              <a:t xml:space="preserve">→</a:t>
            </a:r>
            <a:endParaRPr lang="en-US" sz="2000"/>
          </a:p>
        </p:txBody>
      </p:sp>
      <p:sp>
        <p:nvSpPr>
          <p:cNvPr id="15" name="Shape 14"/>
          <p:cNvSpPr/>
          <p:nvPr/>
        </p:nvSpPr>
        <p:spPr>
          <a:xfrm>
            <a:off x="2926080" y="2148840"/>
            <a:ext cx="1883664" cy="19385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6" name="Shape 15"/>
          <p:cNvSpPr/>
          <p:nvPr/>
        </p:nvSpPr>
        <p:spPr>
          <a:xfrm>
            <a:off x="3090672" y="2340864"/>
            <a:ext cx="438912" cy="384048"/>
          </a:xfrm>
          <a:prstGeom prst="roundRect">
            <a:avLst/>
          </a:prstGeom>
          <a:solidFill>
            <a:srgbClr val="16B8A6"/>
          </a:solidFill>
          <a:ln>
            <a:noFill/>
          </a:ln>
        </p:spPr>
      </p:sp>
      <p:sp>
        <p:nvSpPr>
          <p:cNvPr id="17" name="Text 16"/>
          <p:cNvSpPr txBox="1"/>
          <p:nvPr/>
        </p:nvSpPr>
        <p:spPr>
          <a:xfrm>
            <a:off x="3099816" y="2386584"/>
            <a:ext cx="420624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ptos"/>
              </a:rPr>
              <a:t xml:space="preserve">02</a:t>
            </a:r>
            <a:endParaRPr lang="en-US" sz="1200"/>
          </a:p>
        </p:txBody>
      </p:sp>
      <p:sp>
        <p:nvSpPr>
          <p:cNvPr id="18" name="Text 17"/>
          <p:cNvSpPr txBox="1"/>
          <p:nvPr/>
        </p:nvSpPr>
        <p:spPr>
          <a:xfrm>
            <a:off x="3099816" y="2907792"/>
            <a:ext cx="1572768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600" b="1" dirty="0">
                <a:solidFill>
                  <a:srgbClr val="10243A"/>
                </a:solidFill>
                <a:latin typeface="Aptos"/>
              </a:rPr>
              <a:t xml:space="preserve">Manage customer</a:t>
            </a:r>
            <a:endParaRPr lang="en-US" sz="1600"/>
          </a:p>
        </p:txBody>
      </p:sp>
      <p:sp>
        <p:nvSpPr>
          <p:cNvPr id="19" name="Text 18"/>
          <p:cNvSpPr txBox="1"/>
          <p:nvPr/>
        </p:nvSpPr>
        <p:spPr>
          <a:xfrm>
            <a:off x="3099816" y="3401568"/>
            <a:ext cx="155448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"/>
            <a:r>
              <a:rPr lang="en-US" sz="1200" b="0" dirty="0">
                <a:solidFill>
                  <a:srgbClr val="63758A"/>
                </a:solidFill>
                <a:latin typeface="Aptos"/>
              </a:rPr>
              <a:t xml:space="preserve">Create, search, edit</a:t>
            </a:r>
            <a:endParaRPr lang="en-US" sz="1200"/>
          </a:p>
        </p:txBody>
      </p:sp>
      <p:sp>
        <p:nvSpPr>
          <p:cNvPr id="20" name="Text 19"/>
          <p:cNvSpPr txBox="1"/>
          <p:nvPr/>
        </p:nvSpPr>
        <p:spPr>
          <a:xfrm>
            <a:off x="4846320" y="2788920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2000" b="1" dirty="0">
                <a:solidFill>
                  <a:srgbClr val="16B8A6"/>
                </a:solidFill>
                <a:latin typeface="Aptos"/>
              </a:rPr>
              <a:t xml:space="preserve">→</a:t>
            </a:r>
            <a:endParaRPr lang="en-US" sz="2000"/>
          </a:p>
        </p:txBody>
      </p:sp>
      <p:sp>
        <p:nvSpPr>
          <p:cNvPr id="21" name="Shape 20"/>
          <p:cNvSpPr/>
          <p:nvPr/>
        </p:nvSpPr>
        <p:spPr>
          <a:xfrm>
            <a:off x="5184648" y="2148840"/>
            <a:ext cx="1883664" cy="19385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2" name="Shape 21"/>
          <p:cNvSpPr/>
          <p:nvPr/>
        </p:nvSpPr>
        <p:spPr>
          <a:xfrm>
            <a:off x="5349240" y="2340864"/>
            <a:ext cx="438912" cy="384048"/>
          </a:xfrm>
          <a:prstGeom prst="roundRect">
            <a:avLst/>
          </a:prstGeom>
          <a:solidFill>
            <a:srgbClr val="16B8A6"/>
          </a:solidFill>
          <a:ln>
            <a:noFill/>
          </a:ln>
        </p:spPr>
      </p:sp>
      <p:sp>
        <p:nvSpPr>
          <p:cNvPr id="23" name="Text 22"/>
          <p:cNvSpPr txBox="1"/>
          <p:nvPr/>
        </p:nvSpPr>
        <p:spPr>
          <a:xfrm>
            <a:off x="5358384" y="2386584"/>
            <a:ext cx="420624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ptos"/>
              </a:rPr>
              <a:t xml:space="preserve">03</a:t>
            </a:r>
            <a:endParaRPr lang="en-US" sz="1200"/>
          </a:p>
        </p:txBody>
      </p:sp>
      <p:sp>
        <p:nvSpPr>
          <p:cNvPr id="24" name="Text 23"/>
          <p:cNvSpPr txBox="1"/>
          <p:nvPr/>
        </p:nvSpPr>
        <p:spPr>
          <a:xfrm>
            <a:off x="5358384" y="2907792"/>
            <a:ext cx="1572768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600" b="1" dirty="0">
                <a:solidFill>
                  <a:srgbClr val="10243A"/>
                </a:solidFill>
                <a:latin typeface="Aptos"/>
              </a:rPr>
              <a:t xml:space="preserve">Record activity</a:t>
            </a:r>
            <a:endParaRPr lang="en-US" sz="1600"/>
          </a:p>
        </p:txBody>
      </p:sp>
      <p:sp>
        <p:nvSpPr>
          <p:cNvPr id="25" name="Text 24"/>
          <p:cNvSpPr txBox="1"/>
          <p:nvPr/>
        </p:nvSpPr>
        <p:spPr>
          <a:xfrm>
            <a:off x="5358384" y="3401568"/>
            <a:ext cx="155448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"/>
            <a:r>
              <a:rPr lang="en-US" sz="1200" b="0" dirty="0">
                <a:solidFill>
                  <a:srgbClr val="63758A"/>
                </a:solidFill>
                <a:latin typeface="Aptos"/>
              </a:rPr>
              <a:t xml:space="preserve">Credit or repayment</a:t>
            </a:r>
            <a:endParaRPr lang="en-US" sz="1200"/>
          </a:p>
        </p:txBody>
      </p:sp>
      <p:sp>
        <p:nvSpPr>
          <p:cNvPr id="26" name="Text 25"/>
          <p:cNvSpPr txBox="1"/>
          <p:nvPr/>
        </p:nvSpPr>
        <p:spPr>
          <a:xfrm>
            <a:off x="7104888" y="2788920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2000" b="1" dirty="0">
                <a:solidFill>
                  <a:srgbClr val="16B8A6"/>
                </a:solidFill>
                <a:latin typeface="Aptos"/>
              </a:rPr>
              <a:t xml:space="preserve">→</a:t>
            </a:r>
            <a:endParaRPr lang="en-US" sz="2000"/>
          </a:p>
        </p:txBody>
      </p:sp>
      <p:sp>
        <p:nvSpPr>
          <p:cNvPr id="27" name="Shape 26"/>
          <p:cNvSpPr/>
          <p:nvPr/>
        </p:nvSpPr>
        <p:spPr>
          <a:xfrm>
            <a:off x="7443216" y="2148840"/>
            <a:ext cx="1883664" cy="19385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8" name="Shape 27"/>
          <p:cNvSpPr/>
          <p:nvPr/>
        </p:nvSpPr>
        <p:spPr>
          <a:xfrm>
            <a:off x="7607808" y="2340864"/>
            <a:ext cx="438912" cy="384048"/>
          </a:xfrm>
          <a:prstGeom prst="roundRect">
            <a:avLst/>
          </a:prstGeom>
          <a:solidFill>
            <a:srgbClr val="16B8A6"/>
          </a:solidFill>
          <a:ln>
            <a:noFill/>
          </a:ln>
        </p:spPr>
      </p:sp>
      <p:sp>
        <p:nvSpPr>
          <p:cNvPr id="29" name="Text 28"/>
          <p:cNvSpPr txBox="1"/>
          <p:nvPr/>
        </p:nvSpPr>
        <p:spPr>
          <a:xfrm>
            <a:off x="7616952" y="2386584"/>
            <a:ext cx="420624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ptos"/>
              </a:rPr>
              <a:t xml:space="preserve">04</a:t>
            </a:r>
            <a:endParaRPr lang="en-US" sz="1200"/>
          </a:p>
        </p:txBody>
      </p:sp>
      <p:sp>
        <p:nvSpPr>
          <p:cNvPr id="30" name="Text 29"/>
          <p:cNvSpPr txBox="1"/>
          <p:nvPr/>
        </p:nvSpPr>
        <p:spPr>
          <a:xfrm>
            <a:off x="7616952" y="2907792"/>
            <a:ext cx="1572768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600" b="1" dirty="0">
                <a:solidFill>
                  <a:srgbClr val="10243A"/>
                </a:solidFill>
                <a:latin typeface="Aptos"/>
              </a:rPr>
              <a:t xml:space="preserve">Check balance</a:t>
            </a:r>
            <a:endParaRPr lang="en-US" sz="1600"/>
          </a:p>
        </p:txBody>
      </p:sp>
      <p:sp>
        <p:nvSpPr>
          <p:cNvPr id="31" name="Text 30"/>
          <p:cNvSpPr txBox="1"/>
          <p:nvPr/>
        </p:nvSpPr>
        <p:spPr>
          <a:xfrm>
            <a:off x="7616952" y="3401568"/>
            <a:ext cx="155448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"/>
            <a:r>
              <a:rPr lang="en-US" sz="1200" b="0" dirty="0">
                <a:solidFill>
                  <a:srgbClr val="63758A"/>
                </a:solidFill>
                <a:latin typeface="Aptos"/>
              </a:rPr>
              <a:t xml:space="preserve">Ledger + running total</a:t>
            </a:r>
            <a:endParaRPr lang="en-US" sz="1200"/>
          </a:p>
        </p:txBody>
      </p:sp>
      <p:sp>
        <p:nvSpPr>
          <p:cNvPr id="32" name="Text 31"/>
          <p:cNvSpPr txBox="1"/>
          <p:nvPr/>
        </p:nvSpPr>
        <p:spPr>
          <a:xfrm>
            <a:off x="9363456" y="2788920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2000" b="1" dirty="0">
                <a:solidFill>
                  <a:srgbClr val="16B8A6"/>
                </a:solidFill>
                <a:latin typeface="Aptos"/>
              </a:rPr>
              <a:t xml:space="preserve">→</a:t>
            </a:r>
            <a:endParaRPr lang="en-US" sz="2000"/>
          </a:p>
        </p:txBody>
      </p:sp>
      <p:sp>
        <p:nvSpPr>
          <p:cNvPr id="33" name="Shape 32"/>
          <p:cNvSpPr/>
          <p:nvPr/>
        </p:nvSpPr>
        <p:spPr>
          <a:xfrm>
            <a:off x="9701784" y="2148840"/>
            <a:ext cx="1883664" cy="19385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4" name="Shape 33"/>
          <p:cNvSpPr/>
          <p:nvPr/>
        </p:nvSpPr>
        <p:spPr>
          <a:xfrm>
            <a:off x="9866376" y="2340864"/>
            <a:ext cx="438912" cy="384048"/>
          </a:xfrm>
          <a:prstGeom prst="roundRect">
            <a:avLst/>
          </a:prstGeom>
          <a:solidFill>
            <a:srgbClr val="4C7CF3"/>
          </a:solidFill>
          <a:ln>
            <a:noFill/>
          </a:ln>
        </p:spPr>
      </p:sp>
      <p:sp>
        <p:nvSpPr>
          <p:cNvPr id="35" name="Text 34"/>
          <p:cNvSpPr txBox="1"/>
          <p:nvPr/>
        </p:nvSpPr>
        <p:spPr>
          <a:xfrm>
            <a:off x="9875520" y="2386584"/>
            <a:ext cx="420624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ptos"/>
              </a:rPr>
              <a:t xml:space="preserve">05</a:t>
            </a:r>
            <a:endParaRPr lang="en-US" sz="1200"/>
          </a:p>
        </p:txBody>
      </p:sp>
      <p:sp>
        <p:nvSpPr>
          <p:cNvPr id="36" name="Text 35"/>
          <p:cNvSpPr txBox="1"/>
          <p:nvPr/>
        </p:nvSpPr>
        <p:spPr>
          <a:xfrm>
            <a:off x="9875520" y="2907792"/>
            <a:ext cx="1572768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600" b="1" dirty="0">
                <a:solidFill>
                  <a:srgbClr val="10243A"/>
                </a:solidFill>
                <a:latin typeface="Aptos"/>
              </a:rPr>
              <a:t xml:space="preserve">Review reports</a:t>
            </a:r>
            <a:endParaRPr lang="en-US" sz="1600"/>
          </a:p>
        </p:txBody>
      </p:sp>
      <p:sp>
        <p:nvSpPr>
          <p:cNvPr id="37" name="Text 36"/>
          <p:cNvSpPr txBox="1"/>
          <p:nvPr/>
        </p:nvSpPr>
        <p:spPr>
          <a:xfrm>
            <a:off x="9875520" y="3401568"/>
            <a:ext cx="155448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"/>
            <a:r>
              <a:rPr lang="en-US" sz="1200" b="0" dirty="0">
                <a:solidFill>
                  <a:srgbClr val="63758A"/>
                </a:solidFill>
                <a:latin typeface="Aptos"/>
              </a:rPr>
              <a:t xml:space="preserve">Dues + date filters</a:t>
            </a:r>
            <a:endParaRPr lang="en-US" sz="1200"/>
          </a:p>
        </p:txBody>
      </p:sp>
      <p:sp>
        <p:nvSpPr>
          <p:cNvPr id="38" name="Text 37"/>
          <p:cNvSpPr txBox="1"/>
          <p:nvPr/>
        </p:nvSpPr>
        <p:spPr>
          <a:xfrm>
            <a:off x="822960" y="480060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700" b="1" dirty="0">
                <a:solidFill>
                  <a:srgbClr val="10243A"/>
                </a:solidFill>
                <a:latin typeface="Aptos"/>
              </a:rPr>
              <a:t xml:space="preserve">The browser calls a REST API; it does not connect directly to the database.</a:t>
            </a:r>
            <a:endParaRPr lang="en-US" sz="1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</p:sp>
      <p:sp>
        <p:nvSpPr>
          <p:cNvPr id="3" name="Shap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6B8A6"/>
          </a:solidFill>
          <a:ln>
            <a:noFill/>
          </a:ln>
        </p:spPr>
      </p:sp>
      <p:sp>
        <p:nvSpPr>
          <p:cNvPr id="4" name="Text 3"/>
          <p:cNvSpPr txBox="1"/>
          <p:nvPr/>
        </p:nvSpPr>
        <p:spPr>
          <a:xfrm>
            <a:off x="594360" y="347472"/>
            <a:ext cx="89611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000" b="1" dirty="0">
                <a:solidFill>
                  <a:srgbClr val="16B8A6"/>
                </a:solidFill>
                <a:latin typeface="Aptos"/>
              </a:rPr>
              <a:t xml:space="preserve">05  /  TECHNICAL ARCHITECTURE</a:t>
            </a:r>
            <a:endParaRPr lang="en-US" sz="1000"/>
          </a:p>
        </p:txBody>
      </p:sp>
      <p:sp>
        <p:nvSpPr>
          <p:cNvPr id="5" name="Text 4"/>
          <p:cNvSpPr txBox="1"/>
          <p:nvPr/>
        </p:nvSpPr>
        <p:spPr>
          <a:xfrm>
            <a:off x="594360" y="694944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2900" b="1" dirty="0">
                <a:solidFill>
                  <a:srgbClr val="10243A"/>
                </a:solidFill>
                <a:latin typeface="Aptos"/>
              </a:rPr>
              <a:t xml:space="preserve">Layered design keeps responsibilities clear</a:t>
            </a:r>
            <a:endParaRPr lang="en-US" sz="2900"/>
          </a:p>
        </p:txBody>
      </p:sp>
      <p:sp>
        <p:nvSpPr>
          <p:cNvPr id="6" name="Shape 5"/>
          <p:cNvSpPr/>
          <p:nvPr/>
        </p:nvSpPr>
        <p:spPr>
          <a:xfrm>
            <a:off x="594360" y="1353312"/>
            <a:ext cx="10972800" cy="16459"/>
          </a:xfrm>
          <a:prstGeom prst="rect">
            <a:avLst/>
          </a:prstGeom>
          <a:solidFill>
            <a:srgbClr val="D8E1E9"/>
          </a:solidFill>
          <a:ln>
            <a:noFill/>
          </a:ln>
        </p:spPr>
      </p:sp>
      <p:sp>
        <p:nvSpPr>
          <p:cNvPr id="7" name="Text 6"/>
          <p:cNvSpPr txBox="1"/>
          <p:nvPr/>
        </p:nvSpPr>
        <p:spPr>
          <a:xfrm>
            <a:off x="594360" y="6510528"/>
            <a:ext cx="89611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00" b="0" dirty="0">
                <a:solidFill>
                  <a:srgbClr val="63758A"/>
                </a:solidFill>
                <a:latin typeface="Aptos"/>
              </a:rPr>
              <a:t xml:space="preserve">SMART SHOP CREDIT TRACKER  •  SUMMER INTERNSHIP</a:t>
            </a:r>
            <a:endParaRPr lang="en-US" sz="800"/>
          </a:p>
        </p:txBody>
      </p:sp>
      <p:sp>
        <p:nvSpPr>
          <p:cNvPr id="8" name="Text 7"/>
          <p:cNvSpPr txBox="1"/>
          <p:nvPr/>
        </p:nvSpPr>
        <p:spPr>
          <a:xfrm>
            <a:off x="11018520" y="6473952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1000" b="1" dirty="0">
                <a:solidFill>
                  <a:srgbClr val="16B8A6"/>
                </a:solidFill>
                <a:latin typeface="Aptos"/>
              </a:rPr>
              <a:t xml:space="preserve">06</a:t>
            </a:r>
            <a:endParaRPr lang="en-US" sz="1000"/>
          </a:p>
        </p:txBody>
      </p:sp>
      <p:sp>
        <p:nvSpPr>
          <p:cNvPr id="9" name="Shape 8"/>
          <p:cNvSpPr/>
          <p:nvPr/>
        </p:nvSpPr>
        <p:spPr>
          <a:xfrm>
            <a:off x="1874520" y="1828800"/>
            <a:ext cx="841248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" name="Shape 9"/>
          <p:cNvSpPr/>
          <p:nvPr/>
        </p:nvSpPr>
        <p:spPr>
          <a:xfrm>
            <a:off x="1874520" y="1828800"/>
            <a:ext cx="1965960" cy="530352"/>
          </a:xfrm>
          <a:prstGeom prst="roundRect">
            <a:avLst/>
          </a:prstGeom>
          <a:solidFill>
            <a:srgbClr val="4C7CF3"/>
          </a:solidFill>
          <a:ln>
            <a:noFill/>
          </a:ln>
        </p:spPr>
      </p:sp>
      <p:sp>
        <p:nvSpPr>
          <p:cNvPr id="11" name="Text 10"/>
          <p:cNvSpPr txBox="1"/>
          <p:nvPr/>
        </p:nvSpPr>
        <p:spPr>
          <a:xfrm>
            <a:off x="2011680" y="1929384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ptos"/>
              </a:rPr>
              <a:t xml:space="preserve">FRONTEND</a:t>
            </a:r>
            <a:endParaRPr lang="en-US" sz="1100"/>
          </a:p>
        </p:txBody>
      </p:sp>
      <p:sp>
        <p:nvSpPr>
          <p:cNvPr id="12" name="Text 11"/>
          <p:cNvSpPr txBox="1"/>
          <p:nvPr/>
        </p:nvSpPr>
        <p:spPr>
          <a:xfrm>
            <a:off x="4114800" y="1920240"/>
            <a:ext cx="58978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400" b="1" dirty="0">
                <a:solidFill>
                  <a:srgbClr val="192B40"/>
                </a:solidFill>
                <a:latin typeface="Aptos"/>
              </a:rPr>
              <a:t xml:space="preserve">HTML5  •  CSS3  •  Vanilla JavaScript  •  Bootstrap 5.3  •  Fetch API</a:t>
            </a:r>
            <a:endParaRPr lang="en-US" sz="1400"/>
          </a:p>
        </p:txBody>
      </p:sp>
      <p:sp>
        <p:nvSpPr>
          <p:cNvPr id="13" name="Text 12"/>
          <p:cNvSpPr txBox="1"/>
          <p:nvPr/>
        </p:nvSpPr>
        <p:spPr>
          <a:xfrm>
            <a:off x="5669280" y="2368296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400" b="1" dirty="0">
                <a:solidFill>
                  <a:srgbClr val="16B8A6"/>
                </a:solidFill>
                <a:latin typeface="Aptos"/>
              </a:rPr>
              <a:t xml:space="preserve">↓</a:t>
            </a:r>
            <a:endParaRPr lang="en-US" sz="1400"/>
          </a:p>
        </p:txBody>
      </p:sp>
      <p:sp>
        <p:nvSpPr>
          <p:cNvPr id="14" name="Shape 13"/>
          <p:cNvSpPr/>
          <p:nvPr/>
        </p:nvSpPr>
        <p:spPr>
          <a:xfrm>
            <a:off x="1874520" y="2606040"/>
            <a:ext cx="841248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5" name="Shape 14"/>
          <p:cNvSpPr/>
          <p:nvPr/>
        </p:nvSpPr>
        <p:spPr>
          <a:xfrm>
            <a:off x="1874520" y="2606040"/>
            <a:ext cx="1965960" cy="530352"/>
          </a:xfrm>
          <a:prstGeom prst="roundRect">
            <a:avLst/>
          </a:prstGeom>
          <a:solidFill>
            <a:srgbClr val="16B8A6"/>
          </a:solidFill>
          <a:ln>
            <a:noFill/>
          </a:ln>
        </p:spPr>
      </p:sp>
      <p:sp>
        <p:nvSpPr>
          <p:cNvPr id="16" name="Text 15"/>
          <p:cNvSpPr txBox="1"/>
          <p:nvPr/>
        </p:nvSpPr>
        <p:spPr>
          <a:xfrm>
            <a:off x="2011680" y="2706624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ptos"/>
              </a:rPr>
              <a:t xml:space="preserve">API + SECURITY</a:t>
            </a:r>
            <a:endParaRPr lang="en-US" sz="1100"/>
          </a:p>
        </p:txBody>
      </p:sp>
      <p:sp>
        <p:nvSpPr>
          <p:cNvPr id="17" name="Text 16"/>
          <p:cNvSpPr txBox="1"/>
          <p:nvPr/>
        </p:nvSpPr>
        <p:spPr>
          <a:xfrm>
            <a:off x="4114800" y="2697480"/>
            <a:ext cx="58978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400" b="1" dirty="0">
                <a:solidFill>
                  <a:srgbClr val="192B40"/>
                </a:solidFill>
                <a:latin typeface="Aptos"/>
              </a:rPr>
              <a:t xml:space="preserve">Spring Boot REST  •  Spring Security  •  session + CSRF</a:t>
            </a:r>
            <a:endParaRPr lang="en-US" sz="1400"/>
          </a:p>
        </p:txBody>
      </p:sp>
      <p:sp>
        <p:nvSpPr>
          <p:cNvPr id="18" name="Text 17"/>
          <p:cNvSpPr txBox="1"/>
          <p:nvPr/>
        </p:nvSpPr>
        <p:spPr>
          <a:xfrm>
            <a:off x="5669280" y="3145536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400" b="1" dirty="0">
                <a:solidFill>
                  <a:srgbClr val="16B8A6"/>
                </a:solidFill>
                <a:latin typeface="Aptos"/>
              </a:rPr>
              <a:t xml:space="preserve">↓</a:t>
            </a:r>
            <a:endParaRPr lang="en-US" sz="1400"/>
          </a:p>
        </p:txBody>
      </p:sp>
      <p:sp>
        <p:nvSpPr>
          <p:cNvPr id="19" name="Shape 18"/>
          <p:cNvSpPr/>
          <p:nvPr/>
        </p:nvSpPr>
        <p:spPr>
          <a:xfrm>
            <a:off x="1874520" y="3383280"/>
            <a:ext cx="841248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0" name="Shape 19"/>
          <p:cNvSpPr/>
          <p:nvPr/>
        </p:nvSpPr>
        <p:spPr>
          <a:xfrm>
            <a:off x="1874520" y="3383280"/>
            <a:ext cx="1965960" cy="530352"/>
          </a:xfrm>
          <a:prstGeom prst="roundRect">
            <a:avLst/>
          </a:prstGeom>
          <a:solidFill>
            <a:srgbClr val="567FA6"/>
          </a:solidFill>
          <a:ln>
            <a:noFill/>
          </a:ln>
        </p:spPr>
      </p:sp>
      <p:sp>
        <p:nvSpPr>
          <p:cNvPr id="21" name="Text 20"/>
          <p:cNvSpPr txBox="1"/>
          <p:nvPr/>
        </p:nvSpPr>
        <p:spPr>
          <a:xfrm>
            <a:off x="2011680" y="3483864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ptos"/>
              </a:rPr>
              <a:t xml:space="preserve">BUSINESS LOGIC</a:t>
            </a:r>
            <a:endParaRPr lang="en-US" sz="1100"/>
          </a:p>
        </p:txBody>
      </p:sp>
      <p:sp>
        <p:nvSpPr>
          <p:cNvPr id="22" name="Text 21"/>
          <p:cNvSpPr txBox="1"/>
          <p:nvPr/>
        </p:nvSpPr>
        <p:spPr>
          <a:xfrm>
            <a:off x="4114800" y="3474720"/>
            <a:ext cx="58978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400" b="1" dirty="0">
                <a:solidFill>
                  <a:srgbClr val="192B40"/>
                </a:solidFill>
                <a:latin typeface="Aptos"/>
              </a:rPr>
              <a:t xml:space="preserve">Service validation  •  @Transactional  •  balance rules</a:t>
            </a:r>
            <a:endParaRPr lang="en-US" sz="1400"/>
          </a:p>
        </p:txBody>
      </p:sp>
      <p:sp>
        <p:nvSpPr>
          <p:cNvPr id="23" name="Text 22"/>
          <p:cNvSpPr txBox="1"/>
          <p:nvPr/>
        </p:nvSpPr>
        <p:spPr>
          <a:xfrm>
            <a:off x="5669280" y="3922776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400" b="1" dirty="0">
                <a:solidFill>
                  <a:srgbClr val="16B8A6"/>
                </a:solidFill>
                <a:latin typeface="Aptos"/>
              </a:rPr>
              <a:t xml:space="preserve">↓</a:t>
            </a:r>
            <a:endParaRPr lang="en-US" sz="1400"/>
          </a:p>
        </p:txBody>
      </p:sp>
      <p:sp>
        <p:nvSpPr>
          <p:cNvPr id="24" name="Shape 23"/>
          <p:cNvSpPr/>
          <p:nvPr/>
        </p:nvSpPr>
        <p:spPr>
          <a:xfrm>
            <a:off x="1874520" y="4160520"/>
            <a:ext cx="841248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5" name="Shape 24"/>
          <p:cNvSpPr/>
          <p:nvPr/>
        </p:nvSpPr>
        <p:spPr>
          <a:xfrm>
            <a:off x="1874520" y="4160520"/>
            <a:ext cx="1965960" cy="530352"/>
          </a:xfrm>
          <a:prstGeom prst="roundRect">
            <a:avLst/>
          </a:prstGeom>
          <a:solidFill>
            <a:srgbClr val="567FA6"/>
          </a:solidFill>
          <a:ln>
            <a:noFill/>
          </a:ln>
        </p:spPr>
      </p:sp>
      <p:sp>
        <p:nvSpPr>
          <p:cNvPr id="26" name="Text 25"/>
          <p:cNvSpPr txBox="1"/>
          <p:nvPr/>
        </p:nvSpPr>
        <p:spPr>
          <a:xfrm>
            <a:off x="2011680" y="4261104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ptos"/>
              </a:rPr>
              <a:t xml:space="preserve">DATA ACCESS</a:t>
            </a:r>
            <a:endParaRPr lang="en-US" sz="1100"/>
          </a:p>
        </p:txBody>
      </p:sp>
      <p:sp>
        <p:nvSpPr>
          <p:cNvPr id="27" name="Text 26"/>
          <p:cNvSpPr txBox="1"/>
          <p:nvPr/>
        </p:nvSpPr>
        <p:spPr>
          <a:xfrm>
            <a:off x="4114800" y="4251960"/>
            <a:ext cx="58978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400" b="1" dirty="0">
                <a:solidFill>
                  <a:srgbClr val="192B40"/>
                </a:solidFill>
                <a:latin typeface="Aptos"/>
              </a:rPr>
              <a:t xml:space="preserve">JdbcTemplate  •  parameterized SQL  •  repository</a:t>
            </a:r>
            <a:endParaRPr lang="en-US" sz="1400"/>
          </a:p>
        </p:txBody>
      </p:sp>
      <p:sp>
        <p:nvSpPr>
          <p:cNvPr id="28" name="Text 27"/>
          <p:cNvSpPr txBox="1"/>
          <p:nvPr/>
        </p:nvSpPr>
        <p:spPr>
          <a:xfrm>
            <a:off x="5669280" y="4700016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400" b="1" dirty="0">
                <a:solidFill>
                  <a:srgbClr val="16B8A6"/>
                </a:solidFill>
                <a:latin typeface="Aptos"/>
              </a:rPr>
              <a:t xml:space="preserve">↓</a:t>
            </a:r>
            <a:endParaRPr lang="en-US" sz="1400"/>
          </a:p>
        </p:txBody>
      </p:sp>
      <p:sp>
        <p:nvSpPr>
          <p:cNvPr id="29" name="Shape 28"/>
          <p:cNvSpPr/>
          <p:nvPr/>
        </p:nvSpPr>
        <p:spPr>
          <a:xfrm>
            <a:off x="1874520" y="4937760"/>
            <a:ext cx="841248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0" name="Shape 29"/>
          <p:cNvSpPr/>
          <p:nvPr/>
        </p:nvSpPr>
        <p:spPr>
          <a:xfrm>
            <a:off x="1874520" y="4937760"/>
            <a:ext cx="1965960" cy="530352"/>
          </a:xfrm>
          <a:prstGeom prst="roundRect">
            <a:avLst/>
          </a:prstGeom>
          <a:solidFill>
            <a:srgbClr val="10243A"/>
          </a:solidFill>
          <a:ln>
            <a:noFill/>
          </a:ln>
        </p:spPr>
      </p:sp>
      <p:sp>
        <p:nvSpPr>
          <p:cNvPr id="31" name="Text 30"/>
          <p:cNvSpPr txBox="1"/>
          <p:nvPr/>
        </p:nvSpPr>
        <p:spPr>
          <a:xfrm>
            <a:off x="2011680" y="5038344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ptos"/>
              </a:rPr>
              <a:t xml:space="preserve">PERSISTENCE</a:t>
            </a:r>
            <a:endParaRPr lang="en-US" sz="1100"/>
          </a:p>
        </p:txBody>
      </p:sp>
      <p:sp>
        <p:nvSpPr>
          <p:cNvPr id="32" name="Text 31"/>
          <p:cNvSpPr txBox="1"/>
          <p:nvPr/>
        </p:nvSpPr>
        <p:spPr>
          <a:xfrm>
            <a:off x="4114800" y="5029200"/>
            <a:ext cx="58978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400" b="1" dirty="0">
                <a:solidFill>
                  <a:srgbClr val="192B40"/>
                </a:solidFill>
                <a:latin typeface="Aptos"/>
              </a:rPr>
              <a:t xml:space="preserve">MySQL  •  customers  •  credit entries  •  payments</a:t>
            </a:r>
            <a:endParaRPr lang="en-US" sz="1400"/>
          </a:p>
        </p:txBody>
      </p:sp>
      <p:sp>
        <p:nvSpPr>
          <p:cNvPr id="33" name="Text 32"/>
          <p:cNvSpPr txBox="1"/>
          <p:nvPr/>
        </p:nvSpPr>
        <p:spPr>
          <a:xfrm>
            <a:off x="1920240" y="574243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200" b="0" dirty="0">
                <a:solidFill>
                  <a:srgbClr val="63758A"/>
                </a:solidFill>
                <a:latin typeface="Aptos"/>
              </a:rPr>
              <a:t xml:space="preserve">Money values use MySQL DECIMAL(12,2) and Java BigDecimal.</a:t>
            </a:r>
            <a:endParaRPr lang="en-US"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</p:sp>
      <p:sp>
        <p:nvSpPr>
          <p:cNvPr id="3" name="Shap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6B8A6"/>
          </a:solidFill>
          <a:ln>
            <a:noFill/>
          </a:ln>
        </p:spPr>
      </p:sp>
      <p:sp>
        <p:nvSpPr>
          <p:cNvPr id="4" name="Text 3"/>
          <p:cNvSpPr txBox="1"/>
          <p:nvPr/>
        </p:nvSpPr>
        <p:spPr>
          <a:xfrm>
            <a:off x="594360" y="347472"/>
            <a:ext cx="89611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000" b="1" dirty="0">
                <a:solidFill>
                  <a:srgbClr val="16B8A6"/>
                </a:solidFill>
                <a:latin typeface="Aptos"/>
              </a:rPr>
              <a:t xml:space="preserve">06  /  PRODUCT MODULES</a:t>
            </a:r>
            <a:endParaRPr lang="en-US" sz="1000"/>
          </a:p>
        </p:txBody>
      </p:sp>
      <p:sp>
        <p:nvSpPr>
          <p:cNvPr id="5" name="Text 4"/>
          <p:cNvSpPr txBox="1"/>
          <p:nvPr/>
        </p:nvSpPr>
        <p:spPr>
          <a:xfrm>
            <a:off x="594360" y="694944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2900" b="1" dirty="0">
                <a:solidFill>
                  <a:srgbClr val="10243A"/>
                </a:solidFill>
                <a:latin typeface="Aptos"/>
              </a:rPr>
              <a:t xml:space="preserve">The project covers the core credit-tracking loop</a:t>
            </a:r>
            <a:endParaRPr lang="en-US" sz="2900"/>
          </a:p>
        </p:txBody>
      </p:sp>
      <p:sp>
        <p:nvSpPr>
          <p:cNvPr id="6" name="Shape 5"/>
          <p:cNvSpPr/>
          <p:nvPr/>
        </p:nvSpPr>
        <p:spPr>
          <a:xfrm>
            <a:off x="594360" y="1353312"/>
            <a:ext cx="10972800" cy="16459"/>
          </a:xfrm>
          <a:prstGeom prst="rect">
            <a:avLst/>
          </a:prstGeom>
          <a:solidFill>
            <a:srgbClr val="D8E1E9"/>
          </a:solidFill>
          <a:ln>
            <a:noFill/>
          </a:ln>
        </p:spPr>
      </p:sp>
      <p:sp>
        <p:nvSpPr>
          <p:cNvPr id="7" name="Text 6"/>
          <p:cNvSpPr txBox="1"/>
          <p:nvPr/>
        </p:nvSpPr>
        <p:spPr>
          <a:xfrm>
            <a:off x="594360" y="6510528"/>
            <a:ext cx="89611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00" b="0" dirty="0">
                <a:solidFill>
                  <a:srgbClr val="63758A"/>
                </a:solidFill>
                <a:latin typeface="Aptos"/>
              </a:rPr>
              <a:t xml:space="preserve">SMART SHOP CREDIT TRACKER  •  SUMMER INTERNSHIP</a:t>
            </a:r>
            <a:endParaRPr lang="en-US" sz="800"/>
          </a:p>
        </p:txBody>
      </p:sp>
      <p:sp>
        <p:nvSpPr>
          <p:cNvPr id="8" name="Text 7"/>
          <p:cNvSpPr txBox="1"/>
          <p:nvPr/>
        </p:nvSpPr>
        <p:spPr>
          <a:xfrm>
            <a:off x="11018520" y="6473952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1000" b="1" dirty="0">
                <a:solidFill>
                  <a:srgbClr val="16B8A6"/>
                </a:solidFill>
                <a:latin typeface="Aptos"/>
              </a:rPr>
              <a:t xml:space="preserve">07</a:t>
            </a:r>
            <a:endParaRPr lang="en-US" sz="1000"/>
          </a:p>
        </p:txBody>
      </p:sp>
      <p:sp>
        <p:nvSpPr>
          <p:cNvPr id="9" name="Shape 8"/>
          <p:cNvSpPr/>
          <p:nvPr/>
        </p:nvSpPr>
        <p:spPr>
          <a:xfrm>
            <a:off x="658368" y="1719072"/>
            <a:ext cx="3511296" cy="16276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" name="Shape 9"/>
          <p:cNvSpPr/>
          <p:nvPr/>
        </p:nvSpPr>
        <p:spPr>
          <a:xfrm>
            <a:off x="658368" y="1719072"/>
            <a:ext cx="64008" cy="1627632"/>
          </a:xfrm>
          <a:prstGeom prst="roundRect">
            <a:avLst/>
          </a:prstGeom>
          <a:solidFill>
            <a:srgbClr val="4C7CF3"/>
          </a:solidFill>
          <a:ln>
            <a:noFill/>
          </a:ln>
        </p:spPr>
      </p:sp>
      <p:sp>
        <p:nvSpPr>
          <p:cNvPr id="11" name="Text 10"/>
          <p:cNvSpPr txBox="1"/>
          <p:nvPr/>
        </p:nvSpPr>
        <p:spPr>
          <a:xfrm>
            <a:off x="877824" y="1883664"/>
            <a:ext cx="3090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600" b="1" dirty="0">
                <a:solidFill>
                  <a:srgbClr val="10243A"/>
                </a:solidFill>
                <a:latin typeface="Aptos"/>
              </a:rPr>
              <a:t xml:space="preserve">Customer management</a:t>
            </a:r>
            <a:endParaRPr lang="en-US" sz="1600"/>
          </a:p>
        </p:txBody>
      </p:sp>
      <p:sp>
        <p:nvSpPr>
          <p:cNvPr id="12" name="Text 11"/>
          <p:cNvSpPr txBox="1"/>
          <p:nvPr/>
        </p:nvSpPr>
        <p:spPr>
          <a:xfrm>
            <a:off x="877824" y="2340864"/>
            <a:ext cx="3072384" cy="859536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"/>
            <a:r>
              <a:rPr lang="en-US" sz="1200" b="0" dirty="0">
                <a:solidFill>
                  <a:srgbClr val="63758A"/>
                </a:solidFill>
                <a:latin typeface="Aptos"/>
              </a:rPr>
              <a:t xml:space="preserve">Create, find, update, archive or restore customer profiles.</a:t>
            </a:r>
            <a:endParaRPr lang="en-US" sz="1200"/>
          </a:p>
        </p:txBody>
      </p:sp>
      <p:sp>
        <p:nvSpPr>
          <p:cNvPr id="13" name="Shape 12"/>
          <p:cNvSpPr/>
          <p:nvPr/>
        </p:nvSpPr>
        <p:spPr>
          <a:xfrm>
            <a:off x="4425696" y="1719072"/>
            <a:ext cx="3511296" cy="16276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4" name="Shape 13"/>
          <p:cNvSpPr/>
          <p:nvPr/>
        </p:nvSpPr>
        <p:spPr>
          <a:xfrm>
            <a:off x="4425696" y="1719072"/>
            <a:ext cx="64008" cy="1627632"/>
          </a:xfrm>
          <a:prstGeom prst="roundRect">
            <a:avLst/>
          </a:prstGeom>
          <a:solidFill>
            <a:srgbClr val="16B8A6"/>
          </a:solidFill>
          <a:ln>
            <a:noFill/>
          </a:ln>
        </p:spPr>
      </p:sp>
      <p:sp>
        <p:nvSpPr>
          <p:cNvPr id="15" name="Text 14"/>
          <p:cNvSpPr txBox="1"/>
          <p:nvPr/>
        </p:nvSpPr>
        <p:spPr>
          <a:xfrm>
            <a:off x="4645152" y="1883664"/>
            <a:ext cx="3090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600" b="1" dirty="0">
                <a:solidFill>
                  <a:srgbClr val="10243A"/>
                </a:solidFill>
                <a:latin typeface="Aptos"/>
              </a:rPr>
              <a:t xml:space="preserve">Credit entries</a:t>
            </a:r>
            <a:endParaRPr lang="en-US" sz="1600"/>
          </a:p>
        </p:txBody>
      </p:sp>
      <p:sp>
        <p:nvSpPr>
          <p:cNvPr id="16" name="Text 15"/>
          <p:cNvSpPr txBox="1"/>
          <p:nvPr/>
        </p:nvSpPr>
        <p:spPr>
          <a:xfrm>
            <a:off x="4645152" y="2340864"/>
            <a:ext cx="3072384" cy="859536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"/>
            <a:r>
              <a:rPr lang="en-US" sz="1200" b="0" dirty="0">
                <a:solidFill>
                  <a:srgbClr val="63758A"/>
                </a:solidFill>
                <a:latin typeface="Aptos"/>
              </a:rPr>
              <a:t xml:space="preserve">Record purchase description, amount, date and optional notes.</a:t>
            </a:r>
            <a:endParaRPr lang="en-US" sz="1200"/>
          </a:p>
        </p:txBody>
      </p:sp>
      <p:sp>
        <p:nvSpPr>
          <p:cNvPr id="17" name="Shape 16"/>
          <p:cNvSpPr/>
          <p:nvPr/>
        </p:nvSpPr>
        <p:spPr>
          <a:xfrm>
            <a:off x="8193024" y="1719072"/>
            <a:ext cx="3511296" cy="16276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8" name="Shape 17"/>
          <p:cNvSpPr/>
          <p:nvPr/>
        </p:nvSpPr>
        <p:spPr>
          <a:xfrm>
            <a:off x="8193024" y="1719072"/>
            <a:ext cx="64008" cy="1627632"/>
          </a:xfrm>
          <a:prstGeom prst="roundRect">
            <a:avLst/>
          </a:prstGeom>
          <a:solidFill>
            <a:srgbClr val="42A77A"/>
          </a:solidFill>
          <a:ln>
            <a:noFill/>
          </a:ln>
        </p:spPr>
      </p:sp>
      <p:sp>
        <p:nvSpPr>
          <p:cNvPr id="19" name="Text 18"/>
          <p:cNvSpPr txBox="1"/>
          <p:nvPr/>
        </p:nvSpPr>
        <p:spPr>
          <a:xfrm>
            <a:off x="8412480" y="1883664"/>
            <a:ext cx="3090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600" b="1" dirty="0">
                <a:solidFill>
                  <a:srgbClr val="10243A"/>
                </a:solidFill>
                <a:latin typeface="Aptos"/>
              </a:rPr>
              <a:t xml:space="preserve">Payments</a:t>
            </a:r>
            <a:endParaRPr lang="en-US" sz="1600"/>
          </a:p>
        </p:txBody>
      </p:sp>
      <p:sp>
        <p:nvSpPr>
          <p:cNvPr id="20" name="Text 19"/>
          <p:cNvSpPr txBox="1"/>
          <p:nvPr/>
        </p:nvSpPr>
        <p:spPr>
          <a:xfrm>
            <a:off x="8412480" y="2340864"/>
            <a:ext cx="3072384" cy="859536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"/>
            <a:r>
              <a:rPr lang="en-US" sz="1200" b="0" dirty="0">
                <a:solidFill>
                  <a:srgbClr val="63758A"/>
                </a:solidFill>
                <a:latin typeface="Aptos"/>
              </a:rPr>
              <a:t xml:space="preserve">Accept cash / UPI / other; support partial and full repayment.</a:t>
            </a:r>
            <a:endParaRPr lang="en-US" sz="1200"/>
          </a:p>
        </p:txBody>
      </p:sp>
      <p:sp>
        <p:nvSpPr>
          <p:cNvPr id="21" name="Shape 20"/>
          <p:cNvSpPr/>
          <p:nvPr/>
        </p:nvSpPr>
        <p:spPr>
          <a:xfrm>
            <a:off x="658368" y="3685032"/>
            <a:ext cx="3511296" cy="16276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2" name="Shape 21"/>
          <p:cNvSpPr/>
          <p:nvPr/>
        </p:nvSpPr>
        <p:spPr>
          <a:xfrm>
            <a:off x="658368" y="3685032"/>
            <a:ext cx="64008" cy="1627632"/>
          </a:xfrm>
          <a:prstGeom prst="roundRect">
            <a:avLst/>
          </a:prstGeom>
          <a:solidFill>
            <a:srgbClr val="8A6FD1"/>
          </a:solidFill>
          <a:ln>
            <a:noFill/>
          </a:ln>
        </p:spPr>
      </p:sp>
      <p:sp>
        <p:nvSpPr>
          <p:cNvPr id="23" name="Text 22"/>
          <p:cNvSpPr txBox="1"/>
          <p:nvPr/>
        </p:nvSpPr>
        <p:spPr>
          <a:xfrm>
            <a:off x="877824" y="3849624"/>
            <a:ext cx="3090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600" b="1" dirty="0">
                <a:solidFill>
                  <a:srgbClr val="10243A"/>
                </a:solidFill>
                <a:latin typeface="Aptos"/>
              </a:rPr>
              <a:t xml:space="preserve">Customer ledger</a:t>
            </a:r>
            <a:endParaRPr lang="en-US" sz="1600"/>
          </a:p>
        </p:txBody>
      </p:sp>
      <p:sp>
        <p:nvSpPr>
          <p:cNvPr id="24" name="Text 23"/>
          <p:cNvSpPr txBox="1"/>
          <p:nvPr/>
        </p:nvSpPr>
        <p:spPr>
          <a:xfrm>
            <a:off x="877824" y="4306824"/>
            <a:ext cx="3072384" cy="859536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"/>
            <a:r>
              <a:rPr lang="en-US" sz="1200" b="0" dirty="0">
                <a:solidFill>
                  <a:srgbClr val="63758A"/>
                </a:solidFill>
                <a:latin typeface="Aptos"/>
              </a:rPr>
              <a:t xml:space="preserve">Chronological entries, totals and running balance.</a:t>
            </a:r>
            <a:endParaRPr lang="en-US" sz="1200"/>
          </a:p>
        </p:txBody>
      </p:sp>
      <p:sp>
        <p:nvSpPr>
          <p:cNvPr id="25" name="Shape 24"/>
          <p:cNvSpPr/>
          <p:nvPr/>
        </p:nvSpPr>
        <p:spPr>
          <a:xfrm>
            <a:off x="4425696" y="3685032"/>
            <a:ext cx="3511296" cy="16276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6" name="Shape 25"/>
          <p:cNvSpPr/>
          <p:nvPr/>
        </p:nvSpPr>
        <p:spPr>
          <a:xfrm>
            <a:off x="4425696" y="3685032"/>
            <a:ext cx="64008" cy="1627632"/>
          </a:xfrm>
          <a:prstGeom prst="roundRect">
            <a:avLst/>
          </a:prstGeom>
          <a:solidFill>
            <a:srgbClr val="F2A65A"/>
          </a:solidFill>
          <a:ln>
            <a:noFill/>
          </a:ln>
        </p:spPr>
      </p:sp>
      <p:sp>
        <p:nvSpPr>
          <p:cNvPr id="27" name="Text 26"/>
          <p:cNvSpPr txBox="1"/>
          <p:nvPr/>
        </p:nvSpPr>
        <p:spPr>
          <a:xfrm>
            <a:off x="4645152" y="3849624"/>
            <a:ext cx="3090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600" b="1" dirty="0">
                <a:solidFill>
                  <a:srgbClr val="10243A"/>
                </a:solidFill>
                <a:latin typeface="Aptos"/>
              </a:rPr>
              <a:t xml:space="preserve">Dashboard &amp; dues</a:t>
            </a:r>
            <a:endParaRPr lang="en-US" sz="1600"/>
          </a:p>
        </p:txBody>
      </p:sp>
      <p:sp>
        <p:nvSpPr>
          <p:cNvPr id="28" name="Text 27"/>
          <p:cNvSpPr txBox="1"/>
          <p:nvPr/>
        </p:nvSpPr>
        <p:spPr>
          <a:xfrm>
            <a:off x="4645152" y="4306824"/>
            <a:ext cx="3072384" cy="859536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"/>
            <a:r>
              <a:rPr lang="en-US" sz="1200" b="0" dirty="0">
                <a:solidFill>
                  <a:srgbClr val="63758A"/>
                </a:solidFill>
                <a:latin typeface="Aptos"/>
              </a:rPr>
              <a:t xml:space="preserve">Summary metrics, recent activity and outstanding dues.</a:t>
            </a:r>
            <a:endParaRPr lang="en-US" sz="1200"/>
          </a:p>
        </p:txBody>
      </p:sp>
      <p:sp>
        <p:nvSpPr>
          <p:cNvPr id="29" name="Shape 28"/>
          <p:cNvSpPr/>
          <p:nvPr/>
        </p:nvSpPr>
        <p:spPr>
          <a:xfrm>
            <a:off x="8193024" y="3685032"/>
            <a:ext cx="3511296" cy="16276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0" name="Shape 29"/>
          <p:cNvSpPr/>
          <p:nvPr/>
        </p:nvSpPr>
        <p:spPr>
          <a:xfrm>
            <a:off x="8193024" y="3685032"/>
            <a:ext cx="64008" cy="1627632"/>
          </a:xfrm>
          <a:prstGeom prst="roundRect">
            <a:avLst/>
          </a:prstGeom>
          <a:solidFill>
            <a:srgbClr val="567FA6"/>
          </a:solidFill>
          <a:ln>
            <a:noFill/>
          </a:ln>
        </p:spPr>
      </p:sp>
      <p:sp>
        <p:nvSpPr>
          <p:cNvPr id="31" name="Text 30"/>
          <p:cNvSpPr txBox="1"/>
          <p:nvPr/>
        </p:nvSpPr>
        <p:spPr>
          <a:xfrm>
            <a:off x="8412480" y="3849624"/>
            <a:ext cx="3090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600" b="1" dirty="0">
                <a:solidFill>
                  <a:srgbClr val="10243A"/>
                </a:solidFill>
                <a:latin typeface="Aptos"/>
              </a:rPr>
              <a:t xml:space="preserve">Reports</a:t>
            </a:r>
            <a:endParaRPr lang="en-US" sz="1600"/>
          </a:p>
        </p:txBody>
      </p:sp>
      <p:sp>
        <p:nvSpPr>
          <p:cNvPr id="32" name="Text 31"/>
          <p:cNvSpPr txBox="1"/>
          <p:nvPr/>
        </p:nvSpPr>
        <p:spPr>
          <a:xfrm>
            <a:off x="8412480" y="4306824"/>
            <a:ext cx="3072384" cy="859536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"/>
            <a:r>
              <a:rPr lang="en-US" sz="1200" b="0" dirty="0">
                <a:solidFill>
                  <a:srgbClr val="63758A"/>
                </a:solidFill>
                <a:latin typeface="Aptos"/>
              </a:rPr>
              <a:t xml:space="preserve">Outstanding customers and date-filtered credits / payments.</a:t>
            </a:r>
            <a:endParaRPr lang="en-US" sz="1200"/>
          </a:p>
        </p:txBody>
      </p:sp>
      <p:sp>
        <p:nvSpPr>
          <p:cNvPr id="33" name="Shape 32"/>
          <p:cNvSpPr/>
          <p:nvPr/>
        </p:nvSpPr>
        <p:spPr>
          <a:xfrm>
            <a:off x="658368" y="5806440"/>
            <a:ext cx="10954512" cy="384048"/>
          </a:xfrm>
          <a:prstGeom prst="roundRect">
            <a:avLst/>
          </a:prstGeom>
          <a:solidFill>
            <a:srgbClr val="EAF0F5"/>
          </a:solidFill>
          <a:ln>
            <a:noFill/>
          </a:ln>
        </p:spPr>
      </p:sp>
      <p:sp>
        <p:nvSpPr>
          <p:cNvPr id="34" name="Text 33"/>
          <p:cNvSpPr txBox="1"/>
          <p:nvPr/>
        </p:nvSpPr>
        <p:spPr>
          <a:xfrm>
            <a:off x="822960" y="5879592"/>
            <a:ext cx="1060704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100" b="1" dirty="0">
                <a:solidFill>
                  <a:srgbClr val="10243A"/>
                </a:solidFill>
                <a:latin typeface="Aptos"/>
              </a:rPr>
              <a:t xml:space="preserve">Archiving hides a customer from active operations; it does not delete historical financial records.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</p:sp>
      <p:sp>
        <p:nvSpPr>
          <p:cNvPr id="3" name="Shap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6B8A6"/>
          </a:solidFill>
          <a:ln>
            <a:noFill/>
          </a:ln>
        </p:spPr>
      </p:sp>
      <p:sp>
        <p:nvSpPr>
          <p:cNvPr id="4" name="Text 3"/>
          <p:cNvSpPr txBox="1"/>
          <p:nvPr/>
        </p:nvSpPr>
        <p:spPr>
          <a:xfrm>
            <a:off x="594360" y="347472"/>
            <a:ext cx="89611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000" b="1" dirty="0">
                <a:solidFill>
                  <a:srgbClr val="16B8A6"/>
                </a:solidFill>
                <a:latin typeface="Aptos"/>
              </a:rPr>
              <a:t xml:space="preserve">07  /  DATA &amp; BALANCE LOGIC</a:t>
            </a:r>
            <a:endParaRPr lang="en-US" sz="1000"/>
          </a:p>
        </p:txBody>
      </p:sp>
      <p:sp>
        <p:nvSpPr>
          <p:cNvPr id="5" name="Text 4"/>
          <p:cNvSpPr txBox="1"/>
          <p:nvPr/>
        </p:nvSpPr>
        <p:spPr>
          <a:xfrm>
            <a:off x="594360" y="694944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2900" b="1" dirty="0">
                <a:solidFill>
                  <a:srgbClr val="10243A"/>
                </a:solidFill>
                <a:latin typeface="Aptos"/>
              </a:rPr>
              <a:t xml:space="preserve">Transactions are the source of truth</a:t>
            </a:r>
            <a:endParaRPr lang="en-US" sz="2900"/>
          </a:p>
        </p:txBody>
      </p:sp>
      <p:sp>
        <p:nvSpPr>
          <p:cNvPr id="6" name="Shape 5"/>
          <p:cNvSpPr/>
          <p:nvPr/>
        </p:nvSpPr>
        <p:spPr>
          <a:xfrm>
            <a:off x="594360" y="1353312"/>
            <a:ext cx="10972800" cy="16459"/>
          </a:xfrm>
          <a:prstGeom prst="rect">
            <a:avLst/>
          </a:prstGeom>
          <a:solidFill>
            <a:srgbClr val="D8E1E9"/>
          </a:solidFill>
          <a:ln>
            <a:noFill/>
          </a:ln>
        </p:spPr>
      </p:sp>
      <p:sp>
        <p:nvSpPr>
          <p:cNvPr id="7" name="Text 6"/>
          <p:cNvSpPr txBox="1"/>
          <p:nvPr/>
        </p:nvSpPr>
        <p:spPr>
          <a:xfrm>
            <a:off x="594360" y="6510528"/>
            <a:ext cx="89611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00" b="0" dirty="0">
                <a:solidFill>
                  <a:srgbClr val="63758A"/>
                </a:solidFill>
                <a:latin typeface="Aptos"/>
              </a:rPr>
              <a:t xml:space="preserve">SMART SHOP CREDIT TRACKER  •  SUMMER INTERNSHIP</a:t>
            </a:r>
            <a:endParaRPr lang="en-US" sz="800"/>
          </a:p>
        </p:txBody>
      </p:sp>
      <p:sp>
        <p:nvSpPr>
          <p:cNvPr id="8" name="Text 7"/>
          <p:cNvSpPr txBox="1"/>
          <p:nvPr/>
        </p:nvSpPr>
        <p:spPr>
          <a:xfrm>
            <a:off x="11018520" y="6473952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1000" b="1" dirty="0">
                <a:solidFill>
                  <a:srgbClr val="16B8A6"/>
                </a:solidFill>
                <a:latin typeface="Aptos"/>
              </a:rPr>
              <a:t xml:space="preserve">08</a:t>
            </a:r>
            <a:endParaRPr lang="en-US" sz="1000"/>
          </a:p>
        </p:txBody>
      </p:sp>
      <p:sp>
        <p:nvSpPr>
          <p:cNvPr id="9" name="Shape 8"/>
          <p:cNvSpPr/>
          <p:nvPr/>
        </p:nvSpPr>
        <p:spPr>
          <a:xfrm>
            <a:off x="731520" y="1755648"/>
            <a:ext cx="3182112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" name="Shape 9"/>
          <p:cNvSpPr/>
          <p:nvPr/>
        </p:nvSpPr>
        <p:spPr>
          <a:xfrm>
            <a:off x="731520" y="1755648"/>
            <a:ext cx="64008" cy="1417320"/>
          </a:xfrm>
          <a:prstGeom prst="roundRect">
            <a:avLst/>
          </a:prstGeom>
          <a:solidFill>
            <a:srgbClr val="4C7CF3"/>
          </a:solidFill>
          <a:ln>
            <a:noFill/>
          </a:ln>
        </p:spPr>
      </p:sp>
      <p:sp>
        <p:nvSpPr>
          <p:cNvPr id="11" name="Text 10"/>
          <p:cNvSpPr txBox="1"/>
          <p:nvPr/>
        </p:nvSpPr>
        <p:spPr>
          <a:xfrm>
            <a:off x="950976" y="1920240"/>
            <a:ext cx="2761488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600" b="1" dirty="0">
                <a:solidFill>
                  <a:srgbClr val="10243A"/>
                </a:solidFill>
                <a:latin typeface="Aptos"/>
              </a:rPr>
              <a:t xml:space="preserve">CUSTOMERS</a:t>
            </a:r>
            <a:endParaRPr lang="en-US" sz="1600"/>
          </a:p>
        </p:txBody>
      </p:sp>
      <p:sp>
        <p:nvSpPr>
          <p:cNvPr id="12" name="Text 11"/>
          <p:cNvSpPr txBox="1"/>
          <p:nvPr/>
        </p:nvSpPr>
        <p:spPr>
          <a:xfrm>
            <a:off x="950976" y="2377440"/>
            <a:ext cx="2743200" cy="649224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"/>
            <a:r>
              <a:rPr lang="en-US" sz="1200" b="0" dirty="0">
                <a:solidFill>
                  <a:srgbClr val="63758A"/>
                </a:solidFill>
                <a:latin typeface="Aptos"/>
              </a:rPr>
              <a:t xml:space="preserve">Profile, phone, address, active status</a:t>
            </a:r>
            <a:endParaRPr lang="en-US" sz="1200"/>
          </a:p>
        </p:txBody>
      </p:sp>
      <p:sp>
        <p:nvSpPr>
          <p:cNvPr id="13" name="Shape 12"/>
          <p:cNvSpPr/>
          <p:nvPr/>
        </p:nvSpPr>
        <p:spPr>
          <a:xfrm>
            <a:off x="4498848" y="1755648"/>
            <a:ext cx="3182112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4" name="Shape 13"/>
          <p:cNvSpPr/>
          <p:nvPr/>
        </p:nvSpPr>
        <p:spPr>
          <a:xfrm>
            <a:off x="4498848" y="1755648"/>
            <a:ext cx="64008" cy="1417320"/>
          </a:xfrm>
          <a:prstGeom prst="roundRect">
            <a:avLst/>
          </a:prstGeom>
          <a:solidFill>
            <a:srgbClr val="16B8A6"/>
          </a:solidFill>
          <a:ln>
            <a:noFill/>
          </a:ln>
        </p:spPr>
      </p:sp>
      <p:sp>
        <p:nvSpPr>
          <p:cNvPr id="15" name="Text 14"/>
          <p:cNvSpPr txBox="1"/>
          <p:nvPr/>
        </p:nvSpPr>
        <p:spPr>
          <a:xfrm>
            <a:off x="4718304" y="1920240"/>
            <a:ext cx="2761488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600" b="1" dirty="0">
                <a:solidFill>
                  <a:srgbClr val="10243A"/>
                </a:solidFill>
                <a:latin typeface="Aptos"/>
              </a:rPr>
              <a:t xml:space="preserve">CREDIT_ENTRIES</a:t>
            </a:r>
            <a:endParaRPr lang="en-US" sz="1600"/>
          </a:p>
        </p:txBody>
      </p:sp>
      <p:sp>
        <p:nvSpPr>
          <p:cNvPr id="16" name="Text 15"/>
          <p:cNvSpPr txBox="1"/>
          <p:nvPr/>
        </p:nvSpPr>
        <p:spPr>
          <a:xfrm>
            <a:off x="4718304" y="2377440"/>
            <a:ext cx="2743200" cy="649224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"/>
            <a:r>
              <a:rPr lang="en-US" sz="1200" b="0" dirty="0">
                <a:solidFill>
                  <a:srgbClr val="63758A"/>
                </a:solidFill>
                <a:latin typeface="Aptos"/>
              </a:rPr>
              <a:t xml:space="preserve">Customer-linked purchases; positive DECIMAL amount</a:t>
            </a:r>
            <a:endParaRPr lang="en-US" sz="1200"/>
          </a:p>
        </p:txBody>
      </p:sp>
      <p:sp>
        <p:nvSpPr>
          <p:cNvPr id="17" name="Shape 16"/>
          <p:cNvSpPr/>
          <p:nvPr/>
        </p:nvSpPr>
        <p:spPr>
          <a:xfrm>
            <a:off x="8229600" y="1755648"/>
            <a:ext cx="3182112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8" name="Shape 17"/>
          <p:cNvSpPr/>
          <p:nvPr/>
        </p:nvSpPr>
        <p:spPr>
          <a:xfrm>
            <a:off x="8229600" y="1755648"/>
            <a:ext cx="64008" cy="1417320"/>
          </a:xfrm>
          <a:prstGeom prst="roundRect">
            <a:avLst/>
          </a:prstGeom>
          <a:solidFill>
            <a:srgbClr val="42A77A"/>
          </a:solidFill>
          <a:ln>
            <a:noFill/>
          </a:ln>
        </p:spPr>
      </p:sp>
      <p:sp>
        <p:nvSpPr>
          <p:cNvPr id="19" name="Text 18"/>
          <p:cNvSpPr txBox="1"/>
          <p:nvPr/>
        </p:nvSpPr>
        <p:spPr>
          <a:xfrm>
            <a:off x="8449056" y="1920240"/>
            <a:ext cx="2761488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600" b="1" dirty="0">
                <a:solidFill>
                  <a:srgbClr val="10243A"/>
                </a:solidFill>
                <a:latin typeface="Aptos"/>
              </a:rPr>
              <a:t xml:space="preserve">PAYMENTS</a:t>
            </a:r>
            <a:endParaRPr lang="en-US" sz="1600"/>
          </a:p>
        </p:txBody>
      </p:sp>
      <p:sp>
        <p:nvSpPr>
          <p:cNvPr id="20" name="Text 19"/>
          <p:cNvSpPr txBox="1"/>
          <p:nvPr/>
        </p:nvSpPr>
        <p:spPr>
          <a:xfrm>
            <a:off x="8449056" y="2377440"/>
            <a:ext cx="2743200" cy="649224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"/>
            <a:r>
              <a:rPr lang="en-US" sz="1200" b="0" dirty="0">
                <a:solidFill>
                  <a:srgbClr val="63758A"/>
                </a:solidFill>
                <a:latin typeface="Aptos"/>
              </a:rPr>
              <a:t xml:space="preserve">Customer-linked repayments; method + retry key</a:t>
            </a:r>
            <a:endParaRPr lang="en-US" sz="1200"/>
          </a:p>
        </p:txBody>
      </p:sp>
      <p:sp>
        <p:nvSpPr>
          <p:cNvPr id="21" name="Text 20"/>
          <p:cNvSpPr txBox="1"/>
          <p:nvPr/>
        </p:nvSpPr>
        <p:spPr>
          <a:xfrm>
            <a:off x="3950208" y="2249424"/>
            <a:ext cx="4114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400" b="1" dirty="0">
                <a:solidFill>
                  <a:srgbClr val="63758A"/>
                </a:solidFill>
                <a:latin typeface="Aptos"/>
              </a:rPr>
              <a:t xml:space="preserve">1 → *</a:t>
            </a:r>
            <a:endParaRPr lang="en-US" sz="1400"/>
          </a:p>
        </p:txBody>
      </p:sp>
      <p:sp>
        <p:nvSpPr>
          <p:cNvPr id="22" name="Text 21"/>
          <p:cNvSpPr txBox="1"/>
          <p:nvPr/>
        </p:nvSpPr>
        <p:spPr>
          <a:xfrm>
            <a:off x="7680960" y="2249424"/>
            <a:ext cx="4114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400" b="1" dirty="0">
                <a:solidFill>
                  <a:srgbClr val="63758A"/>
                </a:solidFill>
                <a:latin typeface="Aptos"/>
              </a:rPr>
              <a:t xml:space="preserve">1 → *</a:t>
            </a:r>
            <a:endParaRPr lang="en-US" sz="1400"/>
          </a:p>
        </p:txBody>
      </p:sp>
      <p:sp>
        <p:nvSpPr>
          <p:cNvPr id="23" name="Shape 22"/>
          <p:cNvSpPr/>
          <p:nvPr/>
        </p:nvSpPr>
        <p:spPr>
          <a:xfrm>
            <a:off x="914400" y="3703320"/>
            <a:ext cx="10332720" cy="1325880"/>
          </a:xfrm>
          <a:prstGeom prst="roundRect">
            <a:avLst/>
          </a:prstGeom>
          <a:solidFill>
            <a:srgbClr val="10243A"/>
          </a:solidFill>
          <a:ln>
            <a:noFill/>
          </a:ln>
        </p:spPr>
      </p:sp>
      <p:sp>
        <p:nvSpPr>
          <p:cNvPr id="24" name="Text 23"/>
          <p:cNvSpPr txBox="1"/>
          <p:nvPr/>
        </p:nvSpPr>
        <p:spPr>
          <a:xfrm>
            <a:off x="1243584" y="3950208"/>
            <a:ext cx="196596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200" b="1" dirty="0">
                <a:solidFill>
                  <a:srgbClr val="16B8A6"/>
                </a:solidFill>
                <a:latin typeface="Aptos"/>
              </a:rPr>
              <a:t xml:space="preserve">BALANCE FORMULA</a:t>
            </a:r>
            <a:endParaRPr lang="en-US" sz="1200"/>
          </a:p>
        </p:txBody>
      </p:sp>
      <p:sp>
        <p:nvSpPr>
          <p:cNvPr id="25" name="Text 24"/>
          <p:cNvSpPr txBox="1"/>
          <p:nvPr/>
        </p:nvSpPr>
        <p:spPr>
          <a:xfrm>
            <a:off x="3657600" y="3858768"/>
            <a:ext cx="71323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2100" b="1" dirty="0">
                <a:solidFill>
                  <a:srgbClr val="FFFFFF"/>
                </a:solidFill>
                <a:latin typeface="Aptos"/>
              </a:rPr>
              <a:t xml:space="preserve">Total credits  −  total payments  =  outstanding balance</a:t>
            </a:r>
            <a:endParaRPr lang="en-US" sz="2100"/>
          </a:p>
        </p:txBody>
      </p:sp>
      <p:sp>
        <p:nvSpPr>
          <p:cNvPr id="26" name="Shape 25"/>
          <p:cNvSpPr/>
          <p:nvPr/>
        </p:nvSpPr>
        <p:spPr>
          <a:xfrm>
            <a:off x="1828800" y="5349240"/>
            <a:ext cx="2240280" cy="530352"/>
          </a:xfrm>
          <a:prstGeom prst="roundRect">
            <a:avLst/>
          </a:prstGeom>
          <a:solidFill>
            <a:srgbClr val="E5F5F2"/>
          </a:solidFill>
          <a:ln>
            <a:noFill/>
          </a:ln>
        </p:spPr>
      </p:sp>
      <p:sp>
        <p:nvSpPr>
          <p:cNvPr id="27" name="Text 26"/>
          <p:cNvSpPr txBox="1"/>
          <p:nvPr/>
        </p:nvSpPr>
        <p:spPr>
          <a:xfrm>
            <a:off x="1938528" y="5477256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500" b="1" dirty="0">
                <a:solidFill>
                  <a:srgbClr val="10243A"/>
                </a:solidFill>
                <a:latin typeface="Aptos"/>
              </a:rPr>
              <a:t xml:space="preserve">₹2,000  credit</a:t>
            </a:r>
            <a:endParaRPr lang="en-US" sz="1500"/>
          </a:p>
        </p:txBody>
      </p:sp>
      <p:sp>
        <p:nvSpPr>
          <p:cNvPr id="28" name="Text 27"/>
          <p:cNvSpPr txBox="1"/>
          <p:nvPr/>
        </p:nvSpPr>
        <p:spPr>
          <a:xfrm>
            <a:off x="4224528" y="5468112"/>
            <a:ext cx="45720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900" b="1" dirty="0">
                <a:solidFill>
                  <a:srgbClr val="63758A"/>
                </a:solidFill>
                <a:latin typeface="Aptos"/>
              </a:rPr>
              <a:t xml:space="preserve">−</a:t>
            </a:r>
            <a:endParaRPr lang="en-US" sz="1900"/>
          </a:p>
        </p:txBody>
      </p:sp>
      <p:sp>
        <p:nvSpPr>
          <p:cNvPr id="29" name="Shape 28"/>
          <p:cNvSpPr/>
          <p:nvPr/>
        </p:nvSpPr>
        <p:spPr>
          <a:xfrm>
            <a:off x="4754880" y="5349240"/>
            <a:ext cx="2240280" cy="530352"/>
          </a:xfrm>
          <a:prstGeom prst="roundRect">
            <a:avLst/>
          </a:prstGeom>
          <a:solidFill>
            <a:srgbClr val="FFF1E3"/>
          </a:solidFill>
          <a:ln>
            <a:noFill/>
          </a:ln>
        </p:spPr>
      </p:sp>
      <p:sp>
        <p:nvSpPr>
          <p:cNvPr id="30" name="Text 29"/>
          <p:cNvSpPr txBox="1"/>
          <p:nvPr/>
        </p:nvSpPr>
        <p:spPr>
          <a:xfrm>
            <a:off x="4855464" y="5477256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500" b="1" dirty="0">
                <a:solidFill>
                  <a:srgbClr val="10243A"/>
                </a:solidFill>
                <a:latin typeface="Aptos"/>
              </a:rPr>
              <a:t xml:space="preserve">₹499.99  payment</a:t>
            </a:r>
            <a:endParaRPr lang="en-US" sz="1500"/>
          </a:p>
        </p:txBody>
      </p:sp>
      <p:sp>
        <p:nvSpPr>
          <p:cNvPr id="31" name="Text 30"/>
          <p:cNvSpPr txBox="1"/>
          <p:nvPr/>
        </p:nvSpPr>
        <p:spPr>
          <a:xfrm>
            <a:off x="7168896" y="5468112"/>
            <a:ext cx="45720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900" b="1" dirty="0">
                <a:solidFill>
                  <a:srgbClr val="63758A"/>
                </a:solidFill>
                <a:latin typeface="Aptos"/>
              </a:rPr>
              <a:t xml:space="preserve">=</a:t>
            </a:r>
            <a:endParaRPr lang="en-US" sz="1900"/>
          </a:p>
        </p:txBody>
      </p:sp>
      <p:sp>
        <p:nvSpPr>
          <p:cNvPr id="32" name="Shape 31"/>
          <p:cNvSpPr/>
          <p:nvPr/>
        </p:nvSpPr>
        <p:spPr>
          <a:xfrm>
            <a:off x="7699248" y="5349240"/>
            <a:ext cx="2423160" cy="530352"/>
          </a:xfrm>
          <a:prstGeom prst="roundRect">
            <a:avLst/>
          </a:prstGeom>
          <a:solidFill>
            <a:srgbClr val="E6EEFF"/>
          </a:solidFill>
          <a:ln>
            <a:noFill/>
          </a:ln>
        </p:spPr>
      </p:sp>
      <p:sp>
        <p:nvSpPr>
          <p:cNvPr id="33" name="Text 32"/>
          <p:cNvSpPr txBox="1"/>
          <p:nvPr/>
        </p:nvSpPr>
        <p:spPr>
          <a:xfrm>
            <a:off x="7818120" y="5477256"/>
            <a:ext cx="21945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500" b="1" dirty="0">
                <a:solidFill>
                  <a:srgbClr val="10243A"/>
                </a:solidFill>
                <a:latin typeface="Aptos"/>
              </a:rPr>
              <a:t xml:space="preserve">₹1,500.01  due</a:t>
            </a:r>
            <a:endParaRPr lang="en-US" sz="1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</p:sp>
      <p:sp>
        <p:nvSpPr>
          <p:cNvPr id="3" name="Shap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6B8A6"/>
          </a:solidFill>
          <a:ln>
            <a:noFill/>
          </a:ln>
        </p:spPr>
      </p:sp>
      <p:sp>
        <p:nvSpPr>
          <p:cNvPr id="4" name="Text 3"/>
          <p:cNvSpPr txBox="1"/>
          <p:nvPr/>
        </p:nvSpPr>
        <p:spPr>
          <a:xfrm>
            <a:off x="594360" y="347472"/>
            <a:ext cx="89611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000" b="1" dirty="0">
                <a:solidFill>
                  <a:srgbClr val="16B8A6"/>
                </a:solidFill>
                <a:latin typeface="Aptos"/>
              </a:rPr>
              <a:t xml:space="preserve">09  /  VALIDATION &amp; SAFETY</a:t>
            </a:r>
            <a:endParaRPr lang="en-US" sz="1000"/>
          </a:p>
        </p:txBody>
      </p:sp>
      <p:sp>
        <p:nvSpPr>
          <p:cNvPr id="5" name="Text 4"/>
          <p:cNvSpPr txBox="1"/>
          <p:nvPr/>
        </p:nvSpPr>
        <p:spPr>
          <a:xfrm>
            <a:off x="594360" y="694944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2900" b="1" dirty="0">
                <a:solidFill>
                  <a:srgbClr val="10243A"/>
                </a:solidFill>
                <a:latin typeface="Aptos"/>
              </a:rPr>
              <a:t xml:space="preserve">Useful safeguards are built into the transaction path</a:t>
            </a:r>
            <a:endParaRPr lang="en-US" sz="2900"/>
          </a:p>
        </p:txBody>
      </p:sp>
      <p:sp>
        <p:nvSpPr>
          <p:cNvPr id="6" name="Shape 5"/>
          <p:cNvSpPr/>
          <p:nvPr/>
        </p:nvSpPr>
        <p:spPr>
          <a:xfrm>
            <a:off x="594360" y="1353312"/>
            <a:ext cx="10972800" cy="16459"/>
          </a:xfrm>
          <a:prstGeom prst="rect">
            <a:avLst/>
          </a:prstGeom>
          <a:solidFill>
            <a:srgbClr val="D8E1E9"/>
          </a:solidFill>
          <a:ln>
            <a:noFill/>
          </a:ln>
        </p:spPr>
      </p:sp>
      <p:sp>
        <p:nvSpPr>
          <p:cNvPr id="7" name="Text 6"/>
          <p:cNvSpPr txBox="1"/>
          <p:nvPr/>
        </p:nvSpPr>
        <p:spPr>
          <a:xfrm>
            <a:off x="594360" y="6510528"/>
            <a:ext cx="89611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00" b="0" dirty="0">
                <a:solidFill>
                  <a:srgbClr val="63758A"/>
                </a:solidFill>
                <a:latin typeface="Aptos"/>
              </a:rPr>
              <a:t xml:space="preserve">SMART SHOP CREDIT TRACKER  •  SUMMER INTERNSHIP</a:t>
            </a:r>
            <a:endParaRPr lang="en-US" sz="800"/>
          </a:p>
        </p:txBody>
      </p:sp>
      <p:sp>
        <p:nvSpPr>
          <p:cNvPr id="8" name="Text 7"/>
          <p:cNvSpPr txBox="1"/>
          <p:nvPr/>
        </p:nvSpPr>
        <p:spPr>
          <a:xfrm>
            <a:off x="11018520" y="6473952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1000" b="1" dirty="0">
                <a:solidFill>
                  <a:srgbClr val="16B8A6"/>
                </a:solidFill>
                <a:latin typeface="Aptos"/>
              </a:rPr>
              <a:t xml:space="preserve">10</a:t>
            </a:r>
            <a:endParaRPr lang="en-US" sz="1000"/>
          </a:p>
        </p:txBody>
      </p:sp>
      <p:sp>
        <p:nvSpPr>
          <p:cNvPr id="9" name="Shape 8"/>
          <p:cNvSpPr/>
          <p:nvPr/>
        </p:nvSpPr>
        <p:spPr>
          <a:xfrm>
            <a:off x="685800" y="1737360"/>
            <a:ext cx="525780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" name="Shape 9"/>
          <p:cNvSpPr/>
          <p:nvPr/>
        </p:nvSpPr>
        <p:spPr>
          <a:xfrm>
            <a:off x="685800" y="1737360"/>
            <a:ext cx="64008" cy="1508760"/>
          </a:xfrm>
          <a:prstGeom prst="roundRect">
            <a:avLst/>
          </a:prstGeom>
          <a:solidFill>
            <a:srgbClr val="4C7CF3"/>
          </a:solidFill>
          <a:ln>
            <a:noFill/>
          </a:ln>
        </p:spPr>
      </p:sp>
      <p:sp>
        <p:nvSpPr>
          <p:cNvPr id="11" name="Text 10"/>
          <p:cNvSpPr txBox="1"/>
          <p:nvPr/>
        </p:nvSpPr>
        <p:spPr>
          <a:xfrm>
            <a:off x="905256" y="1901952"/>
            <a:ext cx="4837176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600" b="1" dirty="0">
                <a:solidFill>
                  <a:srgbClr val="10243A"/>
                </a:solidFill>
                <a:latin typeface="Aptos"/>
              </a:rPr>
              <a:t xml:space="preserve">Amount &amp; date validation</a:t>
            </a:r>
            <a:endParaRPr lang="en-US" sz="1600"/>
          </a:p>
        </p:txBody>
      </p:sp>
      <p:sp>
        <p:nvSpPr>
          <p:cNvPr id="12" name="Text 11"/>
          <p:cNvSpPr txBox="1"/>
          <p:nvPr/>
        </p:nvSpPr>
        <p:spPr>
          <a:xfrm>
            <a:off x="905256" y="2359152"/>
            <a:ext cx="4818888" cy="740664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"/>
            <a:r>
              <a:rPr lang="en-US" sz="1200" b="0" dirty="0">
                <a:solidFill>
                  <a:srgbClr val="63758A"/>
                </a:solidFill>
                <a:latin typeface="Aptos"/>
              </a:rPr>
              <a:t xml:space="preserve">Positive values, max two decimals, fixed precision; future transaction dates are rejected.</a:t>
            </a:r>
            <a:endParaRPr lang="en-US" sz="1200"/>
          </a:p>
        </p:txBody>
      </p:sp>
      <p:sp>
        <p:nvSpPr>
          <p:cNvPr id="13" name="Shape 12"/>
          <p:cNvSpPr/>
          <p:nvPr/>
        </p:nvSpPr>
        <p:spPr>
          <a:xfrm>
            <a:off x="6199632" y="1737360"/>
            <a:ext cx="525780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4" name="Shape 13"/>
          <p:cNvSpPr/>
          <p:nvPr/>
        </p:nvSpPr>
        <p:spPr>
          <a:xfrm>
            <a:off x="6199632" y="1737360"/>
            <a:ext cx="64008" cy="1508760"/>
          </a:xfrm>
          <a:prstGeom prst="roundRect">
            <a:avLst/>
          </a:prstGeom>
          <a:solidFill>
            <a:srgbClr val="16B8A6"/>
          </a:solidFill>
          <a:ln>
            <a:noFill/>
          </a:ln>
        </p:spPr>
      </p:sp>
      <p:sp>
        <p:nvSpPr>
          <p:cNvPr id="15" name="Text 14"/>
          <p:cNvSpPr txBox="1"/>
          <p:nvPr/>
        </p:nvSpPr>
        <p:spPr>
          <a:xfrm>
            <a:off x="6419088" y="1901952"/>
            <a:ext cx="4837176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600" b="1" dirty="0">
                <a:solidFill>
                  <a:srgbClr val="10243A"/>
                </a:solidFill>
                <a:latin typeface="Aptos"/>
              </a:rPr>
              <a:t xml:space="preserve">Overpayment prevention</a:t>
            </a:r>
            <a:endParaRPr lang="en-US" sz="1600"/>
          </a:p>
        </p:txBody>
      </p:sp>
      <p:sp>
        <p:nvSpPr>
          <p:cNvPr id="16" name="Text 15"/>
          <p:cNvSpPr txBox="1"/>
          <p:nvPr/>
        </p:nvSpPr>
        <p:spPr>
          <a:xfrm>
            <a:off x="6419088" y="2359152"/>
            <a:ext cx="4818888" cy="740664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"/>
            <a:r>
              <a:rPr lang="en-US" sz="1200" b="0" dirty="0">
                <a:solidFill>
                  <a:srgbClr val="63758A"/>
                </a:solidFill>
                <a:latin typeface="Aptos"/>
              </a:rPr>
              <a:t xml:space="preserve">Backend checks current due and rejects a payment above the outstanding balance.</a:t>
            </a:r>
            <a:endParaRPr lang="en-US" sz="1200"/>
          </a:p>
        </p:txBody>
      </p:sp>
      <p:sp>
        <p:nvSpPr>
          <p:cNvPr id="17" name="Shape 16"/>
          <p:cNvSpPr/>
          <p:nvPr/>
        </p:nvSpPr>
        <p:spPr>
          <a:xfrm>
            <a:off x="685800" y="3547872"/>
            <a:ext cx="525780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8" name="Shape 17"/>
          <p:cNvSpPr/>
          <p:nvPr/>
        </p:nvSpPr>
        <p:spPr>
          <a:xfrm>
            <a:off x="685800" y="3547872"/>
            <a:ext cx="64008" cy="1508760"/>
          </a:xfrm>
          <a:prstGeom prst="roundRect">
            <a:avLst/>
          </a:prstGeom>
          <a:solidFill>
            <a:srgbClr val="42A77A"/>
          </a:solidFill>
          <a:ln>
            <a:noFill/>
          </a:ln>
        </p:spPr>
      </p:sp>
      <p:sp>
        <p:nvSpPr>
          <p:cNvPr id="19" name="Text 18"/>
          <p:cNvSpPr txBox="1"/>
          <p:nvPr/>
        </p:nvSpPr>
        <p:spPr>
          <a:xfrm>
            <a:off x="905256" y="3712464"/>
            <a:ext cx="4837176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600" b="1" dirty="0">
                <a:solidFill>
                  <a:srgbClr val="10243A"/>
                </a:solidFill>
                <a:latin typeface="Aptos"/>
              </a:rPr>
              <a:t xml:space="preserve">Concurrent writes</a:t>
            </a:r>
            <a:endParaRPr lang="en-US" sz="1600"/>
          </a:p>
        </p:txBody>
      </p:sp>
      <p:sp>
        <p:nvSpPr>
          <p:cNvPr id="20" name="Text 19"/>
          <p:cNvSpPr txBox="1"/>
          <p:nvPr/>
        </p:nvSpPr>
        <p:spPr>
          <a:xfrm>
            <a:off x="905256" y="4169664"/>
            <a:ext cx="4818888" cy="740664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"/>
            <a:r>
              <a:rPr lang="en-US" sz="1200" b="0" dirty="0">
                <a:solidFill>
                  <a:srgbClr val="63758A"/>
                </a:solidFill>
                <a:latin typeface="Aptos"/>
              </a:rPr>
              <a:t xml:space="preserve">Customer row lock and database transaction serialize balance checks for that customer.</a:t>
            </a:r>
            <a:endParaRPr lang="en-US" sz="1200"/>
          </a:p>
        </p:txBody>
      </p:sp>
      <p:sp>
        <p:nvSpPr>
          <p:cNvPr id="21" name="Shape 20"/>
          <p:cNvSpPr/>
          <p:nvPr/>
        </p:nvSpPr>
        <p:spPr>
          <a:xfrm>
            <a:off x="6199632" y="3547872"/>
            <a:ext cx="525780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2" name="Shape 21"/>
          <p:cNvSpPr/>
          <p:nvPr/>
        </p:nvSpPr>
        <p:spPr>
          <a:xfrm>
            <a:off x="6199632" y="3547872"/>
            <a:ext cx="64008" cy="1508760"/>
          </a:xfrm>
          <a:prstGeom prst="roundRect">
            <a:avLst/>
          </a:prstGeom>
          <a:solidFill>
            <a:srgbClr val="F2A65A"/>
          </a:solidFill>
          <a:ln>
            <a:noFill/>
          </a:ln>
        </p:spPr>
      </p:sp>
      <p:sp>
        <p:nvSpPr>
          <p:cNvPr id="23" name="Text 22"/>
          <p:cNvSpPr txBox="1"/>
          <p:nvPr/>
        </p:nvSpPr>
        <p:spPr>
          <a:xfrm>
            <a:off x="6419088" y="3712464"/>
            <a:ext cx="4837176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600" b="1" dirty="0">
                <a:solidFill>
                  <a:srgbClr val="10243A"/>
                </a:solidFill>
                <a:latin typeface="Aptos"/>
              </a:rPr>
              <a:t xml:space="preserve">Duplicate retry protection</a:t>
            </a:r>
            <a:endParaRPr lang="en-US" sz="1600"/>
          </a:p>
        </p:txBody>
      </p:sp>
      <p:sp>
        <p:nvSpPr>
          <p:cNvPr id="24" name="Text 23"/>
          <p:cNvSpPr txBox="1"/>
          <p:nvPr/>
        </p:nvSpPr>
        <p:spPr>
          <a:xfrm>
            <a:off x="6419088" y="4169664"/>
            <a:ext cx="4818888" cy="740664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"/>
            <a:r>
              <a:rPr lang="en-US" sz="1200" b="0" dirty="0">
                <a:solidFill>
                  <a:srgbClr val="63758A"/>
                </a:solidFill>
                <a:latin typeface="Aptos"/>
              </a:rPr>
              <a:t xml:space="preserve">Unique payment request key lets a repeated submission return the existing payment.</a:t>
            </a:r>
            <a:endParaRPr lang="en-US" sz="1200"/>
          </a:p>
        </p:txBody>
      </p:sp>
      <p:sp>
        <p:nvSpPr>
          <p:cNvPr id="25" name="Text 24"/>
          <p:cNvSpPr txBox="1"/>
          <p:nvPr/>
        </p:nvSpPr>
        <p:spPr>
          <a:xfrm>
            <a:off x="777240" y="5532120"/>
            <a:ext cx="1042416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300" b="1" dirty="0">
                <a:solidFill>
                  <a:srgbClr val="10243A"/>
                </a:solidFill>
                <a:latin typeface="Aptos"/>
              </a:rPr>
              <a:t xml:space="preserve">Also present: BCrypt password hashing • authenticated sessions • CSRF token • parameterized SQL</a:t>
            </a:r>
            <a:endParaRPr lang="en-US" sz="13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</p:sp>
      <p:sp>
        <p:nvSpPr>
          <p:cNvPr id="3" name="Shap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6B8A6"/>
          </a:solidFill>
          <a:ln>
            <a:noFill/>
          </a:ln>
        </p:spPr>
      </p:sp>
      <p:sp>
        <p:nvSpPr>
          <p:cNvPr id="4" name="Text 3"/>
          <p:cNvSpPr txBox="1"/>
          <p:nvPr/>
        </p:nvSpPr>
        <p:spPr>
          <a:xfrm>
            <a:off x="594360" y="347472"/>
            <a:ext cx="89611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000" b="1" dirty="0">
                <a:solidFill>
                  <a:srgbClr val="16B8A6"/>
                </a:solidFill>
                <a:latin typeface="Aptos"/>
              </a:rPr>
              <a:t xml:space="preserve">11  /  INTERFACE &amp; API</a:t>
            </a:r>
            <a:endParaRPr lang="en-US" sz="1000"/>
          </a:p>
        </p:txBody>
      </p:sp>
      <p:sp>
        <p:nvSpPr>
          <p:cNvPr id="5" name="Text 4"/>
          <p:cNvSpPr txBox="1"/>
          <p:nvPr/>
        </p:nvSpPr>
        <p:spPr>
          <a:xfrm>
            <a:off x="594360" y="694944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2900" b="1" dirty="0">
                <a:solidFill>
                  <a:srgbClr val="10243A"/>
                </a:solidFill>
                <a:latin typeface="Aptos"/>
              </a:rPr>
              <a:t xml:space="preserve">A browser dashboard backed by protected REST endpoints</a:t>
            </a:r>
            <a:endParaRPr lang="en-US" sz="2900"/>
          </a:p>
        </p:txBody>
      </p:sp>
      <p:sp>
        <p:nvSpPr>
          <p:cNvPr id="6" name="Shape 5"/>
          <p:cNvSpPr/>
          <p:nvPr/>
        </p:nvSpPr>
        <p:spPr>
          <a:xfrm>
            <a:off x="594360" y="1353312"/>
            <a:ext cx="10972800" cy="16459"/>
          </a:xfrm>
          <a:prstGeom prst="rect">
            <a:avLst/>
          </a:prstGeom>
          <a:solidFill>
            <a:srgbClr val="D8E1E9"/>
          </a:solidFill>
          <a:ln>
            <a:noFill/>
          </a:ln>
        </p:spPr>
      </p:sp>
      <p:sp>
        <p:nvSpPr>
          <p:cNvPr id="7" name="Text 6"/>
          <p:cNvSpPr txBox="1"/>
          <p:nvPr/>
        </p:nvSpPr>
        <p:spPr>
          <a:xfrm>
            <a:off x="594360" y="6510528"/>
            <a:ext cx="89611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00" b="0" dirty="0">
                <a:solidFill>
                  <a:srgbClr val="63758A"/>
                </a:solidFill>
                <a:latin typeface="Aptos"/>
              </a:rPr>
              <a:t xml:space="preserve">SMART SHOP CREDIT TRACKER  •  SUMMER INTERNSHIP</a:t>
            </a:r>
            <a:endParaRPr lang="en-US" sz="800"/>
          </a:p>
        </p:txBody>
      </p:sp>
      <p:sp>
        <p:nvSpPr>
          <p:cNvPr id="8" name="Text 7"/>
          <p:cNvSpPr txBox="1"/>
          <p:nvPr/>
        </p:nvSpPr>
        <p:spPr>
          <a:xfrm>
            <a:off x="11018520" y="6473952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1000" b="1" dirty="0">
                <a:solidFill>
                  <a:srgbClr val="16B8A6"/>
                </a:solidFill>
                <a:latin typeface="Aptos"/>
              </a:rPr>
              <a:t xml:space="preserve">12</a:t>
            </a:r>
            <a:endParaRPr lang="en-US" sz="1000"/>
          </a:p>
        </p:txBody>
      </p:sp>
      <p:sp>
        <p:nvSpPr>
          <p:cNvPr id="9" name="Shape 8"/>
          <p:cNvSpPr/>
          <p:nvPr/>
        </p:nvSpPr>
        <p:spPr>
          <a:xfrm>
            <a:off x="713232" y="1755648"/>
            <a:ext cx="5074920" cy="3611880"/>
          </a:xfrm>
          <a:prstGeom prst="roundRect">
            <a:avLst/>
          </a:prstGeom>
          <a:solidFill>
            <a:srgbClr val="10243A"/>
          </a:solidFill>
          <a:ln>
            <a:noFill/>
          </a:ln>
        </p:spPr>
      </p:sp>
      <p:sp>
        <p:nvSpPr>
          <p:cNvPr id="10" name="Text 9"/>
          <p:cNvSpPr txBox="1"/>
          <p:nvPr/>
        </p:nvSpPr>
        <p:spPr>
          <a:xfrm>
            <a:off x="1024128" y="2011680"/>
            <a:ext cx="44348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200" b="1" dirty="0">
                <a:solidFill>
                  <a:srgbClr val="16B8A6"/>
                </a:solidFill>
                <a:latin typeface="Aptos"/>
              </a:rPr>
              <a:t xml:space="preserve">STAFF WORKSPACE</a:t>
            </a:r>
            <a:endParaRPr lang="en-US" sz="1200"/>
          </a:p>
        </p:txBody>
      </p:sp>
      <p:sp>
        <p:nvSpPr>
          <p:cNvPr id="11" name="Shape 10"/>
          <p:cNvSpPr/>
          <p:nvPr/>
        </p:nvSpPr>
        <p:spPr>
          <a:xfrm>
            <a:off x="987552" y="2587752"/>
            <a:ext cx="4480560" cy="457200"/>
          </a:xfrm>
          <a:prstGeom prst="roundRect">
            <a:avLst/>
          </a:prstGeom>
          <a:solidFill>
            <a:srgbClr val="1B354C"/>
          </a:solidFill>
          <a:ln>
            <a:noFill/>
          </a:ln>
        </p:spPr>
      </p:sp>
      <p:sp>
        <p:nvSpPr>
          <p:cNvPr id="12" name="Text 11"/>
          <p:cNvSpPr txBox="1"/>
          <p:nvPr/>
        </p:nvSpPr>
        <p:spPr>
          <a:xfrm>
            <a:off x="1161288" y="2670048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Aptos"/>
              </a:rPr>
              <a:t xml:space="preserve">Dashboard</a:t>
            </a:r>
            <a:endParaRPr lang="en-US" sz="1200"/>
          </a:p>
        </p:txBody>
      </p:sp>
      <p:sp>
        <p:nvSpPr>
          <p:cNvPr id="13" name="Text 12"/>
          <p:cNvSpPr txBox="1"/>
          <p:nvPr/>
        </p:nvSpPr>
        <p:spPr>
          <a:xfrm>
            <a:off x="2697480" y="2670048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000" b="0" dirty="0">
                <a:solidFill>
                  <a:srgbClr val="B8C9D8"/>
                </a:solidFill>
                <a:latin typeface="Aptos"/>
              </a:rPr>
              <a:t xml:space="preserve">Customers • collections • outstanding</a:t>
            </a:r>
            <a:endParaRPr lang="en-US" sz="1000"/>
          </a:p>
        </p:txBody>
      </p:sp>
      <p:sp>
        <p:nvSpPr>
          <p:cNvPr id="14" name="Shape 13"/>
          <p:cNvSpPr/>
          <p:nvPr/>
        </p:nvSpPr>
        <p:spPr>
          <a:xfrm>
            <a:off x="987552" y="3200400"/>
            <a:ext cx="4480560" cy="457200"/>
          </a:xfrm>
          <a:prstGeom prst="roundRect">
            <a:avLst/>
          </a:prstGeom>
          <a:solidFill>
            <a:srgbClr val="1B354C"/>
          </a:solidFill>
          <a:ln>
            <a:noFill/>
          </a:ln>
        </p:spPr>
      </p:sp>
      <p:sp>
        <p:nvSpPr>
          <p:cNvPr id="15" name="Text 14"/>
          <p:cNvSpPr txBox="1"/>
          <p:nvPr/>
        </p:nvSpPr>
        <p:spPr>
          <a:xfrm>
            <a:off x="1161288" y="3282696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Aptos"/>
              </a:rPr>
              <a:t xml:space="preserve">Customers</a:t>
            </a:r>
            <a:endParaRPr lang="en-US" sz="1200"/>
          </a:p>
        </p:txBody>
      </p:sp>
      <p:sp>
        <p:nvSpPr>
          <p:cNvPr id="16" name="Text 15"/>
          <p:cNvSpPr txBox="1"/>
          <p:nvPr/>
        </p:nvSpPr>
        <p:spPr>
          <a:xfrm>
            <a:off x="2697480" y="3282696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000" b="0" dirty="0">
                <a:solidFill>
                  <a:srgbClr val="B8C9D8"/>
                </a:solidFill>
                <a:latin typeface="Aptos"/>
              </a:rPr>
              <a:t xml:space="preserve">Directory • search • archive</a:t>
            </a:r>
            <a:endParaRPr lang="en-US" sz="1000"/>
          </a:p>
        </p:txBody>
      </p:sp>
      <p:sp>
        <p:nvSpPr>
          <p:cNvPr id="17" name="Shape 16"/>
          <p:cNvSpPr/>
          <p:nvPr/>
        </p:nvSpPr>
        <p:spPr>
          <a:xfrm>
            <a:off x="987552" y="3813048"/>
            <a:ext cx="4480560" cy="457200"/>
          </a:xfrm>
          <a:prstGeom prst="roundRect">
            <a:avLst/>
          </a:prstGeom>
          <a:solidFill>
            <a:srgbClr val="1B354C"/>
          </a:solidFill>
          <a:ln>
            <a:noFill/>
          </a:ln>
        </p:spPr>
      </p:sp>
      <p:sp>
        <p:nvSpPr>
          <p:cNvPr id="18" name="Text 17"/>
          <p:cNvSpPr txBox="1"/>
          <p:nvPr/>
        </p:nvSpPr>
        <p:spPr>
          <a:xfrm>
            <a:off x="1161288" y="3895344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Aptos"/>
              </a:rPr>
              <a:t xml:space="preserve">Transactions</a:t>
            </a:r>
            <a:endParaRPr lang="en-US" sz="1200"/>
          </a:p>
        </p:txBody>
      </p:sp>
      <p:sp>
        <p:nvSpPr>
          <p:cNvPr id="19" name="Text 18"/>
          <p:cNvSpPr txBox="1"/>
          <p:nvPr/>
        </p:nvSpPr>
        <p:spPr>
          <a:xfrm>
            <a:off x="2697480" y="3895344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000" b="0" dirty="0">
                <a:solidFill>
                  <a:srgbClr val="B8C9D8"/>
                </a:solidFill>
                <a:latin typeface="Aptos"/>
              </a:rPr>
              <a:t xml:space="preserve">Credit entries • payments • ledger</a:t>
            </a:r>
            <a:endParaRPr lang="en-US" sz="1000"/>
          </a:p>
        </p:txBody>
      </p:sp>
      <p:sp>
        <p:nvSpPr>
          <p:cNvPr id="20" name="Shape 19"/>
          <p:cNvSpPr/>
          <p:nvPr/>
        </p:nvSpPr>
        <p:spPr>
          <a:xfrm>
            <a:off x="987552" y="4425696"/>
            <a:ext cx="4480560" cy="457200"/>
          </a:xfrm>
          <a:prstGeom prst="roundRect">
            <a:avLst/>
          </a:prstGeom>
          <a:solidFill>
            <a:srgbClr val="1B354C"/>
          </a:solidFill>
          <a:ln>
            <a:noFill/>
          </a:ln>
        </p:spPr>
      </p:sp>
      <p:sp>
        <p:nvSpPr>
          <p:cNvPr id="21" name="Text 20"/>
          <p:cNvSpPr txBox="1"/>
          <p:nvPr/>
        </p:nvSpPr>
        <p:spPr>
          <a:xfrm>
            <a:off x="1161288" y="4507992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Aptos"/>
              </a:rPr>
              <a:t xml:space="preserve">Reports</a:t>
            </a:r>
            <a:endParaRPr lang="en-US" sz="1200"/>
          </a:p>
        </p:txBody>
      </p:sp>
      <p:sp>
        <p:nvSpPr>
          <p:cNvPr id="22" name="Text 21"/>
          <p:cNvSpPr txBox="1"/>
          <p:nvPr/>
        </p:nvSpPr>
        <p:spPr>
          <a:xfrm>
            <a:off x="2697480" y="4507992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000" b="0" dirty="0">
                <a:solidFill>
                  <a:srgbClr val="B8C9D8"/>
                </a:solidFill>
                <a:latin typeface="Aptos"/>
              </a:rPr>
              <a:t xml:space="preserve">Dues • date-range credit/payment</a:t>
            </a:r>
            <a:endParaRPr lang="en-US" sz="1000"/>
          </a:p>
        </p:txBody>
      </p:sp>
      <p:sp>
        <p:nvSpPr>
          <p:cNvPr id="23" name="Text 22"/>
          <p:cNvSpPr txBox="1"/>
          <p:nvPr/>
        </p:nvSpPr>
        <p:spPr>
          <a:xfrm>
            <a:off x="6263640" y="1847088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200" b="1" dirty="0">
                <a:solidFill>
                  <a:srgbClr val="16B8A6"/>
                </a:solidFill>
                <a:latin typeface="Aptos"/>
              </a:rPr>
              <a:t xml:space="preserve">API SURFACE</a:t>
            </a:r>
            <a:endParaRPr lang="en-US" sz="1200"/>
          </a:p>
        </p:txBody>
      </p:sp>
      <p:sp>
        <p:nvSpPr>
          <p:cNvPr id="24" name="Text 23"/>
          <p:cNvSpPr txBox="1"/>
          <p:nvPr/>
        </p:nvSpPr>
        <p:spPr>
          <a:xfrm>
            <a:off x="6263640" y="2404872"/>
            <a:ext cx="4937760" cy="242316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"/>
            <a:r>
              <a:rPr lang="en-US" sz="1400" b="0" dirty="0">
                <a:solidFill>
                  <a:srgbClr val="192B40"/>
                </a:solidFill>
                <a:latin typeface="Aptos"/>
              </a:rPr>
              <a:t xml:space="preserve">GET   /api/dashboard</a:t>
            </a:r>
            <a:endParaRPr lang="en-US" sz="1400"/>
          </a:p>
          <a:p>
            <a:pPr algn="l"/>
            <a:r>
              <a:rPr lang="en-US" sz="1400" b="0" dirty="0">
                <a:solidFill>
                  <a:srgbClr val="192B40"/>
                </a:solidFill>
                <a:latin typeface="Aptos"/>
              </a:rPr>
              <a:t xml:space="preserve">GET   /api/customers?search=…</a:t>
            </a:r>
            <a:endParaRPr lang="en-US" sz="1400"/>
          </a:p>
          <a:p>
            <a:pPr algn="l"/>
            <a:r>
              <a:rPr lang="en-US" sz="1400" b="0" dirty="0">
                <a:solidFill>
                  <a:srgbClr val="192B40"/>
                </a:solidFill>
                <a:latin typeface="Aptos"/>
              </a:rPr>
              <a:t xml:space="preserve">POST  /api/credits</a:t>
            </a:r>
            <a:endParaRPr lang="en-US" sz="1400"/>
          </a:p>
          <a:p>
            <a:pPr algn="l"/>
            <a:r>
              <a:rPr lang="en-US" sz="1400" b="0" dirty="0">
                <a:solidFill>
                  <a:srgbClr val="192B40"/>
                </a:solidFill>
                <a:latin typeface="Aptos"/>
              </a:rPr>
              <a:t xml:space="preserve">POST  /api/payments</a:t>
            </a:r>
            <a:endParaRPr lang="en-US" sz="1400"/>
          </a:p>
          <a:p>
            <a:pPr algn="l"/>
            <a:r>
              <a:rPr lang="en-US" sz="1400" b="0" dirty="0">
                <a:solidFill>
                  <a:srgbClr val="192B40"/>
                </a:solidFill>
                <a:latin typeface="Aptos"/>
              </a:rPr>
              <a:t xml:space="preserve">GET   /api/customers/{id}/ledger</a:t>
            </a:r>
            <a:endParaRPr lang="en-US" sz="1400"/>
          </a:p>
          <a:p>
            <a:pPr algn="l"/>
            <a:r>
              <a:rPr lang="en-US" sz="1400" b="0" dirty="0">
                <a:solidFill>
                  <a:srgbClr val="192B40"/>
                </a:solidFill>
                <a:latin typeface="Aptos"/>
              </a:rPr>
              <a:t xml:space="preserve">GET   /api/reports/outstanding</a:t>
            </a:r>
            <a:endParaRPr lang="en-US" sz="1400"/>
          </a:p>
        </p:txBody>
      </p:sp>
      <p:sp>
        <p:nvSpPr>
          <p:cNvPr id="25" name="Shape 24"/>
          <p:cNvSpPr/>
          <p:nvPr/>
        </p:nvSpPr>
        <p:spPr>
          <a:xfrm>
            <a:off x="6254496" y="4992624"/>
            <a:ext cx="4937760" cy="694944"/>
          </a:xfrm>
          <a:prstGeom prst="roundRect">
            <a:avLst/>
          </a:prstGeom>
          <a:solidFill>
            <a:srgbClr val="E5F5F2"/>
          </a:solidFill>
          <a:ln>
            <a:noFill/>
          </a:ln>
        </p:spPr>
      </p:sp>
      <p:sp>
        <p:nvSpPr>
          <p:cNvPr id="26" name="Text 25"/>
          <p:cNvSpPr txBox="1"/>
          <p:nvPr/>
        </p:nvSpPr>
        <p:spPr>
          <a:xfrm>
            <a:off x="6473952" y="5157216"/>
            <a:ext cx="452628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200" b="1" dirty="0">
                <a:solidFill>
                  <a:srgbClr val="10243A"/>
                </a:solidFill>
                <a:latin typeface="Aptos"/>
              </a:rPr>
              <a:t xml:space="preserve">Errors use explicit HTTP status + JSON message.</a:t>
            </a:r>
            <a:endParaRPr lang="en-US" sz="1200"/>
          </a:p>
        </p:txBody>
      </p:sp>
      <p:sp>
        <p:nvSpPr>
          <p:cNvPr id="27" name="Text 26"/>
          <p:cNvSpPr txBox="1"/>
          <p:nvPr/>
        </p:nvSpPr>
        <p:spPr>
          <a:xfrm>
            <a:off x="822960" y="5833872"/>
            <a:ext cx="104241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100" b="0" dirty="0">
                <a:solidFill>
                  <a:srgbClr val="63758A"/>
                </a:solidFill>
                <a:latin typeface="Aptos"/>
              </a:rPr>
              <a:t xml:space="preserve">HTML5 + CSS3  •  Vanilla JavaScript  •  Bootstrap 5.3  •  Fetch API  •  Hash navigation  •  Session + CSRF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</p:sp>
      <p:sp>
        <p:nvSpPr>
          <p:cNvPr id="3" name="Shap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6B8A6"/>
          </a:solidFill>
          <a:ln>
            <a:noFill/>
          </a:ln>
        </p:spPr>
      </p:sp>
      <p:sp>
        <p:nvSpPr>
          <p:cNvPr id="4" name="Text 3"/>
          <p:cNvSpPr txBox="1"/>
          <p:nvPr/>
        </p:nvSpPr>
        <p:spPr>
          <a:xfrm>
            <a:off x="594360" y="347472"/>
            <a:ext cx="89611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000" b="1" dirty="0">
                <a:solidFill>
                  <a:srgbClr val="16B8A6"/>
                </a:solidFill>
                <a:latin typeface="Aptos"/>
              </a:rPr>
              <a:t xml:space="preserve">12  /  TESTING &amp; RESULTS</a:t>
            </a:r>
            <a:endParaRPr lang="en-US" sz="1000"/>
          </a:p>
        </p:txBody>
      </p:sp>
      <p:sp>
        <p:nvSpPr>
          <p:cNvPr id="5" name="Text 4"/>
          <p:cNvSpPr txBox="1"/>
          <p:nvPr/>
        </p:nvSpPr>
        <p:spPr>
          <a:xfrm>
            <a:off x="594360" y="694944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2900" b="1" dirty="0">
                <a:solidFill>
                  <a:srgbClr val="10243A"/>
                </a:solidFill>
                <a:latin typeface="Aptos"/>
              </a:rPr>
              <a:t xml:space="preserve">What was tested and verified</a:t>
            </a:r>
            <a:endParaRPr lang="en-US" sz="2900"/>
          </a:p>
        </p:txBody>
      </p:sp>
      <p:sp>
        <p:nvSpPr>
          <p:cNvPr id="6" name="Shape 5"/>
          <p:cNvSpPr/>
          <p:nvPr/>
        </p:nvSpPr>
        <p:spPr>
          <a:xfrm>
            <a:off x="594360" y="1353312"/>
            <a:ext cx="10972800" cy="16459"/>
          </a:xfrm>
          <a:prstGeom prst="rect">
            <a:avLst/>
          </a:prstGeom>
          <a:solidFill>
            <a:srgbClr val="D8E1E9"/>
          </a:solidFill>
          <a:ln>
            <a:noFill/>
          </a:ln>
        </p:spPr>
      </p:sp>
      <p:sp>
        <p:nvSpPr>
          <p:cNvPr id="7" name="Text 6"/>
          <p:cNvSpPr txBox="1"/>
          <p:nvPr/>
        </p:nvSpPr>
        <p:spPr>
          <a:xfrm>
            <a:off x="594360" y="6510528"/>
            <a:ext cx="89611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00" b="0" dirty="0">
                <a:solidFill>
                  <a:srgbClr val="63758A"/>
                </a:solidFill>
                <a:latin typeface="Aptos"/>
              </a:rPr>
              <a:t xml:space="preserve">SMART SHOP CREDIT TRACKER  •  SUMMER INTERNSHIP</a:t>
            </a:r>
            <a:endParaRPr lang="en-US" sz="800"/>
          </a:p>
        </p:txBody>
      </p:sp>
      <p:sp>
        <p:nvSpPr>
          <p:cNvPr id="8" name="Text 7"/>
          <p:cNvSpPr txBox="1"/>
          <p:nvPr/>
        </p:nvSpPr>
        <p:spPr>
          <a:xfrm>
            <a:off x="11018520" y="6473952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1000" b="1" dirty="0">
                <a:solidFill>
                  <a:srgbClr val="16B8A6"/>
                </a:solidFill>
                <a:latin typeface="Aptos"/>
              </a:rPr>
              <a:t xml:space="preserve">13</a:t>
            </a:r>
            <a:endParaRPr lang="en-US" sz="1000"/>
          </a:p>
        </p:txBody>
      </p:sp>
      <p:sp>
        <p:nvSpPr>
          <p:cNvPr id="9" name="Shape 8"/>
          <p:cNvSpPr/>
          <p:nvPr/>
        </p:nvSpPr>
        <p:spPr>
          <a:xfrm>
            <a:off x="749808" y="1783080"/>
            <a:ext cx="5074920" cy="34930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" name="Shape 9"/>
          <p:cNvSpPr/>
          <p:nvPr/>
        </p:nvSpPr>
        <p:spPr>
          <a:xfrm>
            <a:off x="749808" y="1783080"/>
            <a:ext cx="5074920" cy="530352"/>
          </a:xfrm>
          <a:prstGeom prst="roundRect">
            <a:avLst/>
          </a:prstGeom>
          <a:solidFill>
            <a:srgbClr val="42A77A"/>
          </a:solidFill>
          <a:ln>
            <a:noFill/>
          </a:ln>
        </p:spPr>
      </p:sp>
      <p:sp>
        <p:nvSpPr>
          <p:cNvPr id="11" name="Text 10"/>
          <p:cNvSpPr txBox="1"/>
          <p:nvPr/>
        </p:nvSpPr>
        <p:spPr>
          <a:xfrm>
            <a:off x="987552" y="1929384"/>
            <a:ext cx="4553712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300" b="1" dirty="0">
                <a:solidFill>
                  <a:srgbClr val="FFFFFF"/>
                </a:solidFill>
                <a:latin typeface="Aptos"/>
              </a:rPr>
              <a:t xml:space="preserve">AUTOMATED UNIT TESTS</a:t>
            </a:r>
            <a:endParaRPr lang="en-US" sz="1300"/>
          </a:p>
        </p:txBody>
      </p:sp>
      <p:sp>
        <p:nvSpPr>
          <p:cNvPr id="12" name="Text 11"/>
          <p:cNvSpPr txBox="1"/>
          <p:nvPr/>
        </p:nvSpPr>
        <p:spPr>
          <a:xfrm>
            <a:off x="1024128" y="2633472"/>
            <a:ext cx="4480560" cy="20574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"/>
            <a:r>
              <a:rPr lang="en-US" sz="1400" b="0" dirty="0">
                <a:solidFill>
                  <a:srgbClr val="192B40"/>
                </a:solidFill>
                <a:latin typeface="Aptos"/>
              </a:rPr>
              <a:t xml:space="preserve">✓ Overpayment is rejected</a:t>
            </a:r>
            <a:endParaRPr lang="en-US" sz="1400"/>
          </a:p>
          <a:p>
            <a:pPr algn="l"/>
            <a:r>
              <a:rPr lang="en-US" sz="1400" b="0" dirty="0">
                <a:solidFill>
                  <a:srgbClr val="192B40"/>
                </a:solidFill>
                <a:latin typeface="Aptos"/>
              </a:rPr>
              <a:t xml:space="preserve">✓ Partial payment updates balance</a:t>
            </a:r>
            <a:endParaRPr lang="en-US" sz="1400"/>
          </a:p>
          <a:p>
            <a:pPr algn="l"/>
            <a:r>
              <a:rPr lang="en-US" sz="1400" b="0" dirty="0">
                <a:solidFill>
                  <a:srgbClr val="192B40"/>
                </a:solidFill>
                <a:latin typeface="Aptos"/>
              </a:rPr>
              <a:t xml:space="preserve">✓ Full payment clears the balance</a:t>
            </a:r>
            <a:endParaRPr lang="en-US" sz="1400"/>
          </a:p>
          <a:p>
            <a:pPr algn="l"/>
            <a:r>
              <a:rPr lang="en-US" sz="1400" b="0" dirty="0">
                <a:solidFill>
                  <a:srgbClr val="192B40"/>
                </a:solidFill>
                <a:latin typeface="Aptos"/>
              </a:rPr>
              <a:t xml:space="preserve">✓ Duplicate retry is not inserted twice</a:t>
            </a:r>
            <a:endParaRPr lang="en-US" sz="1400"/>
          </a:p>
          <a:p>
            <a:pPr algn="l"/>
            <a:r>
              <a:rPr lang="en-US" sz="1400" b="0" dirty="0">
                <a:solidFill>
                  <a:srgbClr val="192B40"/>
                </a:solidFill>
                <a:latin typeface="Aptos"/>
              </a:rPr>
              <a:t xml:space="preserve">✓ Amount precision / positivity validated</a:t>
            </a:r>
            <a:endParaRPr lang="en-US" sz="1400"/>
          </a:p>
        </p:txBody>
      </p:sp>
      <p:sp>
        <p:nvSpPr>
          <p:cNvPr id="13" name="Shape 12"/>
          <p:cNvSpPr/>
          <p:nvPr/>
        </p:nvSpPr>
        <p:spPr>
          <a:xfrm>
            <a:off x="6309360" y="1783080"/>
            <a:ext cx="5074920" cy="34930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4" name="Shape 13"/>
          <p:cNvSpPr/>
          <p:nvPr/>
        </p:nvSpPr>
        <p:spPr>
          <a:xfrm>
            <a:off x="6309360" y="1783080"/>
            <a:ext cx="5074920" cy="530352"/>
          </a:xfrm>
          <a:prstGeom prst="roundRect">
            <a:avLst/>
          </a:prstGeom>
          <a:solidFill>
            <a:srgbClr val="F2A65A"/>
          </a:solidFill>
          <a:ln>
            <a:noFill/>
          </a:ln>
        </p:spPr>
      </p:sp>
      <p:sp>
        <p:nvSpPr>
          <p:cNvPr id="15" name="Text 14"/>
          <p:cNvSpPr txBox="1"/>
          <p:nvPr/>
        </p:nvSpPr>
        <p:spPr>
          <a:xfrm>
            <a:off x="6556248" y="1929384"/>
            <a:ext cx="45262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300" b="1" dirty="0">
                <a:solidFill>
                  <a:srgbClr val="FFFFFF"/>
                </a:solidFill>
                <a:latin typeface="Aptos"/>
              </a:rPr>
              <a:t xml:space="preserve">VERIFIED IN MYSQL &amp; WEB UI</a:t>
            </a:r>
            <a:endParaRPr lang="en-US" sz="1300"/>
          </a:p>
        </p:txBody>
      </p:sp>
      <p:sp>
        <p:nvSpPr>
          <p:cNvPr id="16" name="Text 15"/>
          <p:cNvSpPr txBox="1"/>
          <p:nvPr/>
        </p:nvSpPr>
        <p:spPr>
          <a:xfrm>
            <a:off x="6583680" y="2633472"/>
            <a:ext cx="4480560" cy="20574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"/>
            <a:r>
              <a:rPr lang="en-US" sz="1400" b="0" dirty="0">
                <a:solidFill>
                  <a:srgbClr val="192B40"/>
                </a:solidFill>
                <a:latin typeface="Aptos"/>
              </a:rPr>
              <a:t xml:space="preserve">• Records saved in MySQL tables</a:t>
            </a:r>
            <a:endParaRPr lang="en-US" sz="1400"/>
          </a:p>
          <a:p>
            <a:pPr algn="l"/>
            <a:r>
              <a:rPr lang="en-US" sz="1400" b="0" dirty="0">
                <a:solidFill>
                  <a:srgbClr val="192B40"/>
                </a:solidFill>
                <a:latin typeface="Aptos"/>
              </a:rPr>
              <a:t xml:space="preserve">• Login, dues and reports tested in browser</a:t>
            </a:r>
            <a:endParaRPr lang="en-US" sz="1400"/>
          </a:p>
          <a:p>
            <a:pPr algn="l"/>
            <a:r>
              <a:rPr lang="en-US" sz="1400" b="0" dirty="0">
                <a:solidFill>
                  <a:srgbClr val="192B40"/>
                </a:solidFill>
                <a:latin typeface="Aptos"/>
              </a:rPr>
              <a:t xml:space="preserve">• Balance matches tables (₹2,000 − ₹499.99)</a:t>
            </a:r>
            <a:endParaRPr lang="en-US" sz="1400"/>
          </a:p>
          <a:p>
            <a:pPr algn="l"/>
            <a:r>
              <a:rPr lang="en-US" sz="1400" b="0" dirty="0">
                <a:solidFill>
                  <a:srgbClr val="192B40"/>
                </a:solidFill>
                <a:latin typeface="Aptos"/>
              </a:rPr>
              <a:t xml:space="preserve">• Credit and outstanding reports checked</a:t>
            </a:r>
            <a:endParaRPr lang="en-US" sz="1400"/>
          </a:p>
          <a:p>
            <a:pPr algn="l"/>
            <a:r>
              <a:rPr lang="en-US" sz="1400" b="0" dirty="0">
                <a:solidFill>
                  <a:srgbClr val="192B40"/>
                </a:solidFill>
                <a:latin typeface="Aptos"/>
              </a:rPr>
              <a:t xml:space="preserve">• Data verified with SELECT queries</a:t>
            </a:r>
            <a:endParaRPr lang="en-US" sz="1400"/>
          </a:p>
        </p:txBody>
      </p:sp>
      <p:sp>
        <p:nvSpPr>
          <p:cNvPr id="17" name="Text 16"/>
          <p:cNvSpPr txBox="1"/>
          <p:nvPr/>
        </p:nvSpPr>
        <p:spPr>
          <a:xfrm>
            <a:off x="804672" y="5559552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200" b="1" dirty="0">
                <a:solidFill>
                  <a:srgbClr val="63758A"/>
                </a:solidFill>
                <a:latin typeface="Aptos"/>
              </a:rPr>
              <a:t xml:space="preserve">14 test cases recorded in the report: 9 through the web UI and MySQL, 5 JUnit tests.</a:t>
            </a:r>
            <a:endParaRPr lang="en-US" sz="1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</p:sp>
      <p:sp>
        <p:nvSpPr>
          <p:cNvPr id="3" name="Shap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6B8A6"/>
          </a:solidFill>
          <a:ln>
            <a:noFill/>
          </a:ln>
        </p:spPr>
      </p:sp>
      <p:sp>
        <p:nvSpPr>
          <p:cNvPr id="4" name="Text 3"/>
          <p:cNvSpPr txBox="1"/>
          <p:nvPr/>
        </p:nvSpPr>
        <p:spPr>
          <a:xfrm>
            <a:off x="594360" y="347472"/>
            <a:ext cx="89611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000" b="1" dirty="0">
                <a:solidFill>
                  <a:srgbClr val="16B8A6"/>
                </a:solidFill>
                <a:latin typeface="Aptos"/>
              </a:rPr>
              <a:t xml:space="preserve">13  /  CRITICAL REVIEW</a:t>
            </a:r>
            <a:endParaRPr lang="en-US" sz="1000"/>
          </a:p>
        </p:txBody>
      </p:sp>
      <p:sp>
        <p:nvSpPr>
          <p:cNvPr id="5" name="Text 4"/>
          <p:cNvSpPr txBox="1"/>
          <p:nvPr/>
        </p:nvSpPr>
        <p:spPr>
          <a:xfrm>
            <a:off x="594360" y="694944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2900" b="1" dirty="0">
                <a:solidFill>
                  <a:srgbClr val="10243A"/>
                </a:solidFill>
                <a:latin typeface="Aptos"/>
              </a:rPr>
              <a:t xml:space="preserve">Good foundation — with clear next steps</a:t>
            </a:r>
            <a:endParaRPr lang="en-US" sz="2900"/>
          </a:p>
        </p:txBody>
      </p:sp>
      <p:sp>
        <p:nvSpPr>
          <p:cNvPr id="6" name="Shape 5"/>
          <p:cNvSpPr/>
          <p:nvPr/>
        </p:nvSpPr>
        <p:spPr>
          <a:xfrm>
            <a:off x="594360" y="1353312"/>
            <a:ext cx="10972800" cy="16459"/>
          </a:xfrm>
          <a:prstGeom prst="rect">
            <a:avLst/>
          </a:prstGeom>
          <a:solidFill>
            <a:srgbClr val="D8E1E9"/>
          </a:solidFill>
          <a:ln>
            <a:noFill/>
          </a:ln>
        </p:spPr>
      </p:sp>
      <p:sp>
        <p:nvSpPr>
          <p:cNvPr id="7" name="Text 6"/>
          <p:cNvSpPr txBox="1"/>
          <p:nvPr/>
        </p:nvSpPr>
        <p:spPr>
          <a:xfrm>
            <a:off x="594360" y="6510528"/>
            <a:ext cx="89611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00" b="0" dirty="0">
                <a:solidFill>
                  <a:srgbClr val="63758A"/>
                </a:solidFill>
                <a:latin typeface="Aptos"/>
              </a:rPr>
              <a:t xml:space="preserve">SMART SHOP CREDIT TRACKER  •  SUMMER INTERNSHIP</a:t>
            </a:r>
            <a:endParaRPr lang="en-US" sz="800"/>
          </a:p>
        </p:txBody>
      </p:sp>
      <p:sp>
        <p:nvSpPr>
          <p:cNvPr id="8" name="Text 7"/>
          <p:cNvSpPr txBox="1"/>
          <p:nvPr/>
        </p:nvSpPr>
        <p:spPr>
          <a:xfrm>
            <a:off x="11018520" y="6473952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1000" b="1" dirty="0">
                <a:solidFill>
                  <a:srgbClr val="16B8A6"/>
                </a:solidFill>
                <a:latin typeface="Aptos"/>
              </a:rPr>
              <a:t xml:space="preserve">14</a:t>
            </a:r>
            <a:endParaRPr lang="en-US" sz="1000"/>
          </a:p>
        </p:txBody>
      </p:sp>
      <p:sp>
        <p:nvSpPr>
          <p:cNvPr id="9" name="Text 8"/>
          <p:cNvSpPr txBox="1"/>
          <p:nvPr/>
        </p:nvSpPr>
        <p:spPr>
          <a:xfrm>
            <a:off x="822960" y="1755648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300" b="1" dirty="0">
                <a:solidFill>
                  <a:srgbClr val="F2A65A"/>
                </a:solidFill>
                <a:latin typeface="Aptos"/>
              </a:rPr>
              <a:t xml:space="preserve">CURRENT LIMITATIONS</a:t>
            </a:r>
            <a:endParaRPr lang="en-US" sz="1300"/>
          </a:p>
        </p:txBody>
      </p:sp>
      <p:sp>
        <p:nvSpPr>
          <p:cNvPr id="10" name="Text 9"/>
          <p:cNvSpPr txBox="1"/>
          <p:nvPr/>
        </p:nvSpPr>
        <p:spPr>
          <a:xfrm>
            <a:off x="822960" y="2249424"/>
            <a:ext cx="4983480" cy="2487168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"/>
            <a:r>
              <a:rPr lang="en-US" sz="1400" b="0" dirty="0">
                <a:solidFill>
                  <a:srgbClr val="192B40"/>
                </a:solidFill>
                <a:latin typeface="Aptos"/>
              </a:rPr>
              <a:t xml:space="preserve">• Payments are not allocated to specific purchases</a:t>
            </a:r>
            <a:endParaRPr lang="en-US" sz="1400"/>
          </a:p>
          <a:p>
            <a:pPr algn="l"/>
            <a:r>
              <a:rPr lang="en-US" sz="1400" b="0" dirty="0">
                <a:solidFill>
                  <a:srgbClr val="192B40"/>
                </a:solidFill>
                <a:latin typeface="Aptos"/>
              </a:rPr>
              <a:t xml:space="preserve">• Oldest-credit age is therefore an estimate</a:t>
            </a:r>
            <a:endParaRPr lang="en-US" sz="1400"/>
          </a:p>
          <a:p>
            <a:pPr algn="l"/>
            <a:r>
              <a:rPr lang="en-US" sz="1400" b="0" dirty="0">
                <a:solidFill>
                  <a:srgbClr val="192B40"/>
                </a:solidFill>
                <a:latin typeface="Aptos"/>
              </a:rPr>
              <a:t xml:space="preserve">• No detailed audit / correction workflow</a:t>
            </a:r>
            <a:endParaRPr lang="en-US" sz="1400"/>
          </a:p>
          <a:p>
            <a:pPr algn="l"/>
            <a:r>
              <a:rPr lang="en-US" sz="1400" b="0" dirty="0">
                <a:solidFill>
                  <a:srgbClr val="192B40"/>
                </a:solidFill>
                <a:latin typeface="Aptos"/>
              </a:rPr>
              <a:t xml:space="preserve">• No password-reset or staff-admin screen</a:t>
            </a:r>
            <a:endParaRPr lang="en-US" sz="1400"/>
          </a:p>
          <a:p>
            <a:pPr algn="l"/>
            <a:r>
              <a:rPr lang="en-US" sz="1400" b="0" dirty="0">
                <a:solidFill>
                  <a:srgbClr val="192B40"/>
                </a:solidFill>
                <a:latin typeface="Aptos"/>
              </a:rPr>
              <a:t xml:space="preserve">• No backup, deployment or multi-shop operations</a:t>
            </a:r>
            <a:endParaRPr lang="en-US" sz="1400"/>
          </a:p>
        </p:txBody>
      </p:sp>
      <p:sp>
        <p:nvSpPr>
          <p:cNvPr id="11" name="Shape 10"/>
          <p:cNvSpPr/>
          <p:nvPr/>
        </p:nvSpPr>
        <p:spPr>
          <a:xfrm>
            <a:off x="5989320" y="1874520"/>
            <a:ext cx="36576" cy="2834640"/>
          </a:xfrm>
          <a:prstGeom prst="rect">
            <a:avLst/>
          </a:prstGeom>
          <a:solidFill>
            <a:srgbClr val="D8E1E9"/>
          </a:solidFill>
          <a:ln>
            <a:noFill/>
          </a:ln>
        </p:spPr>
      </p:sp>
      <p:sp>
        <p:nvSpPr>
          <p:cNvPr id="12" name="Text 11"/>
          <p:cNvSpPr txBox="1"/>
          <p:nvPr/>
        </p:nvSpPr>
        <p:spPr>
          <a:xfrm>
            <a:off x="6419088" y="1755648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300" b="1" dirty="0">
                <a:solidFill>
                  <a:srgbClr val="16B8A6"/>
                </a:solidFill>
                <a:latin typeface="Aptos"/>
              </a:rPr>
              <a:t xml:space="preserve">RECOMMENDED ROADMAP</a:t>
            </a:r>
            <a:endParaRPr lang="en-US" sz="1300"/>
          </a:p>
        </p:txBody>
      </p:sp>
      <p:sp>
        <p:nvSpPr>
          <p:cNvPr id="13" name="Text 12"/>
          <p:cNvSpPr txBox="1"/>
          <p:nvPr/>
        </p:nvSpPr>
        <p:spPr>
          <a:xfrm>
            <a:off x="6419088" y="2249424"/>
            <a:ext cx="4983480" cy="2487168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"/>
            <a:r>
              <a:rPr lang="en-US" sz="1400" b="0" dirty="0">
                <a:solidFill>
                  <a:srgbClr val="192B40"/>
                </a:solidFill>
                <a:latin typeface="Aptos"/>
              </a:rPr>
              <a:t xml:space="preserve">1. Allocate repayments to credit invoices</a:t>
            </a:r>
            <a:endParaRPr lang="en-US" sz="1400"/>
          </a:p>
          <a:p>
            <a:pPr algn="l"/>
            <a:r>
              <a:rPr lang="en-US" sz="1400" b="0" dirty="0">
                <a:solidFill>
                  <a:srgbClr val="192B40"/>
                </a:solidFill>
                <a:latin typeface="Aptos"/>
              </a:rPr>
              <a:t xml:space="preserve">2. Add auditable corrections and staff roles</a:t>
            </a:r>
            <a:endParaRPr lang="en-US" sz="1400"/>
          </a:p>
          <a:p>
            <a:pPr algn="l"/>
            <a:r>
              <a:rPr lang="en-US" sz="1400" b="0" dirty="0">
                <a:solidFill>
                  <a:srgbClr val="192B40"/>
                </a:solidFill>
                <a:latin typeface="Aptos"/>
              </a:rPr>
              <a:t xml:space="preserve">3. Add tested backup / restore procedures</a:t>
            </a:r>
            <a:endParaRPr lang="en-US" sz="1400"/>
          </a:p>
          <a:p>
            <a:pPr algn="l"/>
            <a:r>
              <a:rPr lang="en-US" sz="1400" b="0" dirty="0">
                <a:solidFill>
                  <a:srgbClr val="192B40"/>
                </a:solidFill>
                <a:latin typeface="Aptos"/>
              </a:rPr>
              <a:t xml:space="preserve">4. Run integration, security and usability tests</a:t>
            </a:r>
            <a:endParaRPr lang="en-US" sz="1400"/>
          </a:p>
          <a:p>
            <a:pPr algn="l"/>
            <a:r>
              <a:rPr lang="en-US" sz="1400" b="0" dirty="0">
                <a:solidFill>
                  <a:srgbClr val="192B40"/>
                </a:solidFill>
                <a:latin typeface="Aptos"/>
              </a:rPr>
              <a:t xml:space="preserve">5. Deploy behind HTTPS with production settings</a:t>
            </a:r>
            <a:endParaRPr lang="en-US" sz="1400"/>
          </a:p>
        </p:txBody>
      </p:sp>
      <p:sp>
        <p:nvSpPr>
          <p:cNvPr id="14" name="Shape 13"/>
          <p:cNvSpPr/>
          <p:nvPr/>
        </p:nvSpPr>
        <p:spPr>
          <a:xfrm>
            <a:off x="786384" y="5193792"/>
            <a:ext cx="10469880" cy="612648"/>
          </a:xfrm>
          <a:prstGeom prst="roundRect">
            <a:avLst/>
          </a:prstGeom>
          <a:solidFill>
            <a:srgbClr val="FFF1E3"/>
          </a:solidFill>
          <a:ln>
            <a:noFill/>
          </a:ln>
        </p:spPr>
      </p:sp>
      <p:sp>
        <p:nvSpPr>
          <p:cNvPr id="15" name="Text 14"/>
          <p:cNvSpPr txBox="1"/>
          <p:nvPr/>
        </p:nvSpPr>
        <p:spPr>
          <a:xfrm>
            <a:off x="1005840" y="5349240"/>
            <a:ext cx="100126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300" b="1" dirty="0">
                <a:solidFill>
                  <a:srgbClr val="10243A"/>
                </a:solidFill>
                <a:latin typeface="Aptos"/>
              </a:rPr>
              <a:t xml:space="preserve">Recommendation: extend this prototype with the roadmap above before real shop deployment.</a:t>
            </a:r>
            <a:endParaRPr lang="en-US" sz="13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</p:sp>
      <p:sp>
        <p:nvSpPr>
          <p:cNvPr id="3" name="Shap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6B8A6"/>
          </a:solidFill>
          <a:ln>
            <a:noFill/>
          </a:ln>
        </p:spPr>
      </p:sp>
      <p:sp>
        <p:nvSpPr>
          <p:cNvPr id="4" name="Text 3"/>
          <p:cNvSpPr txBox="1"/>
          <p:nvPr/>
        </p:nvSpPr>
        <p:spPr>
          <a:xfrm>
            <a:off x="594360" y="347472"/>
            <a:ext cx="89611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000" b="1" dirty="0">
                <a:solidFill>
                  <a:srgbClr val="16B8A6"/>
                </a:solidFill>
                <a:latin typeface="Aptos"/>
              </a:rPr>
              <a:t xml:space="preserve">15  /  CONCLUSION</a:t>
            </a:r>
            <a:endParaRPr lang="en-US" sz="1000"/>
          </a:p>
        </p:txBody>
      </p:sp>
      <p:sp>
        <p:nvSpPr>
          <p:cNvPr id="5" name="Text 4"/>
          <p:cNvSpPr txBox="1"/>
          <p:nvPr/>
        </p:nvSpPr>
        <p:spPr>
          <a:xfrm>
            <a:off x="594360" y="694944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2900" b="1" dirty="0">
                <a:solidFill>
                  <a:srgbClr val="10243A"/>
                </a:solidFill>
                <a:latin typeface="Aptos"/>
              </a:rPr>
              <a:t xml:space="preserve">A practical academic project with a credible core</a:t>
            </a:r>
            <a:endParaRPr lang="en-US" sz="2900"/>
          </a:p>
        </p:txBody>
      </p:sp>
      <p:sp>
        <p:nvSpPr>
          <p:cNvPr id="6" name="Shape 5"/>
          <p:cNvSpPr/>
          <p:nvPr/>
        </p:nvSpPr>
        <p:spPr>
          <a:xfrm>
            <a:off x="594360" y="1353312"/>
            <a:ext cx="10972800" cy="16459"/>
          </a:xfrm>
          <a:prstGeom prst="rect">
            <a:avLst/>
          </a:prstGeom>
          <a:solidFill>
            <a:srgbClr val="D8E1E9"/>
          </a:solidFill>
          <a:ln>
            <a:noFill/>
          </a:ln>
        </p:spPr>
      </p:sp>
      <p:sp>
        <p:nvSpPr>
          <p:cNvPr id="7" name="Text 6"/>
          <p:cNvSpPr txBox="1"/>
          <p:nvPr/>
        </p:nvSpPr>
        <p:spPr>
          <a:xfrm>
            <a:off x="594360" y="6510528"/>
            <a:ext cx="89611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00" b="0" dirty="0">
                <a:solidFill>
                  <a:srgbClr val="63758A"/>
                </a:solidFill>
                <a:latin typeface="Aptos"/>
              </a:rPr>
              <a:t xml:space="preserve">SMART SHOP CREDIT TRACKER  •  SUMMER INTERNSHIP</a:t>
            </a:r>
            <a:endParaRPr lang="en-US" sz="800"/>
          </a:p>
        </p:txBody>
      </p:sp>
      <p:sp>
        <p:nvSpPr>
          <p:cNvPr id="8" name="Text 7"/>
          <p:cNvSpPr txBox="1"/>
          <p:nvPr/>
        </p:nvSpPr>
        <p:spPr>
          <a:xfrm>
            <a:off x="11018520" y="6473952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1000" b="1" dirty="0">
                <a:solidFill>
                  <a:srgbClr val="16B8A6"/>
                </a:solidFill>
                <a:latin typeface="Aptos"/>
              </a:rPr>
              <a:t xml:space="preserve">16</a:t>
            </a:r>
            <a:endParaRPr lang="en-US" sz="1000"/>
          </a:p>
        </p:txBody>
      </p:sp>
      <p:sp>
        <p:nvSpPr>
          <p:cNvPr id="9" name="Shape 8"/>
          <p:cNvSpPr/>
          <p:nvPr/>
        </p:nvSpPr>
        <p:spPr>
          <a:xfrm>
            <a:off x="749808" y="1783080"/>
            <a:ext cx="6675120" cy="3611880"/>
          </a:xfrm>
          <a:prstGeom prst="roundRect">
            <a:avLst/>
          </a:prstGeom>
          <a:solidFill>
            <a:srgbClr val="10243A"/>
          </a:solidFill>
          <a:ln>
            <a:noFill/>
          </a:ln>
        </p:spPr>
      </p:sp>
      <p:sp>
        <p:nvSpPr>
          <p:cNvPr id="10" name="Text 9"/>
          <p:cNvSpPr txBox="1"/>
          <p:nvPr/>
        </p:nvSpPr>
        <p:spPr>
          <a:xfrm>
            <a:off x="1097280" y="2103120"/>
            <a:ext cx="58521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300" b="1" dirty="0">
                <a:solidFill>
                  <a:srgbClr val="16B8A6"/>
                </a:solidFill>
                <a:latin typeface="Aptos"/>
              </a:rPr>
              <a:t xml:space="preserve">DEMO SEQUENCE</a:t>
            </a:r>
            <a:endParaRPr lang="en-US" sz="1300"/>
          </a:p>
        </p:txBody>
      </p:sp>
      <p:sp>
        <p:nvSpPr>
          <p:cNvPr id="11" name="Text 10"/>
          <p:cNvSpPr txBox="1"/>
          <p:nvPr/>
        </p:nvSpPr>
        <p:spPr>
          <a:xfrm>
            <a:off x="1097280" y="2697480"/>
            <a:ext cx="5897880" cy="201168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"/>
            <a:r>
              <a:rPr lang="en-US" sz="1500" b="0" dirty="0">
                <a:solidFill>
                  <a:srgbClr val="FFFFFF"/>
                </a:solidFill>
                <a:latin typeface="Aptos"/>
              </a:rPr>
              <a:t xml:space="preserve">1. Sign in as staff</a:t>
            </a:r>
            <a:endParaRPr lang="en-US" sz="1500"/>
          </a:p>
          <a:p>
            <a:pPr algn="l"/>
            <a:r>
              <a:rPr lang="en-US" sz="1500" b="0" dirty="0">
                <a:solidFill>
                  <a:srgbClr val="FFFFFF"/>
                </a:solidFill>
                <a:latin typeface="Aptos"/>
              </a:rPr>
              <a:t xml:space="preserve">2. Find or create a customer</a:t>
            </a:r>
            <a:endParaRPr lang="en-US" sz="1500"/>
          </a:p>
          <a:p>
            <a:pPr algn="l"/>
            <a:r>
              <a:rPr lang="en-US" sz="1500" b="0" dirty="0">
                <a:solidFill>
                  <a:srgbClr val="FFFFFF"/>
                </a:solidFill>
                <a:latin typeface="Aptos"/>
              </a:rPr>
              <a:t xml:space="preserve">3. Add ₹2,000 credit</a:t>
            </a:r>
            <a:endParaRPr lang="en-US" sz="1500"/>
          </a:p>
          <a:p>
            <a:pPr algn="l"/>
            <a:r>
              <a:rPr lang="en-US" sz="1500" b="0" dirty="0">
                <a:solidFill>
                  <a:srgbClr val="FFFFFF"/>
                </a:solidFill>
                <a:latin typeface="Aptos"/>
              </a:rPr>
              <a:t xml:space="preserve">4. Record ₹499.99 payment → show ₹1,500.01 due</a:t>
            </a:r>
            <a:endParaRPr lang="en-US" sz="1500"/>
          </a:p>
          <a:p>
            <a:pPr algn="l"/>
            <a:r>
              <a:rPr lang="en-US" sz="1500" b="0" dirty="0">
                <a:solidFill>
                  <a:srgbClr val="FFFFFF"/>
                </a:solidFill>
                <a:latin typeface="Aptos"/>
              </a:rPr>
              <a:t xml:space="preserve">5. Pay ₹1,500.01 → confirm zero balance</a:t>
            </a:r>
            <a:endParaRPr lang="en-US" sz="1500"/>
          </a:p>
          <a:p>
            <a:pPr algn="l"/>
            <a:r>
              <a:rPr lang="en-US" sz="1500" b="0" dirty="0">
                <a:solidFill>
                  <a:srgbClr val="FFFFFF"/>
                </a:solidFill>
                <a:latin typeface="Aptos"/>
              </a:rPr>
              <a:t xml:space="preserve">6. Show ledger and report</a:t>
            </a:r>
            <a:endParaRPr lang="en-US" sz="1500"/>
          </a:p>
        </p:txBody>
      </p:sp>
      <p:sp>
        <p:nvSpPr>
          <p:cNvPr id="12" name="Shape 11"/>
          <p:cNvSpPr/>
          <p:nvPr/>
        </p:nvSpPr>
        <p:spPr>
          <a:xfrm>
            <a:off x="7818120" y="1783080"/>
            <a:ext cx="342900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" name="Shape 12"/>
          <p:cNvSpPr/>
          <p:nvPr/>
        </p:nvSpPr>
        <p:spPr>
          <a:xfrm>
            <a:off x="7818120" y="1783080"/>
            <a:ext cx="64008" cy="1554480"/>
          </a:xfrm>
          <a:prstGeom prst="roundRect">
            <a:avLst/>
          </a:prstGeom>
          <a:solidFill>
            <a:srgbClr val="16B8A6"/>
          </a:solidFill>
          <a:ln>
            <a:noFill/>
          </a:ln>
        </p:spPr>
      </p:sp>
      <p:sp>
        <p:nvSpPr>
          <p:cNvPr id="14" name="Text 13"/>
          <p:cNvSpPr txBox="1"/>
          <p:nvPr/>
        </p:nvSpPr>
        <p:spPr>
          <a:xfrm>
            <a:off x="8037576" y="1947672"/>
            <a:ext cx="3008376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600" b="1" dirty="0">
                <a:solidFill>
                  <a:srgbClr val="10243A"/>
                </a:solidFill>
                <a:latin typeface="Aptos"/>
              </a:rPr>
              <a:t xml:space="preserve">Concept</a:t>
            </a:r>
            <a:endParaRPr lang="en-US" sz="1600"/>
          </a:p>
        </p:txBody>
      </p:sp>
      <p:sp>
        <p:nvSpPr>
          <p:cNvPr id="15" name="Text 14"/>
          <p:cNvSpPr txBox="1"/>
          <p:nvPr/>
        </p:nvSpPr>
        <p:spPr>
          <a:xfrm>
            <a:off x="8037576" y="2404872"/>
            <a:ext cx="2990088" cy="786384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"/>
            <a:r>
              <a:rPr lang="en-US" sz="1200" b="0" dirty="0">
                <a:solidFill>
                  <a:srgbClr val="63758A"/>
                </a:solidFill>
                <a:latin typeface="Aptos"/>
              </a:rPr>
              <a:t xml:space="preserve">Clear real-world use case.</a:t>
            </a:r>
            <a:endParaRPr lang="en-US" sz="1200"/>
          </a:p>
        </p:txBody>
      </p:sp>
      <p:sp>
        <p:nvSpPr>
          <p:cNvPr id="16" name="Shape 15"/>
          <p:cNvSpPr/>
          <p:nvPr/>
        </p:nvSpPr>
        <p:spPr>
          <a:xfrm>
            <a:off x="7818120" y="3584448"/>
            <a:ext cx="342900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7" name="Shape 16"/>
          <p:cNvSpPr/>
          <p:nvPr/>
        </p:nvSpPr>
        <p:spPr>
          <a:xfrm>
            <a:off x="7818120" y="3584448"/>
            <a:ext cx="64008" cy="1554480"/>
          </a:xfrm>
          <a:prstGeom prst="roundRect">
            <a:avLst/>
          </a:prstGeom>
          <a:solidFill>
            <a:srgbClr val="4C7CF3"/>
          </a:solidFill>
          <a:ln>
            <a:noFill/>
          </a:ln>
        </p:spPr>
      </p:sp>
      <p:sp>
        <p:nvSpPr>
          <p:cNvPr id="18" name="Text 17"/>
          <p:cNvSpPr txBox="1"/>
          <p:nvPr/>
        </p:nvSpPr>
        <p:spPr>
          <a:xfrm>
            <a:off x="8037576" y="3749040"/>
            <a:ext cx="3008376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600" b="1" dirty="0">
                <a:solidFill>
                  <a:srgbClr val="10243A"/>
                </a:solidFill>
                <a:latin typeface="Aptos"/>
              </a:rPr>
              <a:t xml:space="preserve">Engineering</a:t>
            </a:r>
            <a:endParaRPr lang="en-US" sz="1600"/>
          </a:p>
        </p:txBody>
      </p:sp>
      <p:sp>
        <p:nvSpPr>
          <p:cNvPr id="19" name="Text 18"/>
          <p:cNvSpPr txBox="1"/>
          <p:nvPr/>
        </p:nvSpPr>
        <p:spPr>
          <a:xfrm>
            <a:off x="8037576" y="4206240"/>
            <a:ext cx="2990088" cy="786384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"/>
            <a:r>
              <a:rPr lang="en-US" sz="1200" b="0" dirty="0">
                <a:solidFill>
                  <a:srgbClr val="63758A"/>
                </a:solidFill>
                <a:latin typeface="Aptos"/>
              </a:rPr>
              <a:t xml:space="preserve">Good transactional safeguards for a prototype.</a:t>
            </a:r>
            <a:endParaRPr lang="en-US" sz="1200"/>
          </a:p>
        </p:txBody>
      </p:sp>
      <p:sp>
        <p:nvSpPr>
          <p:cNvPr id="20" name="Text 19"/>
          <p:cNvSpPr txBox="1"/>
          <p:nvPr/>
        </p:nvSpPr>
        <p:spPr>
          <a:xfrm>
            <a:off x="822960" y="5733288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900" b="1" dirty="0">
                <a:solidFill>
                  <a:srgbClr val="10243A"/>
                </a:solidFill>
                <a:latin typeface="Aptos"/>
              </a:rPr>
              <a:t xml:space="preserve">Thank you  •  Questions?</a:t>
            </a:r>
            <a:endParaRPr lang="en-US" sz="1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</p:sp>
      <p:sp>
        <p:nvSpPr>
          <p:cNvPr id="3" name="Shap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6B8A6"/>
          </a:solidFill>
          <a:ln>
            <a:noFill/>
          </a:ln>
        </p:spPr>
      </p:sp>
      <p:sp>
        <p:nvSpPr>
          <p:cNvPr id="4" name="Text 3"/>
          <p:cNvSpPr txBox="1"/>
          <p:nvPr/>
        </p:nvSpPr>
        <p:spPr>
          <a:xfrm>
            <a:off x="594360" y="347472"/>
            <a:ext cx="89611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000" b="1" dirty="0">
                <a:solidFill>
                  <a:srgbClr val="16B8A6"/>
                </a:solidFill>
                <a:latin typeface="Aptos"/>
              </a:rPr>
              <a:t xml:space="preserve">03  /  OBJECTIVES &amp; SCOPE</a:t>
            </a:r>
            <a:endParaRPr lang="en-US" sz="1000"/>
          </a:p>
        </p:txBody>
      </p:sp>
      <p:sp>
        <p:nvSpPr>
          <p:cNvPr id="5" name="Text 4"/>
          <p:cNvSpPr txBox="1"/>
          <p:nvPr/>
        </p:nvSpPr>
        <p:spPr>
          <a:xfrm>
            <a:off x="594360" y="694944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2900" b="1" dirty="0">
                <a:solidFill>
                  <a:srgbClr val="10243A"/>
                </a:solidFill>
                <a:latin typeface="Aptos"/>
              </a:rPr>
              <a:t xml:space="preserve">What the project set out to achieve</a:t>
            </a:r>
            <a:endParaRPr lang="en-US" sz="2900"/>
          </a:p>
        </p:txBody>
      </p:sp>
      <p:sp>
        <p:nvSpPr>
          <p:cNvPr id="6" name="Shape 5"/>
          <p:cNvSpPr/>
          <p:nvPr/>
        </p:nvSpPr>
        <p:spPr>
          <a:xfrm>
            <a:off x="594360" y="1353312"/>
            <a:ext cx="10972800" cy="16459"/>
          </a:xfrm>
          <a:prstGeom prst="rect">
            <a:avLst/>
          </a:prstGeom>
          <a:solidFill>
            <a:srgbClr val="D8E1E9"/>
          </a:solidFill>
          <a:ln>
            <a:noFill/>
          </a:ln>
        </p:spPr>
      </p:sp>
      <p:sp>
        <p:nvSpPr>
          <p:cNvPr id="7" name="Text 6"/>
          <p:cNvSpPr txBox="1"/>
          <p:nvPr/>
        </p:nvSpPr>
        <p:spPr>
          <a:xfrm>
            <a:off x="594360" y="6510528"/>
            <a:ext cx="89611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00" b="0" dirty="0">
                <a:solidFill>
                  <a:srgbClr val="63758A"/>
                </a:solidFill>
                <a:latin typeface="Aptos"/>
              </a:rPr>
              <a:t xml:space="preserve">SMART SHOP CREDIT TRACKER  •  SUMMER INTERNSHIP</a:t>
            </a:r>
            <a:endParaRPr lang="en-US" sz="800"/>
          </a:p>
        </p:txBody>
      </p:sp>
      <p:sp>
        <p:nvSpPr>
          <p:cNvPr id="8" name="Text 7"/>
          <p:cNvSpPr txBox="1"/>
          <p:nvPr/>
        </p:nvSpPr>
        <p:spPr>
          <a:xfrm>
            <a:off x="11018520" y="6473952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1000" b="1" dirty="0">
                <a:solidFill>
                  <a:srgbClr val="16B8A6"/>
                </a:solidFill>
                <a:latin typeface="Aptos"/>
              </a:rPr>
              <a:t xml:space="preserve">04</a:t>
            </a:r>
            <a:endParaRPr lang="en-US" sz="1000"/>
          </a:p>
        </p:txBody>
      </p:sp>
      <p:sp>
        <p:nvSpPr>
          <p:cNvPr id="101" name="Shape 101"/>
          <p:cNvSpPr/>
          <p:nvPr/>
        </p:nvSpPr>
        <p:spPr>
          <a:xfrm>
            <a:off x="685800" y="1650000"/>
            <a:ext cx="5250200" cy="148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2" name="Shape 102"/>
          <p:cNvSpPr/>
          <p:nvPr/>
        </p:nvSpPr>
        <p:spPr>
          <a:xfrm>
            <a:off x="685800" y="1650000"/>
            <a:ext cx="64008" cy="1480000"/>
          </a:xfrm>
          <a:prstGeom prst="roundRect">
            <a:avLst/>
          </a:prstGeom>
          <a:solidFill>
            <a:srgbClr val="4C7CF3"/>
          </a:solidFill>
          <a:ln>
            <a:noFill/>
          </a:ln>
        </p:spPr>
      </p:sp>
      <p:sp>
        <p:nvSpPr>
          <p:cNvPr id="103" name="Text 103"/>
          <p:cNvSpPr txBox="1"/>
          <p:nvPr/>
        </p:nvSpPr>
        <p:spPr>
          <a:xfrm>
            <a:off x="905256" y="1800000"/>
            <a:ext cx="4870200" cy="3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600" b="1" dirty="0">
                <a:solidFill>
                  <a:srgbClr val="10243A"/>
                </a:solidFill>
                <a:latin typeface="Aptos"/>
              </a:rPr>
              <a:t xml:space="preserve">Digitise credit records</a:t>
            </a:r>
          </a:p>
        </p:txBody>
      </p:sp>
      <p:sp>
        <p:nvSpPr>
          <p:cNvPr id="104" name="Text 104"/>
          <p:cNvSpPr txBox="1"/>
          <p:nvPr/>
        </p:nvSpPr>
        <p:spPr>
          <a:xfrm>
            <a:off x="905256" y="2190000"/>
            <a:ext cx="4870200" cy="8400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"/>
            <a:r>
              <a:rPr lang="en-US" sz="1200" b="0" dirty="0">
                <a:solidFill>
                  <a:srgbClr val="63758A"/>
                </a:solidFill>
                <a:latin typeface="Aptos"/>
              </a:rPr>
              <a:t xml:space="preserve">Replace notebook entries with one customer-linked record of every credit and payment.</a:t>
            </a:r>
          </a:p>
        </p:txBody>
      </p:sp>
      <p:sp>
        <p:nvSpPr>
          <p:cNvPr id="105" name="Shape 105"/>
          <p:cNvSpPr/>
          <p:nvPr/>
        </p:nvSpPr>
        <p:spPr>
          <a:xfrm>
            <a:off x="6256000" y="1650000"/>
            <a:ext cx="5250200" cy="148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Shape 106"/>
          <p:cNvSpPr/>
          <p:nvPr/>
        </p:nvSpPr>
        <p:spPr>
          <a:xfrm>
            <a:off x="6256000" y="1650000"/>
            <a:ext cx="64008" cy="1480000"/>
          </a:xfrm>
          <a:prstGeom prst="roundRect">
            <a:avLst/>
          </a:prstGeom>
          <a:solidFill>
            <a:srgbClr val="16B8A6"/>
          </a:solidFill>
          <a:ln>
            <a:noFill/>
          </a:ln>
        </p:spPr>
      </p:sp>
      <p:sp>
        <p:nvSpPr>
          <p:cNvPr id="107" name="Text 107"/>
          <p:cNvSpPr txBox="1"/>
          <p:nvPr/>
        </p:nvSpPr>
        <p:spPr>
          <a:xfrm>
            <a:off x="6475456" y="1800000"/>
            <a:ext cx="4870200" cy="3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600" b="1" dirty="0">
                <a:solidFill>
                  <a:srgbClr val="10243A"/>
                </a:solidFill>
                <a:latin typeface="Aptos"/>
              </a:rPr>
              <a:t xml:space="preserve">Keep balances correct</a:t>
            </a:r>
          </a:p>
        </p:txBody>
      </p:sp>
      <p:sp>
        <p:nvSpPr>
          <p:cNvPr id="108" name="Text 108"/>
          <p:cNvSpPr txBox="1"/>
          <p:nvPr/>
        </p:nvSpPr>
        <p:spPr>
          <a:xfrm>
            <a:off x="6475456" y="2190000"/>
            <a:ext cx="4870200" cy="8400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"/>
            <a:r>
              <a:rPr lang="en-US" sz="1200" b="0" dirty="0">
                <a:solidFill>
                  <a:srgbClr val="63758A"/>
                </a:solidFill>
                <a:latin typeface="Aptos"/>
              </a:rPr>
              <a:t xml:space="preserve">Derive the due amount from credits and payments, with server-side checks.</a:t>
            </a:r>
          </a:p>
        </p:txBody>
      </p:sp>
      <p:sp>
        <p:nvSpPr>
          <p:cNvPr id="109" name="Shape 109"/>
          <p:cNvSpPr/>
          <p:nvPr/>
        </p:nvSpPr>
        <p:spPr>
          <a:xfrm>
            <a:off x="685800" y="3380000"/>
            <a:ext cx="5250200" cy="148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10" name="Shape 110"/>
          <p:cNvSpPr/>
          <p:nvPr/>
        </p:nvSpPr>
        <p:spPr>
          <a:xfrm>
            <a:off x="685800" y="3380000"/>
            <a:ext cx="64008" cy="1480000"/>
          </a:xfrm>
          <a:prstGeom prst="roundRect">
            <a:avLst/>
          </a:prstGeom>
          <a:solidFill>
            <a:srgbClr val="42A77A"/>
          </a:solidFill>
          <a:ln>
            <a:noFill/>
          </a:ln>
        </p:spPr>
      </p:sp>
      <p:sp>
        <p:nvSpPr>
          <p:cNvPr id="111" name="Text 111"/>
          <p:cNvSpPr txBox="1"/>
          <p:nvPr/>
        </p:nvSpPr>
        <p:spPr>
          <a:xfrm>
            <a:off x="905256" y="3530000"/>
            <a:ext cx="4870200" cy="3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600" b="1" dirty="0">
                <a:solidFill>
                  <a:srgbClr val="10243A"/>
                </a:solidFill>
                <a:latin typeface="Aptos"/>
              </a:rPr>
              <a:t xml:space="preserve">Support daily staff work</a:t>
            </a:r>
          </a:p>
        </p:txBody>
      </p:sp>
      <p:sp>
        <p:nvSpPr>
          <p:cNvPr id="112" name="Text 112"/>
          <p:cNvSpPr txBox="1"/>
          <p:nvPr/>
        </p:nvSpPr>
        <p:spPr>
          <a:xfrm>
            <a:off x="905256" y="3920000"/>
            <a:ext cx="4870200" cy="8400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"/>
            <a:r>
              <a:rPr lang="en-US" sz="1200" b="0" dirty="0">
                <a:solidFill>
                  <a:srgbClr val="63758A"/>
                </a:solidFill>
                <a:latin typeface="Aptos"/>
              </a:rPr>
              <a:t xml:space="preserve">Sign in, search customers and record credit or repayment in a few steps.</a:t>
            </a:r>
          </a:p>
        </p:txBody>
      </p:sp>
      <p:sp>
        <p:nvSpPr>
          <p:cNvPr id="113" name="Shape 113"/>
          <p:cNvSpPr/>
          <p:nvPr/>
        </p:nvSpPr>
        <p:spPr>
          <a:xfrm>
            <a:off x="6256000" y="3380000"/>
            <a:ext cx="5250200" cy="148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14" name="Shape 114"/>
          <p:cNvSpPr/>
          <p:nvPr/>
        </p:nvSpPr>
        <p:spPr>
          <a:xfrm>
            <a:off x="6256000" y="3380000"/>
            <a:ext cx="64008" cy="1480000"/>
          </a:xfrm>
          <a:prstGeom prst="roundRect">
            <a:avLst/>
          </a:prstGeom>
          <a:solidFill>
            <a:srgbClr val="F2A65A"/>
          </a:solidFill>
          <a:ln>
            <a:noFill/>
          </a:ln>
        </p:spPr>
      </p:sp>
      <p:sp>
        <p:nvSpPr>
          <p:cNvPr id="115" name="Text 115"/>
          <p:cNvSpPr txBox="1"/>
          <p:nvPr/>
        </p:nvSpPr>
        <p:spPr>
          <a:xfrm>
            <a:off x="6475456" y="3530000"/>
            <a:ext cx="4870200" cy="3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600" b="1" dirty="0">
                <a:solidFill>
                  <a:srgbClr val="10243A"/>
                </a:solidFill>
                <a:latin typeface="Aptos"/>
              </a:rPr>
              <a:t xml:space="preserve">Report outstanding dues</a:t>
            </a:r>
          </a:p>
        </p:txBody>
      </p:sp>
      <p:sp>
        <p:nvSpPr>
          <p:cNvPr id="116" name="Text 116"/>
          <p:cNvSpPr txBox="1"/>
          <p:nvPr/>
        </p:nvSpPr>
        <p:spPr>
          <a:xfrm>
            <a:off x="6475456" y="3920000"/>
            <a:ext cx="4870200" cy="8400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"/>
            <a:r>
              <a:rPr lang="en-US" sz="1200" b="0" dirty="0">
                <a:solidFill>
                  <a:srgbClr val="63758A"/>
                </a:solidFill>
                <a:latin typeface="Aptos"/>
              </a:rPr>
              <a:t xml:space="preserve">Show pending dues and date-range credit and payment reports.</a:t>
            </a:r>
          </a:p>
        </p:txBody>
      </p:sp>
      <p:sp>
        <p:nvSpPr>
          <p:cNvPr id="117" name="Shape 117"/>
          <p:cNvSpPr/>
          <p:nvPr/>
        </p:nvSpPr>
        <p:spPr>
          <a:xfrm>
            <a:off x="685800" y="5280000"/>
            <a:ext cx="10820400" cy="780000"/>
          </a:xfrm>
          <a:prstGeom prst="roundRect">
            <a:avLst/>
          </a:prstGeom>
          <a:solidFill>
            <a:srgbClr val="E5F5F2"/>
          </a:solidFill>
          <a:ln>
            <a:noFill/>
          </a:ln>
        </p:spPr>
      </p:sp>
      <p:sp>
        <p:nvSpPr>
          <p:cNvPr id="118" name="Text 118"/>
          <p:cNvSpPr txBox="1"/>
          <p:nvPr/>
        </p:nvSpPr>
        <p:spPr>
          <a:xfrm>
            <a:off x="914400" y="5280000"/>
            <a:ext cx="10363200" cy="78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300" b="1" dirty="0">
                <a:solidFill>
                  <a:srgbClr val="10243A"/>
                </a:solidFill>
                <a:latin typeface="Aptos"/>
              </a:rPr>
              <a:t xml:space="preserve">In scope: staff web app, REST API and MySQL.  Not in scope: live deployment, multi-shop use, password reset or admin screens.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</p:sp>
      <p:sp>
        <p:nvSpPr>
          <p:cNvPr id="3" name="Shap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6B8A6"/>
          </a:solidFill>
          <a:ln>
            <a:noFill/>
          </a:ln>
        </p:spPr>
      </p:sp>
      <p:sp>
        <p:nvSpPr>
          <p:cNvPr id="4" name="Text 3"/>
          <p:cNvSpPr txBox="1"/>
          <p:nvPr/>
        </p:nvSpPr>
        <p:spPr>
          <a:xfrm>
            <a:off x="594360" y="347472"/>
            <a:ext cx="89611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000" b="1" dirty="0">
                <a:solidFill>
                  <a:srgbClr val="16B8A6"/>
                </a:solidFill>
                <a:latin typeface="Aptos"/>
              </a:rPr>
              <a:t xml:space="preserve">08  /  WORKED EXAMPLE</a:t>
            </a:r>
            <a:endParaRPr lang="en-US" sz="1000"/>
          </a:p>
        </p:txBody>
      </p:sp>
      <p:sp>
        <p:nvSpPr>
          <p:cNvPr id="5" name="Text 4"/>
          <p:cNvSpPr txBox="1"/>
          <p:nvPr/>
        </p:nvSpPr>
        <p:spPr>
          <a:xfrm>
            <a:off x="594360" y="694944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2900" b="1" dirty="0">
                <a:solidFill>
                  <a:srgbClr val="10243A"/>
                </a:solidFill>
                <a:latin typeface="Aptos"/>
              </a:rPr>
              <a:t xml:space="preserve">One customer, three entries, one balance</a:t>
            </a:r>
            <a:endParaRPr lang="en-US" sz="2900"/>
          </a:p>
        </p:txBody>
      </p:sp>
      <p:sp>
        <p:nvSpPr>
          <p:cNvPr id="6" name="Shape 5"/>
          <p:cNvSpPr/>
          <p:nvPr/>
        </p:nvSpPr>
        <p:spPr>
          <a:xfrm>
            <a:off x="594360" y="1353312"/>
            <a:ext cx="10972800" cy="16459"/>
          </a:xfrm>
          <a:prstGeom prst="rect">
            <a:avLst/>
          </a:prstGeom>
          <a:solidFill>
            <a:srgbClr val="D8E1E9"/>
          </a:solidFill>
          <a:ln>
            <a:noFill/>
          </a:ln>
        </p:spPr>
      </p:sp>
      <p:sp>
        <p:nvSpPr>
          <p:cNvPr id="7" name="Text 6"/>
          <p:cNvSpPr txBox="1"/>
          <p:nvPr/>
        </p:nvSpPr>
        <p:spPr>
          <a:xfrm>
            <a:off x="594360" y="6510528"/>
            <a:ext cx="89611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00" b="0" dirty="0">
                <a:solidFill>
                  <a:srgbClr val="63758A"/>
                </a:solidFill>
                <a:latin typeface="Aptos"/>
              </a:rPr>
              <a:t xml:space="preserve">SMART SHOP CREDIT TRACKER  •  SUMMER INTERNSHIP</a:t>
            </a:r>
            <a:endParaRPr lang="en-US" sz="800"/>
          </a:p>
        </p:txBody>
      </p:sp>
      <p:sp>
        <p:nvSpPr>
          <p:cNvPr id="8" name="Text 7"/>
          <p:cNvSpPr txBox="1"/>
          <p:nvPr/>
        </p:nvSpPr>
        <p:spPr>
          <a:xfrm>
            <a:off x="11018520" y="6473952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1000" b="1" dirty="0">
                <a:solidFill>
                  <a:srgbClr val="16B8A6"/>
                </a:solidFill>
                <a:latin typeface="Aptos"/>
              </a:rPr>
              <a:t xml:space="preserve">09</a:t>
            </a:r>
            <a:endParaRPr lang="en-US" sz="1000"/>
          </a:p>
        </p:txBody>
      </p:sp>
      <p:sp>
        <p:nvSpPr>
          <p:cNvPr id="119" name="Shape 119"/>
          <p:cNvSpPr/>
          <p:nvPr/>
        </p:nvSpPr>
        <p:spPr>
          <a:xfrm>
            <a:off x="685800" y="1650000"/>
            <a:ext cx="10820400" cy="460000"/>
          </a:xfrm>
          <a:prstGeom prst="roundRect">
            <a:avLst/>
          </a:prstGeom>
          <a:solidFill>
            <a:srgbClr val="10243A"/>
          </a:solidFill>
          <a:ln>
            <a:noFill/>
          </a:ln>
        </p:spPr>
      </p:sp>
      <p:sp>
        <p:nvSpPr>
          <p:cNvPr id="120" name="Text 120"/>
          <p:cNvSpPr txBox="1"/>
          <p:nvPr/>
        </p:nvSpPr>
        <p:spPr>
          <a:xfrm>
            <a:off x="914400" y="1650000"/>
            <a:ext cx="3271400" cy="4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300" b="1" dirty="0">
                <a:solidFill>
                  <a:srgbClr val="FFFFFF"/>
                </a:solidFill>
                <a:latin typeface="Aptos"/>
              </a:rPr>
              <a:t xml:space="preserve">Entry</a:t>
            </a:r>
          </a:p>
        </p:txBody>
      </p:sp>
      <p:sp>
        <p:nvSpPr>
          <p:cNvPr id="121" name="Text 121"/>
          <p:cNvSpPr txBox="1"/>
          <p:nvPr/>
        </p:nvSpPr>
        <p:spPr>
          <a:xfrm>
            <a:off x="4414400" y="1650000"/>
            <a:ext cx="2071400" cy="4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300" b="1" dirty="0">
                <a:solidFill>
                  <a:srgbClr val="FFFFFF"/>
                </a:solidFill>
                <a:latin typeface="Aptos"/>
              </a:rPr>
              <a:t xml:space="preserve">Type</a:t>
            </a:r>
          </a:p>
        </p:txBody>
      </p:sp>
      <p:sp>
        <p:nvSpPr>
          <p:cNvPr id="122" name="Text 122"/>
          <p:cNvSpPr txBox="1"/>
          <p:nvPr/>
        </p:nvSpPr>
        <p:spPr>
          <a:xfrm>
            <a:off x="6714400" y="1650000"/>
            <a:ext cx="2071400" cy="4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300" b="1" dirty="0">
                <a:solidFill>
                  <a:srgbClr val="FFFFFF"/>
                </a:solidFill>
                <a:latin typeface="Aptos"/>
              </a:rPr>
              <a:t xml:space="preserve">Amount</a:t>
            </a:r>
          </a:p>
        </p:txBody>
      </p:sp>
      <p:sp>
        <p:nvSpPr>
          <p:cNvPr id="123" name="Text 123"/>
          <p:cNvSpPr txBox="1"/>
          <p:nvPr/>
        </p:nvSpPr>
        <p:spPr>
          <a:xfrm>
            <a:off x="9014400" y="1650000"/>
            <a:ext cx="2491800" cy="4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300" b="1" dirty="0">
                <a:solidFill>
                  <a:srgbClr val="FFFFFF"/>
                </a:solidFill>
                <a:latin typeface="Aptos"/>
              </a:rPr>
              <a:t xml:space="preserve">Balance due</a:t>
            </a:r>
          </a:p>
        </p:txBody>
      </p:sp>
      <p:sp>
        <p:nvSpPr>
          <p:cNvPr id="124" name="Shape 124"/>
          <p:cNvSpPr/>
          <p:nvPr/>
        </p:nvSpPr>
        <p:spPr>
          <a:xfrm>
            <a:off x="685800" y="2200000"/>
            <a:ext cx="10820400" cy="64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25" name="Text 125"/>
          <p:cNvSpPr txBox="1"/>
          <p:nvPr/>
        </p:nvSpPr>
        <p:spPr>
          <a:xfrm>
            <a:off x="914400" y="2200000"/>
            <a:ext cx="3271400" cy="6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500" b="0" dirty="0">
                <a:solidFill>
                  <a:srgbClr val="10243A"/>
                </a:solidFill>
                <a:latin typeface="Aptos"/>
              </a:rPr>
              <a:t xml:space="preserve">Purchase on credit</a:t>
            </a:r>
          </a:p>
        </p:txBody>
      </p:sp>
      <p:sp>
        <p:nvSpPr>
          <p:cNvPr id="126" name="Text 126"/>
          <p:cNvSpPr txBox="1"/>
          <p:nvPr/>
        </p:nvSpPr>
        <p:spPr>
          <a:xfrm>
            <a:off x="4414400" y="2200000"/>
            <a:ext cx="2071400" cy="6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500" b="0" dirty="0">
                <a:solidFill>
                  <a:srgbClr val="10243A"/>
                </a:solidFill>
                <a:latin typeface="Aptos"/>
              </a:rPr>
              <a:t xml:space="preserve">Credit</a:t>
            </a:r>
          </a:p>
        </p:txBody>
      </p:sp>
      <p:sp>
        <p:nvSpPr>
          <p:cNvPr id="127" name="Text 127"/>
          <p:cNvSpPr txBox="1"/>
          <p:nvPr/>
        </p:nvSpPr>
        <p:spPr>
          <a:xfrm>
            <a:off x="6714400" y="2200000"/>
            <a:ext cx="2071400" cy="6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500" b="0" dirty="0">
                <a:solidFill>
                  <a:srgbClr val="10243A"/>
                </a:solidFill>
                <a:latin typeface="Aptos"/>
              </a:rPr>
              <a:t xml:space="preserve">₹2,000.00</a:t>
            </a:r>
          </a:p>
        </p:txBody>
      </p:sp>
      <p:sp>
        <p:nvSpPr>
          <p:cNvPr id="128" name="Text 128"/>
          <p:cNvSpPr txBox="1"/>
          <p:nvPr/>
        </p:nvSpPr>
        <p:spPr>
          <a:xfrm>
            <a:off x="9014400" y="2200000"/>
            <a:ext cx="2491800" cy="6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500" b="0" dirty="0">
                <a:solidFill>
                  <a:srgbClr val="10243A"/>
                </a:solidFill>
                <a:latin typeface="Aptos"/>
              </a:rPr>
              <a:t xml:space="preserve">₹2,000.00</a:t>
            </a:r>
          </a:p>
        </p:txBody>
      </p:sp>
      <p:sp>
        <p:nvSpPr>
          <p:cNvPr id="129" name="Shape 129"/>
          <p:cNvSpPr/>
          <p:nvPr/>
        </p:nvSpPr>
        <p:spPr>
          <a:xfrm>
            <a:off x="685800" y="2930000"/>
            <a:ext cx="10820400" cy="64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0" name="Text 130"/>
          <p:cNvSpPr txBox="1"/>
          <p:nvPr/>
        </p:nvSpPr>
        <p:spPr>
          <a:xfrm>
            <a:off x="914400" y="2930000"/>
            <a:ext cx="3271400" cy="6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500" b="0" dirty="0">
                <a:solidFill>
                  <a:srgbClr val="10243A"/>
                </a:solidFill>
                <a:latin typeface="Aptos"/>
              </a:rPr>
              <a:t xml:space="preserve">Part payment</a:t>
            </a:r>
          </a:p>
        </p:txBody>
      </p:sp>
      <p:sp>
        <p:nvSpPr>
          <p:cNvPr id="131" name="Text 131"/>
          <p:cNvSpPr txBox="1"/>
          <p:nvPr/>
        </p:nvSpPr>
        <p:spPr>
          <a:xfrm>
            <a:off x="4414400" y="2930000"/>
            <a:ext cx="2071400" cy="6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500" b="0" dirty="0">
                <a:solidFill>
                  <a:srgbClr val="10243A"/>
                </a:solidFill>
                <a:latin typeface="Aptos"/>
              </a:rPr>
              <a:t xml:space="preserve">Payment</a:t>
            </a:r>
          </a:p>
        </p:txBody>
      </p:sp>
      <p:sp>
        <p:nvSpPr>
          <p:cNvPr id="132" name="Text 132"/>
          <p:cNvSpPr txBox="1"/>
          <p:nvPr/>
        </p:nvSpPr>
        <p:spPr>
          <a:xfrm>
            <a:off x="6714400" y="2930000"/>
            <a:ext cx="2071400" cy="6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500" b="0" dirty="0">
                <a:solidFill>
                  <a:srgbClr val="10243A"/>
                </a:solidFill>
                <a:latin typeface="Aptos"/>
              </a:rPr>
              <a:t xml:space="preserve">₹499.99</a:t>
            </a:r>
          </a:p>
        </p:txBody>
      </p:sp>
      <p:sp>
        <p:nvSpPr>
          <p:cNvPr id="133" name="Text 133"/>
          <p:cNvSpPr txBox="1"/>
          <p:nvPr/>
        </p:nvSpPr>
        <p:spPr>
          <a:xfrm>
            <a:off x="9014400" y="2930000"/>
            <a:ext cx="2491800" cy="6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500" b="0" dirty="0">
                <a:solidFill>
                  <a:srgbClr val="10243A"/>
                </a:solidFill>
                <a:latin typeface="Aptos"/>
              </a:rPr>
              <a:t xml:space="preserve">₹1,500.01</a:t>
            </a:r>
          </a:p>
        </p:txBody>
      </p:sp>
      <p:sp>
        <p:nvSpPr>
          <p:cNvPr id="134" name="Shape 134"/>
          <p:cNvSpPr/>
          <p:nvPr/>
        </p:nvSpPr>
        <p:spPr>
          <a:xfrm>
            <a:off x="685800" y="3660000"/>
            <a:ext cx="10820400" cy="64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5" name="Text 135"/>
          <p:cNvSpPr txBox="1"/>
          <p:nvPr/>
        </p:nvSpPr>
        <p:spPr>
          <a:xfrm>
            <a:off x="914400" y="3660000"/>
            <a:ext cx="3271400" cy="6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500" b="0" dirty="0">
                <a:solidFill>
                  <a:srgbClr val="10243A"/>
                </a:solidFill>
                <a:latin typeface="Aptos"/>
              </a:rPr>
              <a:t xml:space="preserve">Final payment</a:t>
            </a:r>
          </a:p>
        </p:txBody>
      </p:sp>
      <p:sp>
        <p:nvSpPr>
          <p:cNvPr id="136" name="Text 136"/>
          <p:cNvSpPr txBox="1"/>
          <p:nvPr/>
        </p:nvSpPr>
        <p:spPr>
          <a:xfrm>
            <a:off x="4414400" y="3660000"/>
            <a:ext cx="2071400" cy="6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500" b="0" dirty="0">
                <a:solidFill>
                  <a:srgbClr val="10243A"/>
                </a:solidFill>
                <a:latin typeface="Aptos"/>
              </a:rPr>
              <a:t xml:space="preserve">Payment</a:t>
            </a:r>
          </a:p>
        </p:txBody>
      </p:sp>
      <p:sp>
        <p:nvSpPr>
          <p:cNvPr id="137" name="Text 137"/>
          <p:cNvSpPr txBox="1"/>
          <p:nvPr/>
        </p:nvSpPr>
        <p:spPr>
          <a:xfrm>
            <a:off x="6714400" y="3660000"/>
            <a:ext cx="2071400" cy="6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500" b="0" dirty="0">
                <a:solidFill>
                  <a:srgbClr val="10243A"/>
                </a:solidFill>
                <a:latin typeface="Aptos"/>
              </a:rPr>
              <a:t xml:space="preserve">₹1,500.01</a:t>
            </a:r>
          </a:p>
        </p:txBody>
      </p:sp>
      <p:sp>
        <p:nvSpPr>
          <p:cNvPr id="138" name="Text 138"/>
          <p:cNvSpPr txBox="1"/>
          <p:nvPr/>
        </p:nvSpPr>
        <p:spPr>
          <a:xfrm>
            <a:off x="9014400" y="3660000"/>
            <a:ext cx="2491800" cy="6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500" b="0" dirty="0">
                <a:solidFill>
                  <a:srgbClr val="10243A"/>
                </a:solidFill>
                <a:latin typeface="Aptos"/>
              </a:rPr>
              <a:t xml:space="preserve">₹0.00</a:t>
            </a:r>
          </a:p>
        </p:txBody>
      </p:sp>
      <p:sp>
        <p:nvSpPr>
          <p:cNvPr id="139" name="Shape 139"/>
          <p:cNvSpPr/>
          <p:nvPr/>
        </p:nvSpPr>
        <p:spPr>
          <a:xfrm>
            <a:off x="685800" y="4500000"/>
            <a:ext cx="10820400" cy="780000"/>
          </a:xfrm>
          <a:prstGeom prst="roundRect">
            <a:avLst/>
          </a:prstGeom>
          <a:solidFill>
            <a:srgbClr val="E5F5F2"/>
          </a:solidFill>
          <a:ln>
            <a:noFill/>
          </a:ln>
        </p:spPr>
      </p:sp>
      <p:sp>
        <p:nvSpPr>
          <p:cNvPr id="140" name="Text 140"/>
          <p:cNvSpPr txBox="1"/>
          <p:nvPr/>
        </p:nvSpPr>
        <p:spPr>
          <a:xfrm>
            <a:off x="914400" y="4500000"/>
            <a:ext cx="10363200" cy="78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400" b="1" dirty="0">
                <a:solidFill>
                  <a:srgbClr val="10243A"/>
                </a:solidFill>
                <a:latin typeface="Aptos"/>
              </a:rPr>
              <a:t xml:space="preserve">Overpayment check: while ₹1,500.01 is due, any payment above that amount is rejected by the backend.</a:t>
            </a:r>
          </a:p>
        </p:txBody>
      </p:sp>
      <p:sp>
        <p:nvSpPr>
          <p:cNvPr id="141" name="Text 141"/>
          <p:cNvSpPr txBox="1"/>
          <p:nvPr/>
        </p:nvSpPr>
        <p:spPr>
          <a:xfrm>
            <a:off x="685800" y="5500000"/>
            <a:ext cx="10820400" cy="4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200" b="0" dirty="0">
                <a:solidFill>
                  <a:srgbClr val="63758A"/>
                </a:solidFill>
                <a:latin typeface="Aptos"/>
              </a:rPr>
              <a:t xml:space="preserve">Balance = total credits − total payments, recalculated from the ledger entries.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</p:sp>
      <p:sp>
        <p:nvSpPr>
          <p:cNvPr id="3" name="Shap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6B8A6"/>
          </a:solidFill>
          <a:ln>
            <a:noFill/>
          </a:ln>
        </p:spPr>
      </p:sp>
      <p:sp>
        <p:nvSpPr>
          <p:cNvPr id="4" name="Text 3"/>
          <p:cNvSpPr txBox="1"/>
          <p:nvPr/>
        </p:nvSpPr>
        <p:spPr>
          <a:xfrm>
            <a:off x="594360" y="347472"/>
            <a:ext cx="89611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000" b="1" dirty="0">
                <a:solidFill>
                  <a:srgbClr val="16B8A6"/>
                </a:solidFill>
                <a:latin typeface="Aptos"/>
              </a:rPr>
              <a:t xml:space="preserve">10  /  SECURITY LAYERS</a:t>
            </a:r>
            <a:endParaRPr lang="en-US" sz="1000"/>
          </a:p>
        </p:txBody>
      </p:sp>
      <p:sp>
        <p:nvSpPr>
          <p:cNvPr id="5" name="Text 4"/>
          <p:cNvSpPr txBox="1"/>
          <p:nvPr/>
        </p:nvSpPr>
        <p:spPr>
          <a:xfrm>
            <a:off x="594360" y="694944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2900" b="1" dirty="0">
                <a:solidFill>
                  <a:srgbClr val="10243A"/>
                </a:solidFill>
                <a:latin typeface="Aptos"/>
              </a:rPr>
              <a:t xml:space="preserve">Security is applied at every layer</a:t>
            </a:r>
            <a:endParaRPr lang="en-US" sz="2900"/>
          </a:p>
        </p:txBody>
      </p:sp>
      <p:sp>
        <p:nvSpPr>
          <p:cNvPr id="6" name="Shape 5"/>
          <p:cNvSpPr/>
          <p:nvPr/>
        </p:nvSpPr>
        <p:spPr>
          <a:xfrm>
            <a:off x="594360" y="1353312"/>
            <a:ext cx="10972800" cy="16459"/>
          </a:xfrm>
          <a:prstGeom prst="rect">
            <a:avLst/>
          </a:prstGeom>
          <a:solidFill>
            <a:srgbClr val="D8E1E9"/>
          </a:solidFill>
          <a:ln>
            <a:noFill/>
          </a:ln>
        </p:spPr>
      </p:sp>
      <p:sp>
        <p:nvSpPr>
          <p:cNvPr id="7" name="Text 6"/>
          <p:cNvSpPr txBox="1"/>
          <p:nvPr/>
        </p:nvSpPr>
        <p:spPr>
          <a:xfrm>
            <a:off x="594360" y="6510528"/>
            <a:ext cx="89611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00" b="0" dirty="0">
                <a:solidFill>
                  <a:srgbClr val="63758A"/>
                </a:solidFill>
                <a:latin typeface="Aptos"/>
              </a:rPr>
              <a:t xml:space="preserve">SMART SHOP CREDIT TRACKER  •  SUMMER INTERNSHIP</a:t>
            </a:r>
            <a:endParaRPr lang="en-US" sz="800"/>
          </a:p>
        </p:txBody>
      </p:sp>
      <p:sp>
        <p:nvSpPr>
          <p:cNvPr id="8" name="Text 7"/>
          <p:cNvSpPr txBox="1"/>
          <p:nvPr/>
        </p:nvSpPr>
        <p:spPr>
          <a:xfrm>
            <a:off x="11018520" y="6473952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1000" b="1" dirty="0">
                <a:solidFill>
                  <a:srgbClr val="16B8A6"/>
                </a:solidFill>
                <a:latin typeface="Aptos"/>
              </a:rPr>
              <a:t xml:space="preserve">11</a:t>
            </a:r>
            <a:endParaRPr lang="en-US" sz="1000"/>
          </a:p>
        </p:txBody>
      </p:sp>
      <p:sp>
        <p:nvSpPr>
          <p:cNvPr id="142" name="Shape 142"/>
          <p:cNvSpPr/>
          <p:nvPr/>
        </p:nvSpPr>
        <p:spPr>
          <a:xfrm>
            <a:off x="685800" y="1650000"/>
            <a:ext cx="2533650" cy="250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43" name="Shape 143"/>
          <p:cNvSpPr/>
          <p:nvPr/>
        </p:nvSpPr>
        <p:spPr>
          <a:xfrm>
            <a:off x="914400" y="1878600"/>
            <a:ext cx="520000" cy="520000"/>
          </a:xfrm>
          <a:prstGeom prst="ellipse">
            <a:avLst/>
          </a:prstGeom>
          <a:solidFill>
            <a:srgbClr val="4C7CF3"/>
          </a:solidFill>
          <a:ln>
            <a:noFill/>
          </a:ln>
        </p:spPr>
      </p:sp>
      <p:sp>
        <p:nvSpPr>
          <p:cNvPr id="144" name="Text 144"/>
          <p:cNvSpPr txBox="1"/>
          <p:nvPr/>
        </p:nvSpPr>
        <p:spPr>
          <a:xfrm>
            <a:off x="914400" y="1878600"/>
            <a:ext cx="52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800" b="1" dirty="0">
                <a:solidFill>
                  <a:srgbClr val="FFFFFF"/>
                </a:solidFill>
                <a:latin typeface="Aptos"/>
              </a:rPr>
              <a:t xml:space="preserve">1</a:t>
            </a:r>
          </a:p>
        </p:txBody>
      </p:sp>
      <p:sp>
        <p:nvSpPr>
          <p:cNvPr id="145" name="Text 145"/>
          <p:cNvSpPr txBox="1"/>
          <p:nvPr/>
        </p:nvSpPr>
        <p:spPr>
          <a:xfrm>
            <a:off x="914400" y="2550000"/>
            <a:ext cx="2113650" cy="4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600" b="1" dirty="0">
                <a:solidFill>
                  <a:srgbClr val="10243A"/>
                </a:solidFill>
                <a:latin typeface="Aptos"/>
              </a:rPr>
              <a:t xml:space="preserve">Authentication</a:t>
            </a:r>
          </a:p>
        </p:txBody>
      </p:sp>
      <p:sp>
        <p:nvSpPr>
          <p:cNvPr id="146" name="Text 146"/>
          <p:cNvSpPr txBox="1"/>
          <p:nvPr/>
        </p:nvSpPr>
        <p:spPr>
          <a:xfrm>
            <a:off x="914400" y="3050000"/>
            <a:ext cx="2113650" cy="13000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"/>
            <a:r>
              <a:rPr lang="en-US" sz="1300" b="0" dirty="0">
                <a:solidFill>
                  <a:srgbClr val="63758A"/>
                </a:solidFill>
                <a:latin typeface="Aptos"/>
              </a:rPr>
              <a:t xml:space="preserve">BCrypt password hashing and authenticated staff sessions.</a:t>
            </a:r>
          </a:p>
        </p:txBody>
      </p:sp>
      <p:sp>
        <p:nvSpPr>
          <p:cNvPr id="147" name="Shape 147"/>
          <p:cNvSpPr/>
          <p:nvPr/>
        </p:nvSpPr>
        <p:spPr>
          <a:xfrm>
            <a:off x="3448050" y="1650000"/>
            <a:ext cx="2533650" cy="250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48" name="Shape 148"/>
          <p:cNvSpPr/>
          <p:nvPr/>
        </p:nvSpPr>
        <p:spPr>
          <a:xfrm>
            <a:off x="3676650" y="1878600"/>
            <a:ext cx="520000" cy="520000"/>
          </a:xfrm>
          <a:prstGeom prst="ellipse">
            <a:avLst/>
          </a:prstGeom>
          <a:solidFill>
            <a:srgbClr val="16B8A6"/>
          </a:solidFill>
          <a:ln>
            <a:noFill/>
          </a:ln>
        </p:spPr>
      </p:sp>
      <p:sp>
        <p:nvSpPr>
          <p:cNvPr id="149" name="Text 149"/>
          <p:cNvSpPr txBox="1"/>
          <p:nvPr/>
        </p:nvSpPr>
        <p:spPr>
          <a:xfrm>
            <a:off x="3676650" y="1878600"/>
            <a:ext cx="52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800" b="1" dirty="0">
                <a:solidFill>
                  <a:srgbClr val="FFFFFF"/>
                </a:solidFill>
                <a:latin typeface="Aptos"/>
              </a:rPr>
              <a:t xml:space="preserve">2</a:t>
            </a:r>
          </a:p>
        </p:txBody>
      </p:sp>
      <p:sp>
        <p:nvSpPr>
          <p:cNvPr id="150" name="Text 150"/>
          <p:cNvSpPr txBox="1"/>
          <p:nvPr/>
        </p:nvSpPr>
        <p:spPr>
          <a:xfrm>
            <a:off x="3676650" y="2550000"/>
            <a:ext cx="2113650" cy="4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600" b="1" dirty="0">
                <a:solidFill>
                  <a:srgbClr val="10243A"/>
                </a:solidFill>
                <a:latin typeface="Aptos"/>
              </a:rPr>
              <a:t xml:space="preserve">Session &amp; CSRF</a:t>
            </a:r>
          </a:p>
        </p:txBody>
      </p:sp>
      <p:sp>
        <p:nvSpPr>
          <p:cNvPr id="151" name="Text 151"/>
          <p:cNvSpPr txBox="1"/>
          <p:nvPr/>
        </p:nvSpPr>
        <p:spPr>
          <a:xfrm>
            <a:off x="3676650" y="3050000"/>
            <a:ext cx="2113650" cy="13000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"/>
            <a:r>
              <a:rPr lang="en-US" sz="1300" b="0" dirty="0">
                <a:solidFill>
                  <a:srgbClr val="63758A"/>
                </a:solidFill>
                <a:latin typeface="Aptos"/>
              </a:rPr>
              <a:t xml:space="preserve">Spring Security session handling with a CSRF token.</a:t>
            </a:r>
          </a:p>
        </p:txBody>
      </p:sp>
      <p:sp>
        <p:nvSpPr>
          <p:cNvPr id="152" name="Shape 152"/>
          <p:cNvSpPr/>
          <p:nvPr/>
        </p:nvSpPr>
        <p:spPr>
          <a:xfrm>
            <a:off x="6210300" y="1650000"/>
            <a:ext cx="2533650" cy="250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53" name="Shape 153"/>
          <p:cNvSpPr/>
          <p:nvPr/>
        </p:nvSpPr>
        <p:spPr>
          <a:xfrm>
            <a:off x="6438900" y="1878600"/>
            <a:ext cx="520000" cy="520000"/>
          </a:xfrm>
          <a:prstGeom prst="ellipse">
            <a:avLst/>
          </a:prstGeom>
          <a:solidFill>
            <a:srgbClr val="42A77A"/>
          </a:solidFill>
          <a:ln>
            <a:noFill/>
          </a:ln>
        </p:spPr>
      </p:sp>
      <p:sp>
        <p:nvSpPr>
          <p:cNvPr id="154" name="Text 154"/>
          <p:cNvSpPr txBox="1"/>
          <p:nvPr/>
        </p:nvSpPr>
        <p:spPr>
          <a:xfrm>
            <a:off x="6438900" y="1878600"/>
            <a:ext cx="52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800" b="1" dirty="0">
                <a:solidFill>
                  <a:srgbClr val="FFFFFF"/>
                </a:solidFill>
                <a:latin typeface="Aptos"/>
              </a:rPr>
              <a:t xml:space="preserve">3</a:t>
            </a:r>
          </a:p>
        </p:txBody>
      </p:sp>
      <p:sp>
        <p:nvSpPr>
          <p:cNvPr id="155" name="Text 155"/>
          <p:cNvSpPr txBox="1"/>
          <p:nvPr/>
        </p:nvSpPr>
        <p:spPr>
          <a:xfrm>
            <a:off x="6438900" y="2550000"/>
            <a:ext cx="2113650" cy="4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600" b="1" dirty="0">
                <a:solidFill>
                  <a:srgbClr val="10243A"/>
                </a:solidFill>
                <a:latin typeface="Aptos"/>
              </a:rPr>
              <a:t xml:space="preserve">Data access</a:t>
            </a:r>
          </a:p>
        </p:txBody>
      </p:sp>
      <p:sp>
        <p:nvSpPr>
          <p:cNvPr id="156" name="Text 156"/>
          <p:cNvSpPr txBox="1"/>
          <p:nvPr/>
        </p:nvSpPr>
        <p:spPr>
          <a:xfrm>
            <a:off x="6438900" y="3050000"/>
            <a:ext cx="2113650" cy="13000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"/>
            <a:r>
              <a:rPr lang="en-US" sz="1300" b="0" dirty="0">
                <a:solidFill>
                  <a:srgbClr val="63758A"/>
                </a:solidFill>
                <a:latin typeface="Aptos"/>
              </a:rPr>
              <a:t xml:space="preserve">Parameterized SQL through JdbcTemplate repositories.</a:t>
            </a:r>
          </a:p>
        </p:txBody>
      </p:sp>
      <p:sp>
        <p:nvSpPr>
          <p:cNvPr id="157" name="Shape 157"/>
          <p:cNvSpPr/>
          <p:nvPr/>
        </p:nvSpPr>
        <p:spPr>
          <a:xfrm>
            <a:off x="8972550" y="1650000"/>
            <a:ext cx="2533650" cy="250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58" name="Shape 158"/>
          <p:cNvSpPr/>
          <p:nvPr/>
        </p:nvSpPr>
        <p:spPr>
          <a:xfrm>
            <a:off x="9201150" y="1878600"/>
            <a:ext cx="520000" cy="520000"/>
          </a:xfrm>
          <a:prstGeom prst="ellipse">
            <a:avLst/>
          </a:prstGeom>
          <a:solidFill>
            <a:srgbClr val="F2A65A"/>
          </a:solidFill>
          <a:ln>
            <a:noFill/>
          </a:ln>
        </p:spPr>
      </p:sp>
      <p:sp>
        <p:nvSpPr>
          <p:cNvPr id="159" name="Text 159"/>
          <p:cNvSpPr txBox="1"/>
          <p:nvPr/>
        </p:nvSpPr>
        <p:spPr>
          <a:xfrm>
            <a:off x="9201150" y="1878600"/>
            <a:ext cx="52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800" b="1" dirty="0">
                <a:solidFill>
                  <a:srgbClr val="FFFFFF"/>
                </a:solidFill>
                <a:latin typeface="Aptos"/>
              </a:rPr>
              <a:t xml:space="preserve">4</a:t>
            </a:r>
          </a:p>
        </p:txBody>
      </p:sp>
      <p:sp>
        <p:nvSpPr>
          <p:cNvPr id="160" name="Text 160"/>
          <p:cNvSpPr txBox="1"/>
          <p:nvPr/>
        </p:nvSpPr>
        <p:spPr>
          <a:xfrm>
            <a:off x="9201150" y="2550000"/>
            <a:ext cx="2113650" cy="4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600" b="1" dirty="0">
                <a:solidFill>
                  <a:srgbClr val="10243A"/>
                </a:solidFill>
                <a:latin typeface="Aptos"/>
              </a:rPr>
              <a:t xml:space="preserve">Transactions</a:t>
            </a:r>
          </a:p>
        </p:txBody>
      </p:sp>
      <p:sp>
        <p:nvSpPr>
          <p:cNvPr id="161" name="Text 161"/>
          <p:cNvSpPr txBox="1"/>
          <p:nvPr/>
        </p:nvSpPr>
        <p:spPr>
          <a:xfrm>
            <a:off x="9201150" y="3050000"/>
            <a:ext cx="2113650" cy="1300000"/>
          </a:xfrm>
          <a:prstGeom prst="rect">
            <a:avLst/>
          </a:prstGeom>
          <a:noFill/>
          <a:ln>
            <a:noFill/>
          </a:ln>
        </p:spPr>
        <p:txBody>
          <a:bodyPr wrap="square" anchor="top" lIns="0" rIns="0" tIns="0" bIns="0"/>
          <a:lstStyle/>
          <a:p>
            <a:pPr algn="l"/>
            <a:r>
              <a:rPr lang="en-US" sz="1300" b="0" dirty="0">
                <a:solidFill>
                  <a:srgbClr val="63758A"/>
                </a:solidFill>
                <a:latin typeface="Aptos"/>
              </a:rPr>
              <a:t xml:space="preserve">Customer row lock, @Transactional rules and unique payment keys.</a:t>
            </a:r>
          </a:p>
        </p:txBody>
      </p:sp>
      <p:sp>
        <p:nvSpPr>
          <p:cNvPr id="162" name="Shape 162"/>
          <p:cNvSpPr/>
          <p:nvPr/>
        </p:nvSpPr>
        <p:spPr>
          <a:xfrm>
            <a:off x="685800" y="4500000"/>
            <a:ext cx="10820400" cy="780000"/>
          </a:xfrm>
          <a:prstGeom prst="roundRect">
            <a:avLst/>
          </a:prstGeom>
          <a:solidFill>
            <a:srgbClr val="E5F5F2"/>
          </a:solidFill>
          <a:ln>
            <a:noFill/>
          </a:ln>
        </p:spPr>
      </p:sp>
      <p:sp>
        <p:nvSpPr>
          <p:cNvPr id="163" name="Text 163"/>
          <p:cNvSpPr txBox="1"/>
          <p:nvPr/>
        </p:nvSpPr>
        <p:spPr>
          <a:xfrm>
            <a:off x="914400" y="4500000"/>
            <a:ext cx="10363200" cy="78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400" b="1" dirty="0">
                <a:solidFill>
                  <a:srgbClr val="10243A"/>
                </a:solidFill>
                <a:latin typeface="Aptos"/>
              </a:rPr>
              <a:t xml:space="preserve">Still on the roadmap: password reset, staff roles and HTTPS deployment.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</p:sp>
      <p:sp>
        <p:nvSpPr>
          <p:cNvPr id="3" name="Shap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6B8A6"/>
          </a:solidFill>
          <a:ln>
            <a:noFill/>
          </a:ln>
        </p:spPr>
      </p:sp>
      <p:sp>
        <p:nvSpPr>
          <p:cNvPr id="4" name="Text 3"/>
          <p:cNvSpPr txBox="1"/>
          <p:nvPr/>
        </p:nvSpPr>
        <p:spPr>
          <a:xfrm>
            <a:off x="594360" y="347472"/>
            <a:ext cx="89611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000" b="1" dirty="0">
                <a:solidFill>
                  <a:srgbClr val="16B8A6"/>
                </a:solidFill>
                <a:latin typeface="Aptos"/>
              </a:rPr>
              <a:t xml:space="preserve">14  /  OUTCOMES</a:t>
            </a:r>
            <a:endParaRPr lang="en-US" sz="1000"/>
          </a:p>
        </p:txBody>
      </p:sp>
      <p:sp>
        <p:nvSpPr>
          <p:cNvPr id="5" name="Text 4"/>
          <p:cNvSpPr txBox="1"/>
          <p:nvPr/>
        </p:nvSpPr>
        <p:spPr>
          <a:xfrm>
            <a:off x="594360" y="694944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2900" b="1" dirty="0">
                <a:solidFill>
                  <a:srgbClr val="10243A"/>
                </a:solidFill>
                <a:latin typeface="Aptos"/>
              </a:rPr>
              <a:t xml:space="preserve">Delivered outcomes and skills practised</a:t>
            </a:r>
            <a:endParaRPr lang="en-US" sz="2900"/>
          </a:p>
        </p:txBody>
      </p:sp>
      <p:sp>
        <p:nvSpPr>
          <p:cNvPr id="6" name="Shape 5"/>
          <p:cNvSpPr/>
          <p:nvPr/>
        </p:nvSpPr>
        <p:spPr>
          <a:xfrm>
            <a:off x="594360" y="1353312"/>
            <a:ext cx="10972800" cy="16459"/>
          </a:xfrm>
          <a:prstGeom prst="rect">
            <a:avLst/>
          </a:prstGeom>
          <a:solidFill>
            <a:srgbClr val="D8E1E9"/>
          </a:solidFill>
          <a:ln>
            <a:noFill/>
          </a:ln>
        </p:spPr>
      </p:sp>
      <p:sp>
        <p:nvSpPr>
          <p:cNvPr id="7" name="Text 6"/>
          <p:cNvSpPr txBox="1"/>
          <p:nvPr/>
        </p:nvSpPr>
        <p:spPr>
          <a:xfrm>
            <a:off x="594360" y="6510528"/>
            <a:ext cx="89611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00" b="0" dirty="0">
                <a:solidFill>
                  <a:srgbClr val="63758A"/>
                </a:solidFill>
                <a:latin typeface="Aptos"/>
              </a:rPr>
              <a:t xml:space="preserve">SMART SHOP CREDIT TRACKER  •  SUMMER INTERNSHIP</a:t>
            </a:r>
            <a:endParaRPr lang="en-US" sz="800"/>
          </a:p>
        </p:txBody>
      </p:sp>
      <p:sp>
        <p:nvSpPr>
          <p:cNvPr id="8" name="Text 7"/>
          <p:cNvSpPr txBox="1"/>
          <p:nvPr/>
        </p:nvSpPr>
        <p:spPr>
          <a:xfrm>
            <a:off x="11018520" y="6473952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1000" b="1" dirty="0">
                <a:solidFill>
                  <a:srgbClr val="16B8A6"/>
                </a:solidFill>
                <a:latin typeface="Aptos"/>
              </a:rPr>
              <a:t xml:space="preserve">15</a:t>
            </a:r>
            <a:endParaRPr lang="en-US" sz="1000"/>
          </a:p>
        </p:txBody>
      </p:sp>
      <p:sp>
        <p:nvSpPr>
          <p:cNvPr id="164" name="Shape 164"/>
          <p:cNvSpPr/>
          <p:nvPr/>
        </p:nvSpPr>
        <p:spPr>
          <a:xfrm>
            <a:off x="685800" y="1650000"/>
            <a:ext cx="3454400" cy="170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65" name="Text 165"/>
          <p:cNvSpPr txBox="1"/>
          <p:nvPr/>
        </p:nvSpPr>
        <p:spPr>
          <a:xfrm>
            <a:off x="685800" y="1750000"/>
            <a:ext cx="34544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5400" b="1" dirty="0">
                <a:solidFill>
                  <a:srgbClr val="4C7CF3"/>
                </a:solidFill>
                <a:latin typeface="Aptos"/>
              </a:rPr>
              <a:t xml:space="preserve">5</a:t>
            </a:r>
          </a:p>
        </p:txBody>
      </p:sp>
      <p:sp>
        <p:nvSpPr>
          <p:cNvPr id="166" name="Text 166"/>
          <p:cNvSpPr txBox="1"/>
          <p:nvPr/>
        </p:nvSpPr>
        <p:spPr>
          <a:xfrm>
            <a:off x="685800" y="2700000"/>
            <a:ext cx="34544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500" b="0" dirty="0">
                <a:solidFill>
                  <a:srgbClr val="63758A"/>
                </a:solidFill>
                <a:latin typeface="Aptos"/>
              </a:rPr>
              <a:t xml:space="preserve">architecture layers</a:t>
            </a:r>
          </a:p>
        </p:txBody>
      </p:sp>
      <p:sp>
        <p:nvSpPr>
          <p:cNvPr id="167" name="Shape 167"/>
          <p:cNvSpPr/>
          <p:nvPr/>
        </p:nvSpPr>
        <p:spPr>
          <a:xfrm>
            <a:off x="4368800" y="1650000"/>
            <a:ext cx="3454400" cy="170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68" name="Text 168"/>
          <p:cNvSpPr txBox="1"/>
          <p:nvPr/>
        </p:nvSpPr>
        <p:spPr>
          <a:xfrm>
            <a:off x="4368800" y="1750000"/>
            <a:ext cx="34544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5400" b="1" dirty="0">
                <a:solidFill>
                  <a:srgbClr val="16B8A6"/>
                </a:solidFill>
                <a:latin typeface="Aptos"/>
              </a:rPr>
              <a:t xml:space="preserve">6</a:t>
            </a:r>
          </a:p>
        </p:txBody>
      </p:sp>
      <p:sp>
        <p:nvSpPr>
          <p:cNvPr id="169" name="Text 169"/>
          <p:cNvSpPr txBox="1"/>
          <p:nvPr/>
        </p:nvSpPr>
        <p:spPr>
          <a:xfrm>
            <a:off x="4368800" y="2700000"/>
            <a:ext cx="34544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500" b="0" dirty="0">
                <a:solidFill>
                  <a:srgbClr val="63758A"/>
                </a:solidFill>
                <a:latin typeface="Aptos"/>
              </a:rPr>
              <a:t xml:space="preserve">product modules</a:t>
            </a:r>
          </a:p>
        </p:txBody>
      </p:sp>
      <p:sp>
        <p:nvSpPr>
          <p:cNvPr id="170" name="Shape 170"/>
          <p:cNvSpPr/>
          <p:nvPr/>
        </p:nvSpPr>
        <p:spPr>
          <a:xfrm>
            <a:off x="8051800" y="1650000"/>
            <a:ext cx="3454400" cy="170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71" name="Text 171"/>
          <p:cNvSpPr txBox="1"/>
          <p:nvPr/>
        </p:nvSpPr>
        <p:spPr>
          <a:xfrm>
            <a:off x="8051800" y="1750000"/>
            <a:ext cx="34544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5400" b="1" dirty="0">
                <a:solidFill>
                  <a:srgbClr val="F2A65A"/>
                </a:solidFill>
                <a:latin typeface="Aptos"/>
              </a:rPr>
              <a:t xml:space="preserve">14</a:t>
            </a:r>
          </a:p>
        </p:txBody>
      </p:sp>
      <p:sp>
        <p:nvSpPr>
          <p:cNvPr id="172" name="Text 172"/>
          <p:cNvSpPr txBox="1"/>
          <p:nvPr/>
        </p:nvSpPr>
        <p:spPr>
          <a:xfrm>
            <a:off x="8051800" y="2700000"/>
            <a:ext cx="34544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500" b="0" dirty="0">
                <a:solidFill>
                  <a:srgbClr val="63758A"/>
                </a:solidFill>
                <a:latin typeface="Aptos"/>
              </a:rPr>
              <a:t xml:space="preserve">recorded test cases</a:t>
            </a:r>
          </a:p>
        </p:txBody>
      </p:sp>
      <p:sp>
        <p:nvSpPr>
          <p:cNvPr id="173" name="Text 173"/>
          <p:cNvSpPr txBox="1"/>
          <p:nvPr/>
        </p:nvSpPr>
        <p:spPr>
          <a:xfrm>
            <a:off x="685800" y="3700000"/>
            <a:ext cx="108204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100" b="1" dirty="0">
                <a:solidFill>
                  <a:srgbClr val="16B8A6"/>
                </a:solidFill>
                <a:latin typeface="Aptos"/>
              </a:rPr>
              <a:t xml:space="preserve">SKILLS PRACTISED</a:t>
            </a:r>
          </a:p>
        </p:txBody>
      </p:sp>
      <p:sp>
        <p:nvSpPr>
          <p:cNvPr id="174" name="Shape 174"/>
          <p:cNvSpPr/>
          <p:nvPr/>
        </p:nvSpPr>
        <p:spPr>
          <a:xfrm>
            <a:off x="685800" y="4100000"/>
            <a:ext cx="3454400" cy="470000"/>
          </a:xfrm>
          <a:prstGeom prst="roundRect">
            <a:avLst/>
          </a:prstGeom>
          <a:solidFill>
            <a:srgbClr val="E5F5F2"/>
          </a:solidFill>
          <a:ln>
            <a:noFill/>
          </a:ln>
        </p:spPr>
      </p:sp>
      <p:sp>
        <p:nvSpPr>
          <p:cNvPr id="175" name="Text 175"/>
          <p:cNvSpPr txBox="1"/>
          <p:nvPr/>
        </p:nvSpPr>
        <p:spPr>
          <a:xfrm>
            <a:off x="685800" y="4100000"/>
            <a:ext cx="3454400" cy="47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400" b="1" dirty="0">
                <a:solidFill>
                  <a:srgbClr val="10243A"/>
                </a:solidFill>
                <a:latin typeface="Aptos"/>
              </a:rPr>
              <a:t xml:space="preserve">Java</a:t>
            </a:r>
          </a:p>
        </p:txBody>
      </p:sp>
      <p:sp>
        <p:nvSpPr>
          <p:cNvPr id="176" name="Shape 176"/>
          <p:cNvSpPr/>
          <p:nvPr/>
        </p:nvSpPr>
        <p:spPr>
          <a:xfrm>
            <a:off x="4368800" y="4100000"/>
            <a:ext cx="3454400" cy="470000"/>
          </a:xfrm>
          <a:prstGeom prst="roundRect">
            <a:avLst/>
          </a:prstGeom>
          <a:solidFill>
            <a:srgbClr val="E5F5F2"/>
          </a:solidFill>
          <a:ln>
            <a:noFill/>
          </a:ln>
        </p:spPr>
      </p:sp>
      <p:sp>
        <p:nvSpPr>
          <p:cNvPr id="177" name="Text 177"/>
          <p:cNvSpPr txBox="1"/>
          <p:nvPr/>
        </p:nvSpPr>
        <p:spPr>
          <a:xfrm>
            <a:off x="4368800" y="4100000"/>
            <a:ext cx="3454400" cy="47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400" b="1" dirty="0">
                <a:solidFill>
                  <a:srgbClr val="10243A"/>
                </a:solidFill>
                <a:latin typeface="Aptos"/>
              </a:rPr>
              <a:t xml:space="preserve">Spring Boot REST</a:t>
            </a:r>
          </a:p>
        </p:txBody>
      </p:sp>
      <p:sp>
        <p:nvSpPr>
          <p:cNvPr id="178" name="Shape 178"/>
          <p:cNvSpPr/>
          <p:nvPr/>
        </p:nvSpPr>
        <p:spPr>
          <a:xfrm>
            <a:off x="8051800" y="4100000"/>
            <a:ext cx="3454400" cy="470000"/>
          </a:xfrm>
          <a:prstGeom prst="roundRect">
            <a:avLst/>
          </a:prstGeom>
          <a:solidFill>
            <a:srgbClr val="E5F5F2"/>
          </a:solidFill>
          <a:ln>
            <a:noFill/>
          </a:ln>
        </p:spPr>
      </p:sp>
      <p:sp>
        <p:nvSpPr>
          <p:cNvPr id="179" name="Text 179"/>
          <p:cNvSpPr txBox="1"/>
          <p:nvPr/>
        </p:nvSpPr>
        <p:spPr>
          <a:xfrm>
            <a:off x="8051800" y="4100000"/>
            <a:ext cx="3454400" cy="47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400" b="1" dirty="0">
                <a:solidFill>
                  <a:srgbClr val="10243A"/>
                </a:solidFill>
                <a:latin typeface="Aptos"/>
              </a:rPr>
              <a:t xml:space="preserve">Spring Security</a:t>
            </a:r>
          </a:p>
        </p:txBody>
      </p:sp>
      <p:sp>
        <p:nvSpPr>
          <p:cNvPr id="180" name="Shape 180"/>
          <p:cNvSpPr/>
          <p:nvPr/>
        </p:nvSpPr>
        <p:spPr>
          <a:xfrm>
            <a:off x="685800" y="4720000"/>
            <a:ext cx="3454400" cy="470000"/>
          </a:xfrm>
          <a:prstGeom prst="roundRect">
            <a:avLst/>
          </a:prstGeom>
          <a:solidFill>
            <a:srgbClr val="E5F5F2"/>
          </a:solidFill>
          <a:ln>
            <a:noFill/>
          </a:ln>
        </p:spPr>
      </p:sp>
      <p:sp>
        <p:nvSpPr>
          <p:cNvPr id="181" name="Text 181"/>
          <p:cNvSpPr txBox="1"/>
          <p:nvPr/>
        </p:nvSpPr>
        <p:spPr>
          <a:xfrm>
            <a:off x="685800" y="4720000"/>
            <a:ext cx="3454400" cy="47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400" b="1" dirty="0">
                <a:solidFill>
                  <a:srgbClr val="10243A"/>
                </a:solidFill>
                <a:latin typeface="Aptos"/>
              </a:rPr>
              <a:t xml:space="preserve">JDBC + MySQL</a:t>
            </a:r>
          </a:p>
        </p:txBody>
      </p:sp>
      <p:sp>
        <p:nvSpPr>
          <p:cNvPr id="182" name="Shape 182"/>
          <p:cNvSpPr/>
          <p:nvPr/>
        </p:nvSpPr>
        <p:spPr>
          <a:xfrm>
            <a:off x="4368800" y="4720000"/>
            <a:ext cx="3454400" cy="470000"/>
          </a:xfrm>
          <a:prstGeom prst="roundRect">
            <a:avLst/>
          </a:prstGeom>
          <a:solidFill>
            <a:srgbClr val="E5F5F2"/>
          </a:solidFill>
          <a:ln>
            <a:noFill/>
          </a:ln>
        </p:spPr>
      </p:sp>
      <p:sp>
        <p:nvSpPr>
          <p:cNvPr id="183" name="Text 183"/>
          <p:cNvSpPr txBox="1"/>
          <p:nvPr/>
        </p:nvSpPr>
        <p:spPr>
          <a:xfrm>
            <a:off x="4368800" y="4720000"/>
            <a:ext cx="3454400" cy="47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400" b="1" dirty="0">
                <a:solidFill>
                  <a:srgbClr val="10243A"/>
                </a:solidFill>
                <a:latin typeface="Aptos"/>
              </a:rPr>
              <a:t xml:space="preserve">JUnit testing</a:t>
            </a:r>
          </a:p>
        </p:txBody>
      </p:sp>
      <p:sp>
        <p:nvSpPr>
          <p:cNvPr id="184" name="Shape 184"/>
          <p:cNvSpPr/>
          <p:nvPr/>
        </p:nvSpPr>
        <p:spPr>
          <a:xfrm>
            <a:off x="8051800" y="4720000"/>
            <a:ext cx="3454400" cy="470000"/>
          </a:xfrm>
          <a:prstGeom prst="roundRect">
            <a:avLst/>
          </a:prstGeom>
          <a:solidFill>
            <a:srgbClr val="E5F5F2"/>
          </a:solidFill>
          <a:ln>
            <a:noFill/>
          </a:ln>
        </p:spPr>
      </p:sp>
      <p:sp>
        <p:nvSpPr>
          <p:cNvPr id="185" name="Text 185"/>
          <p:cNvSpPr txBox="1"/>
          <p:nvPr/>
        </p:nvSpPr>
        <p:spPr>
          <a:xfrm>
            <a:off x="8051800" y="4720000"/>
            <a:ext cx="3454400" cy="47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400" b="1" dirty="0">
                <a:solidFill>
                  <a:srgbClr val="10243A"/>
                </a:solidFill>
                <a:latin typeface="Aptos"/>
              </a:rPr>
              <a:t xml:space="preserve">HTML, CSS, JavaScript</a:t>
            </a:r>
          </a:p>
        </p:txBody>
      </p:sp>
      <p:sp>
        <p:nvSpPr>
          <p:cNvPr id="186" name="Text 186"/>
          <p:cNvSpPr txBox="1"/>
          <p:nvPr/>
        </p:nvSpPr>
        <p:spPr>
          <a:xfrm>
            <a:off x="685800" y="5500000"/>
            <a:ext cx="108204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200" b="0" dirty="0">
                <a:solidFill>
                  <a:srgbClr val="63758A"/>
                </a:solidFill>
                <a:latin typeface="Aptos"/>
              </a:rPr>
              <a:t xml:space="preserve">Built during the Java Development internship at Astonish InfoTech Pvt Ltd.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mart Shop">
  <a:themeElements>
    <a:clrScheme name="Smart Shop">
      <a:dk1>
        <a:srgbClr val="10243A"/>
      </a:dk1>
      <a:lt1>
        <a:srgbClr val="FFFFFF"/>
      </a:lt1>
      <a:dk2>
        <a:srgbClr val="192B40"/>
      </a:dk2>
      <a:lt2>
        <a:srgbClr val="F3F6FA"/>
      </a:lt2>
      <a:accent1>
        <a:srgbClr val="16B8A6"/>
      </a:accent1>
      <a:accent2>
        <a:srgbClr val="4C7CF3"/>
      </a:accent2>
      <a:accent3>
        <a:srgbClr val="42A77A"/>
      </a:accent3>
      <a:accent4>
        <a:srgbClr val="F2A65A"/>
      </a:accent4>
      <a:accent5>
        <a:srgbClr val="8A6FD1"/>
      </a:accent5>
      <a:accent6>
        <a:srgbClr val="D96B6B"/>
      </a:accent6>
      <a:hlink>
        <a:srgbClr val="4C7CF3"/>
      </a:hlink>
      <a:folHlink>
        <a:srgbClr val="8A6FD1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Office">
      <a:fillStyleLst/>
      <a:lnStyleLst/>
      <a:effectStyleLst/>
      <a:bgFillStyleLst/>
    </a:fmtScheme>
  </a:themeElements>
</a:theme>
</file>